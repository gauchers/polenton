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35" r:id="rId1"/>
  </p:sldMasterIdLst>
  <p:notesMasterIdLst>
    <p:notesMasterId r:id="rId31"/>
  </p:notesMasterIdLst>
  <p:sldIdLst>
    <p:sldId id="256" r:id="rId2"/>
    <p:sldId id="338" r:id="rId3"/>
    <p:sldId id="339" r:id="rId4"/>
    <p:sldId id="341" r:id="rId5"/>
    <p:sldId id="342" r:id="rId6"/>
    <p:sldId id="343" r:id="rId7"/>
    <p:sldId id="344" r:id="rId8"/>
    <p:sldId id="345" r:id="rId9"/>
    <p:sldId id="346" r:id="rId10"/>
    <p:sldId id="347" r:id="rId11"/>
    <p:sldId id="348" r:id="rId12"/>
    <p:sldId id="349" r:id="rId13"/>
    <p:sldId id="350" r:id="rId14"/>
    <p:sldId id="351" r:id="rId15"/>
    <p:sldId id="352" r:id="rId16"/>
    <p:sldId id="353" r:id="rId17"/>
    <p:sldId id="354" r:id="rId18"/>
    <p:sldId id="355" r:id="rId19"/>
    <p:sldId id="356" r:id="rId20"/>
    <p:sldId id="357" r:id="rId21"/>
    <p:sldId id="358" r:id="rId22"/>
    <p:sldId id="359" r:id="rId23"/>
    <p:sldId id="360" r:id="rId24"/>
    <p:sldId id="361" r:id="rId25"/>
    <p:sldId id="362" r:id="rId26"/>
    <p:sldId id="363" r:id="rId27"/>
    <p:sldId id="364" r:id="rId28"/>
    <p:sldId id="365" r:id="rId29"/>
    <p:sldId id="366" r:id="rId30"/>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95" autoAdjust="0"/>
    <p:restoredTop sz="94660"/>
  </p:normalViewPr>
  <p:slideViewPr>
    <p:cSldViewPr snapToGrid="0">
      <p:cViewPr varScale="1">
        <p:scale>
          <a:sx n="87" d="100"/>
          <a:sy n="87" d="100"/>
        </p:scale>
        <p:origin x="528" y="5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tableStyles" Target="tableStyles.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fr-FR"/>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F40DDA3-DCEC-4D3C-BC10-27A038A97D15}" type="datetimeFigureOut">
              <a:rPr lang="fr-FR" smtClean="0"/>
              <a:t>05/02/2026</a:t>
            </a:fld>
            <a:endParaRPr lang="fr-FR"/>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fr-FR"/>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fr-F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fr-FR"/>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9BCE823-D029-42D5-BEEB-4B90F8E77180}" type="slidenum">
              <a:rPr lang="fr-FR" smtClean="0"/>
              <a:t>‹#›</a:t>
            </a:fld>
            <a:endParaRPr lang="fr-FR"/>
          </a:p>
        </p:txBody>
      </p:sp>
    </p:spTree>
    <p:extLst>
      <p:ext uri="{BB962C8B-B14F-4D97-AF65-F5344CB8AC3E}">
        <p14:creationId xmlns:p14="http://schemas.microsoft.com/office/powerpoint/2010/main" val="168232244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7" name="Rectangle 6"/>
          <p:cNvSpPr/>
          <p:nvPr/>
        </p:nvSpPr>
        <p:spPr>
          <a:xfrm>
            <a:off x="446534" y="3085765"/>
            <a:ext cx="11262866" cy="330480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ctrTitle"/>
          </p:nvPr>
        </p:nvSpPr>
        <p:spPr>
          <a:xfrm>
            <a:off x="581191" y="1020431"/>
            <a:ext cx="10993549" cy="1475013"/>
          </a:xfrm>
          <a:effectLst/>
        </p:spPr>
        <p:txBody>
          <a:bodyPr anchor="b">
            <a:normAutofit/>
          </a:bodyPr>
          <a:lstStyle>
            <a:lvl1pPr>
              <a:defRPr sz="3600">
                <a:solidFill>
                  <a:schemeClr val="accent1"/>
                </a:solidFill>
              </a:defRPr>
            </a:lvl1pPr>
          </a:lstStyle>
          <a:p>
            <a:r>
              <a:rPr lang="en-US" smtClean="0"/>
              <a:t>Click to edit Master title style</a:t>
            </a:r>
            <a:endParaRPr lang="en-US" dirty="0"/>
          </a:p>
        </p:txBody>
      </p:sp>
      <p:sp>
        <p:nvSpPr>
          <p:cNvPr id="3" name="Subtitle 2"/>
          <p:cNvSpPr>
            <a:spLocks noGrp="1"/>
          </p:cNvSpPr>
          <p:nvPr>
            <p:ph type="subTitle" idx="1"/>
          </p:nvPr>
        </p:nvSpPr>
        <p:spPr>
          <a:xfrm>
            <a:off x="581194" y="2495445"/>
            <a:ext cx="10993546" cy="590321"/>
          </a:xfrm>
        </p:spPr>
        <p:txBody>
          <a:bodyPr anchor="t">
            <a:normAutofit/>
          </a:bodyPr>
          <a:lstStyle>
            <a:lvl1pPr marL="0" indent="0" algn="l">
              <a:buNone/>
              <a:defRPr sz="1600" cap="all">
                <a:solidFill>
                  <a:schemeClr val="accent2"/>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dirty="0"/>
          </a:p>
        </p:txBody>
      </p:sp>
      <p:sp>
        <p:nvSpPr>
          <p:cNvPr id="4" name="Date Placeholder 3"/>
          <p:cNvSpPr>
            <a:spLocks noGrp="1"/>
          </p:cNvSpPr>
          <p:nvPr>
            <p:ph type="dt" sz="half" idx="10"/>
          </p:nvPr>
        </p:nvSpPr>
        <p:spPr>
          <a:xfrm>
            <a:off x="7605951" y="5956137"/>
            <a:ext cx="2844800" cy="365125"/>
          </a:xfrm>
        </p:spPr>
        <p:txBody>
          <a:bodyPr/>
          <a:lstStyle>
            <a:lvl1pPr>
              <a:defRPr>
                <a:solidFill>
                  <a:schemeClr val="accent1">
                    <a:lumMod val="75000"/>
                    <a:lumOff val="25000"/>
                  </a:schemeClr>
                </a:solidFill>
              </a:defRPr>
            </a:lvl1pPr>
          </a:lstStyle>
          <a:p>
            <a:fld id="{9390E70E-0C1F-4035-BC32-0CF1E8216255}" type="datetimeFigureOut">
              <a:rPr lang="fr-FR" smtClean="0"/>
              <a:t>05/02/2026</a:t>
            </a:fld>
            <a:endParaRPr lang="fr-FR"/>
          </a:p>
        </p:txBody>
      </p:sp>
      <p:sp>
        <p:nvSpPr>
          <p:cNvPr id="5" name="Footer Placeholder 4"/>
          <p:cNvSpPr>
            <a:spLocks noGrp="1"/>
          </p:cNvSpPr>
          <p:nvPr>
            <p:ph type="ftr" sz="quarter" idx="11"/>
          </p:nvPr>
        </p:nvSpPr>
        <p:spPr>
          <a:xfrm>
            <a:off x="581192" y="5951811"/>
            <a:ext cx="6917210" cy="365125"/>
          </a:xfrm>
        </p:spPr>
        <p:txBody>
          <a:bodyPr/>
          <a:lstStyle>
            <a:lvl1pPr>
              <a:defRPr>
                <a:solidFill>
                  <a:schemeClr val="accent1">
                    <a:lumMod val="75000"/>
                    <a:lumOff val="25000"/>
                  </a:schemeClr>
                </a:solidFill>
              </a:defRPr>
            </a:lvl1pPr>
          </a:lstStyle>
          <a:p>
            <a:endParaRPr lang="fr-FR"/>
          </a:p>
        </p:txBody>
      </p:sp>
      <p:sp>
        <p:nvSpPr>
          <p:cNvPr id="6" name="Slide Number Placeholder 5"/>
          <p:cNvSpPr>
            <a:spLocks noGrp="1"/>
          </p:cNvSpPr>
          <p:nvPr>
            <p:ph type="sldNum" sz="quarter" idx="12"/>
          </p:nvPr>
        </p:nvSpPr>
        <p:spPr>
          <a:xfrm>
            <a:off x="10558300" y="5956137"/>
            <a:ext cx="1016440" cy="365125"/>
          </a:xfrm>
        </p:spPr>
        <p:txBody>
          <a:bodyPr/>
          <a:lstStyle>
            <a:lvl1pPr>
              <a:defRPr>
                <a:solidFill>
                  <a:schemeClr val="accent1">
                    <a:lumMod val="75000"/>
                    <a:lumOff val="25000"/>
                  </a:schemeClr>
                </a:solidFill>
              </a:defRPr>
            </a:lvl1pPr>
          </a:lstStyle>
          <a:p>
            <a:fld id="{81E2B5AF-2CC4-42A0-AEE7-F37D224B8908}" type="slidenum">
              <a:rPr lang="fr-FR" smtClean="0"/>
              <a:t>‹#›</a:t>
            </a:fld>
            <a:endParaRPr lang="fr-FR"/>
          </a:p>
        </p:txBody>
      </p:sp>
    </p:spTree>
    <p:extLst>
      <p:ext uri="{BB962C8B-B14F-4D97-AF65-F5344CB8AC3E}">
        <p14:creationId xmlns:p14="http://schemas.microsoft.com/office/powerpoint/2010/main" val="140333875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7" name="Rectangle 6"/>
          <p:cNvSpPr>
            <a:spLocks noChangeAspect="1"/>
          </p:cNvSpPr>
          <p:nvPr/>
        </p:nvSpPr>
        <p:spPr>
          <a:xfrm>
            <a:off x="440286" y="614407"/>
            <a:ext cx="11309338" cy="1189298"/>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581192" y="702156"/>
            <a:ext cx="11029616" cy="1013800"/>
          </a:xfrm>
        </p:spPr>
        <p:txBody>
          <a:bodyPr/>
          <a:lstStyle/>
          <a:p>
            <a:r>
              <a:rPr lang="en-US" smtClean="0"/>
              <a:t>Click to edit Master title style</a:t>
            </a:r>
            <a:endParaRPr lang="en-US" dirty="0"/>
          </a:p>
        </p:txBody>
      </p:sp>
      <p:sp>
        <p:nvSpPr>
          <p:cNvPr id="3" name="Content Placeholder 2"/>
          <p:cNvSpPr>
            <a:spLocks noGrp="1"/>
          </p:cNvSpPr>
          <p:nvPr>
            <p:ph idx="1"/>
          </p:nvPr>
        </p:nvSpPr>
        <p:spPr>
          <a:xfrm>
            <a:off x="581192" y="2180496"/>
            <a:ext cx="11029615" cy="3678303"/>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9390E70E-0C1F-4035-BC32-0CF1E8216255}" type="datetimeFigureOut">
              <a:rPr lang="fr-FR" smtClean="0"/>
              <a:t>05/02/2026</a:t>
            </a:fld>
            <a:endParaRPr lang="fr-FR"/>
          </a:p>
        </p:txBody>
      </p:sp>
      <p:sp>
        <p:nvSpPr>
          <p:cNvPr id="5" name="Footer Placeholder 4"/>
          <p:cNvSpPr>
            <a:spLocks noGrp="1"/>
          </p:cNvSpPr>
          <p:nvPr>
            <p:ph type="ftr" sz="quarter" idx="11"/>
          </p:nvPr>
        </p:nvSpPr>
        <p:spPr/>
        <p:txBody>
          <a:bodyPr/>
          <a:lstStyle/>
          <a:p>
            <a:endParaRPr lang="fr-FR"/>
          </a:p>
        </p:txBody>
      </p:sp>
      <p:sp>
        <p:nvSpPr>
          <p:cNvPr id="6" name="Slide Number Placeholder 5"/>
          <p:cNvSpPr>
            <a:spLocks noGrp="1"/>
          </p:cNvSpPr>
          <p:nvPr>
            <p:ph type="sldNum" sz="quarter" idx="12"/>
          </p:nvPr>
        </p:nvSpPr>
        <p:spPr>
          <a:xfrm>
            <a:off x="10558300" y="5956137"/>
            <a:ext cx="1052508" cy="365125"/>
          </a:xfrm>
        </p:spPr>
        <p:txBody>
          <a:bodyPr/>
          <a:lstStyle/>
          <a:p>
            <a:fld id="{81E2B5AF-2CC4-42A0-AEE7-F37D224B8908}" type="slidenum">
              <a:rPr lang="fr-FR" smtClean="0"/>
              <a:t>‹#›</a:t>
            </a:fld>
            <a:endParaRPr lang="fr-FR"/>
          </a:p>
        </p:txBody>
      </p:sp>
    </p:spTree>
    <p:extLst>
      <p:ext uri="{BB962C8B-B14F-4D97-AF65-F5344CB8AC3E}">
        <p14:creationId xmlns:p14="http://schemas.microsoft.com/office/powerpoint/2010/main" val="302866804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8" name="Rectangle 7"/>
          <p:cNvSpPr>
            <a:spLocks noChangeAspect="1"/>
          </p:cNvSpPr>
          <p:nvPr/>
        </p:nvSpPr>
        <p:spPr>
          <a:xfrm>
            <a:off x="447817" y="5141974"/>
            <a:ext cx="11290860" cy="125882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581193" y="3043910"/>
            <a:ext cx="11029615" cy="1497507"/>
          </a:xfrm>
        </p:spPr>
        <p:txBody>
          <a:bodyPr anchor="b">
            <a:normAutofit/>
          </a:bodyPr>
          <a:lstStyle>
            <a:lvl1pPr algn="l">
              <a:defRPr sz="3600" b="0" cap="all">
                <a:solidFill>
                  <a:schemeClr val="accent1"/>
                </a:solidFill>
              </a:defRPr>
            </a:lvl1pPr>
          </a:lstStyle>
          <a:p>
            <a:r>
              <a:rPr lang="en-US" smtClean="0"/>
              <a:t>Click to edit Master title style</a:t>
            </a:r>
            <a:endParaRPr lang="en-US" dirty="0"/>
          </a:p>
        </p:txBody>
      </p:sp>
      <p:sp>
        <p:nvSpPr>
          <p:cNvPr id="3" name="Text Placeholder 2"/>
          <p:cNvSpPr>
            <a:spLocks noGrp="1"/>
          </p:cNvSpPr>
          <p:nvPr>
            <p:ph type="body" idx="1"/>
          </p:nvPr>
        </p:nvSpPr>
        <p:spPr>
          <a:xfrm>
            <a:off x="581192" y="4541417"/>
            <a:ext cx="11029615" cy="600556"/>
          </a:xfrm>
        </p:spPr>
        <p:txBody>
          <a:bodyPr anchor="t">
            <a:normAutofit/>
          </a:bodyPr>
          <a:lstStyle>
            <a:lvl1pPr marL="0" indent="0" algn="l">
              <a:buNone/>
              <a:defRPr sz="1800" cap="all">
                <a:solidFill>
                  <a:schemeClr val="accent2"/>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lvl1pPr>
              <a:defRPr>
                <a:solidFill>
                  <a:schemeClr val="accent1">
                    <a:lumMod val="75000"/>
                    <a:lumOff val="25000"/>
                  </a:schemeClr>
                </a:solidFill>
              </a:defRPr>
            </a:lvl1pPr>
          </a:lstStyle>
          <a:p>
            <a:fld id="{9390E70E-0C1F-4035-BC32-0CF1E8216255}" type="datetimeFigureOut">
              <a:rPr lang="fr-FR" smtClean="0"/>
              <a:t>05/02/2026</a:t>
            </a:fld>
            <a:endParaRPr lang="fr-FR"/>
          </a:p>
        </p:txBody>
      </p:sp>
      <p:sp>
        <p:nvSpPr>
          <p:cNvPr id="5" name="Footer Placeholder 4"/>
          <p:cNvSpPr>
            <a:spLocks noGrp="1"/>
          </p:cNvSpPr>
          <p:nvPr>
            <p:ph type="ftr" sz="quarter" idx="11"/>
          </p:nvPr>
        </p:nvSpPr>
        <p:spPr/>
        <p:txBody>
          <a:bodyPr/>
          <a:lstStyle>
            <a:lvl1pPr>
              <a:defRPr>
                <a:solidFill>
                  <a:schemeClr val="accent1">
                    <a:lumMod val="75000"/>
                    <a:lumOff val="25000"/>
                  </a:schemeClr>
                </a:solidFill>
              </a:defRPr>
            </a:lvl1pPr>
          </a:lstStyle>
          <a:p>
            <a:endParaRPr lang="fr-FR"/>
          </a:p>
        </p:txBody>
      </p:sp>
      <p:sp>
        <p:nvSpPr>
          <p:cNvPr id="6" name="Slide Number Placeholder 5"/>
          <p:cNvSpPr>
            <a:spLocks noGrp="1"/>
          </p:cNvSpPr>
          <p:nvPr>
            <p:ph type="sldNum" sz="quarter" idx="12"/>
          </p:nvPr>
        </p:nvSpPr>
        <p:spPr/>
        <p:txBody>
          <a:bodyPr/>
          <a:lstStyle>
            <a:lvl1pPr>
              <a:defRPr>
                <a:solidFill>
                  <a:schemeClr val="accent1">
                    <a:lumMod val="75000"/>
                    <a:lumOff val="25000"/>
                  </a:schemeClr>
                </a:solidFill>
              </a:defRPr>
            </a:lvl1pPr>
          </a:lstStyle>
          <a:p>
            <a:fld id="{81E2B5AF-2CC4-42A0-AEE7-F37D224B8908}" type="slidenum">
              <a:rPr lang="fr-FR" smtClean="0"/>
              <a:t>‹#›</a:t>
            </a:fld>
            <a:endParaRPr lang="fr-FR"/>
          </a:p>
        </p:txBody>
      </p:sp>
    </p:spTree>
    <p:extLst>
      <p:ext uri="{BB962C8B-B14F-4D97-AF65-F5344CB8AC3E}">
        <p14:creationId xmlns:p14="http://schemas.microsoft.com/office/powerpoint/2010/main" val="385315500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Rectangle 7"/>
          <p:cNvSpPr>
            <a:spLocks noChangeAspect="1"/>
          </p:cNvSpPr>
          <p:nvPr/>
        </p:nvSpPr>
        <p:spPr>
          <a:xfrm>
            <a:off x="445982" y="606554"/>
            <a:ext cx="11300036" cy="125882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581193" y="729658"/>
            <a:ext cx="11029616" cy="988332"/>
          </a:xfrm>
        </p:spPr>
        <p:txBody>
          <a:bodyPr/>
          <a:lstStyle/>
          <a:p>
            <a:r>
              <a:rPr lang="en-US" smtClean="0"/>
              <a:t>Click to edit Master title style</a:t>
            </a:r>
            <a:endParaRPr lang="en-US" dirty="0"/>
          </a:p>
        </p:txBody>
      </p:sp>
      <p:sp>
        <p:nvSpPr>
          <p:cNvPr id="3" name="Content Placeholder 2"/>
          <p:cNvSpPr>
            <a:spLocks noGrp="1"/>
          </p:cNvSpPr>
          <p:nvPr>
            <p:ph sz="half" idx="1"/>
          </p:nvPr>
        </p:nvSpPr>
        <p:spPr>
          <a:xfrm>
            <a:off x="581193" y="2228003"/>
            <a:ext cx="5422390" cy="3633047"/>
          </a:xfrm>
        </p:spPr>
        <p:txBody>
          <a:bodyPr>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6188417" y="2228003"/>
            <a:ext cx="5422392" cy="3633047"/>
          </a:xfrm>
        </p:spPr>
        <p:txBody>
          <a:bodyPr>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Date Placeholder 4"/>
          <p:cNvSpPr>
            <a:spLocks noGrp="1"/>
          </p:cNvSpPr>
          <p:nvPr>
            <p:ph type="dt" sz="half" idx="10"/>
          </p:nvPr>
        </p:nvSpPr>
        <p:spPr/>
        <p:txBody>
          <a:bodyPr/>
          <a:lstStyle/>
          <a:p>
            <a:fld id="{9390E70E-0C1F-4035-BC32-0CF1E8216255}" type="datetimeFigureOut">
              <a:rPr lang="fr-FR" smtClean="0"/>
              <a:t>05/02/2026</a:t>
            </a:fld>
            <a:endParaRPr lang="fr-FR"/>
          </a:p>
        </p:txBody>
      </p:sp>
      <p:sp>
        <p:nvSpPr>
          <p:cNvPr id="6" name="Footer Placeholder 5"/>
          <p:cNvSpPr>
            <a:spLocks noGrp="1"/>
          </p:cNvSpPr>
          <p:nvPr>
            <p:ph type="ftr" sz="quarter" idx="11"/>
          </p:nvPr>
        </p:nvSpPr>
        <p:spPr/>
        <p:txBody>
          <a:bodyPr/>
          <a:lstStyle/>
          <a:p>
            <a:endParaRPr lang="fr-FR"/>
          </a:p>
        </p:txBody>
      </p:sp>
      <p:sp>
        <p:nvSpPr>
          <p:cNvPr id="7" name="Slide Number Placeholder 6"/>
          <p:cNvSpPr>
            <a:spLocks noGrp="1"/>
          </p:cNvSpPr>
          <p:nvPr>
            <p:ph type="sldNum" sz="quarter" idx="12"/>
          </p:nvPr>
        </p:nvSpPr>
        <p:spPr/>
        <p:txBody>
          <a:bodyPr/>
          <a:lstStyle/>
          <a:p>
            <a:fld id="{81E2B5AF-2CC4-42A0-AEE7-F37D224B8908}" type="slidenum">
              <a:rPr lang="fr-FR" smtClean="0"/>
              <a:t>‹#›</a:t>
            </a:fld>
            <a:endParaRPr lang="fr-FR"/>
          </a:p>
        </p:txBody>
      </p:sp>
    </p:spTree>
    <p:extLst>
      <p:ext uri="{BB962C8B-B14F-4D97-AF65-F5344CB8AC3E}">
        <p14:creationId xmlns:p14="http://schemas.microsoft.com/office/powerpoint/2010/main" val="418819613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1" name="Rectangle 10"/>
          <p:cNvSpPr>
            <a:spLocks noChangeAspect="1"/>
          </p:cNvSpPr>
          <p:nvPr/>
        </p:nvSpPr>
        <p:spPr>
          <a:xfrm>
            <a:off x="445982" y="606554"/>
            <a:ext cx="11300036" cy="125882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12" name="Title 1"/>
          <p:cNvSpPr>
            <a:spLocks noGrp="1"/>
          </p:cNvSpPr>
          <p:nvPr>
            <p:ph type="title"/>
          </p:nvPr>
        </p:nvSpPr>
        <p:spPr>
          <a:xfrm>
            <a:off x="581193" y="729658"/>
            <a:ext cx="11029616" cy="988332"/>
          </a:xfrm>
        </p:spPr>
        <p:txBody>
          <a:bodyPr/>
          <a:lstStyle/>
          <a:p>
            <a:r>
              <a:rPr lang="en-US" smtClean="0"/>
              <a:t>Click to edit Master title style</a:t>
            </a:r>
            <a:endParaRPr lang="en-US" dirty="0"/>
          </a:p>
        </p:txBody>
      </p:sp>
      <p:sp>
        <p:nvSpPr>
          <p:cNvPr id="3" name="Text Placeholder 2"/>
          <p:cNvSpPr>
            <a:spLocks noGrp="1"/>
          </p:cNvSpPr>
          <p:nvPr>
            <p:ph type="body" idx="1"/>
          </p:nvPr>
        </p:nvSpPr>
        <p:spPr>
          <a:xfrm>
            <a:off x="887219" y="2250892"/>
            <a:ext cx="5087075" cy="536005"/>
          </a:xfrm>
        </p:spPr>
        <p:txBody>
          <a:bodyPr anchor="b">
            <a:noAutofit/>
          </a:bodyPr>
          <a:lstStyle>
            <a:lvl1pPr marL="0" indent="0">
              <a:buNone/>
              <a:defRPr sz="2200" b="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4" name="Content Placeholder 3"/>
          <p:cNvSpPr>
            <a:spLocks noGrp="1"/>
          </p:cNvSpPr>
          <p:nvPr>
            <p:ph sz="half" idx="2"/>
          </p:nvPr>
        </p:nvSpPr>
        <p:spPr>
          <a:xfrm>
            <a:off x="581194" y="2926052"/>
            <a:ext cx="5393100" cy="2934999"/>
          </a:xfrm>
        </p:spPr>
        <p:txBody>
          <a:bodyPr anchor="t">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6523735" y="2250892"/>
            <a:ext cx="5087073" cy="553373"/>
          </a:xfrm>
        </p:spPr>
        <p:txBody>
          <a:bodyPr anchor="b">
            <a:noAutofit/>
          </a:bodyPr>
          <a:lstStyle>
            <a:lvl1pPr marL="0" indent="0">
              <a:buNone/>
              <a:defRPr sz="2200" b="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6" name="Content Placeholder 5"/>
          <p:cNvSpPr>
            <a:spLocks noGrp="1"/>
          </p:cNvSpPr>
          <p:nvPr>
            <p:ph sz="quarter" idx="4"/>
          </p:nvPr>
        </p:nvSpPr>
        <p:spPr>
          <a:xfrm>
            <a:off x="6217709" y="2926052"/>
            <a:ext cx="5393100" cy="2934999"/>
          </a:xfrm>
        </p:spPr>
        <p:txBody>
          <a:bodyPr anchor="t">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7" name="Date Placeholder 6"/>
          <p:cNvSpPr>
            <a:spLocks noGrp="1"/>
          </p:cNvSpPr>
          <p:nvPr>
            <p:ph type="dt" sz="half" idx="10"/>
          </p:nvPr>
        </p:nvSpPr>
        <p:spPr/>
        <p:txBody>
          <a:bodyPr/>
          <a:lstStyle/>
          <a:p>
            <a:fld id="{9390E70E-0C1F-4035-BC32-0CF1E8216255}" type="datetimeFigureOut">
              <a:rPr lang="fr-FR" smtClean="0"/>
              <a:t>05/02/2026</a:t>
            </a:fld>
            <a:endParaRPr lang="fr-FR"/>
          </a:p>
        </p:txBody>
      </p:sp>
      <p:sp>
        <p:nvSpPr>
          <p:cNvPr id="8" name="Footer Placeholder 7"/>
          <p:cNvSpPr>
            <a:spLocks noGrp="1"/>
          </p:cNvSpPr>
          <p:nvPr>
            <p:ph type="ftr" sz="quarter" idx="11"/>
          </p:nvPr>
        </p:nvSpPr>
        <p:spPr/>
        <p:txBody>
          <a:bodyPr/>
          <a:lstStyle/>
          <a:p>
            <a:endParaRPr lang="fr-FR"/>
          </a:p>
        </p:txBody>
      </p:sp>
      <p:sp>
        <p:nvSpPr>
          <p:cNvPr id="9" name="Slide Number Placeholder 8"/>
          <p:cNvSpPr>
            <a:spLocks noGrp="1"/>
          </p:cNvSpPr>
          <p:nvPr>
            <p:ph type="sldNum" sz="quarter" idx="12"/>
          </p:nvPr>
        </p:nvSpPr>
        <p:spPr/>
        <p:txBody>
          <a:bodyPr/>
          <a:lstStyle/>
          <a:p>
            <a:fld id="{81E2B5AF-2CC4-42A0-AEE7-F37D224B8908}" type="slidenum">
              <a:rPr lang="fr-FR" smtClean="0"/>
              <a:t>‹#›</a:t>
            </a:fld>
            <a:endParaRPr lang="fr-FR"/>
          </a:p>
        </p:txBody>
      </p:sp>
    </p:spTree>
    <p:extLst>
      <p:ext uri="{BB962C8B-B14F-4D97-AF65-F5344CB8AC3E}">
        <p14:creationId xmlns:p14="http://schemas.microsoft.com/office/powerpoint/2010/main" val="421581909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7" name="Rectangle 6"/>
          <p:cNvSpPr>
            <a:spLocks noChangeAspect="1"/>
          </p:cNvSpPr>
          <p:nvPr/>
        </p:nvSpPr>
        <p:spPr>
          <a:xfrm>
            <a:off x="440683" y="606554"/>
            <a:ext cx="11300036" cy="125882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8" name="Title 1"/>
          <p:cNvSpPr>
            <a:spLocks noGrp="1"/>
          </p:cNvSpPr>
          <p:nvPr>
            <p:ph type="title"/>
          </p:nvPr>
        </p:nvSpPr>
        <p:spPr>
          <a:xfrm>
            <a:off x="575894" y="729658"/>
            <a:ext cx="11029616" cy="988332"/>
          </a:xfrm>
        </p:spPr>
        <p:txBody>
          <a:bodyPr/>
          <a:lstStyle/>
          <a:p>
            <a:r>
              <a:rPr lang="en-US" smtClean="0"/>
              <a:t>Click to edit Master title style</a:t>
            </a:r>
            <a:endParaRPr lang="en-US" dirty="0"/>
          </a:p>
        </p:txBody>
      </p:sp>
      <p:sp>
        <p:nvSpPr>
          <p:cNvPr id="3" name="Date Placeholder 2"/>
          <p:cNvSpPr>
            <a:spLocks noGrp="1"/>
          </p:cNvSpPr>
          <p:nvPr>
            <p:ph type="dt" sz="half" idx="10"/>
          </p:nvPr>
        </p:nvSpPr>
        <p:spPr/>
        <p:txBody>
          <a:bodyPr/>
          <a:lstStyle/>
          <a:p>
            <a:fld id="{9390E70E-0C1F-4035-BC32-0CF1E8216255}" type="datetimeFigureOut">
              <a:rPr lang="fr-FR" smtClean="0"/>
              <a:t>05/02/2026</a:t>
            </a:fld>
            <a:endParaRPr lang="fr-FR"/>
          </a:p>
        </p:txBody>
      </p:sp>
      <p:sp>
        <p:nvSpPr>
          <p:cNvPr id="4" name="Footer Placeholder 3"/>
          <p:cNvSpPr>
            <a:spLocks noGrp="1"/>
          </p:cNvSpPr>
          <p:nvPr>
            <p:ph type="ftr" sz="quarter" idx="11"/>
          </p:nvPr>
        </p:nvSpPr>
        <p:spPr/>
        <p:txBody>
          <a:bodyPr/>
          <a:lstStyle/>
          <a:p>
            <a:endParaRPr lang="fr-FR"/>
          </a:p>
        </p:txBody>
      </p:sp>
      <p:sp>
        <p:nvSpPr>
          <p:cNvPr id="5" name="Slide Number Placeholder 4"/>
          <p:cNvSpPr>
            <a:spLocks noGrp="1"/>
          </p:cNvSpPr>
          <p:nvPr>
            <p:ph type="sldNum" sz="quarter" idx="12"/>
          </p:nvPr>
        </p:nvSpPr>
        <p:spPr/>
        <p:txBody>
          <a:bodyPr/>
          <a:lstStyle/>
          <a:p>
            <a:fld id="{81E2B5AF-2CC4-42A0-AEE7-F37D224B8908}" type="slidenum">
              <a:rPr lang="fr-FR" smtClean="0"/>
              <a:t>‹#›</a:t>
            </a:fld>
            <a:endParaRPr lang="fr-FR"/>
          </a:p>
        </p:txBody>
      </p:sp>
    </p:spTree>
    <p:extLst>
      <p:ext uri="{BB962C8B-B14F-4D97-AF65-F5344CB8AC3E}">
        <p14:creationId xmlns:p14="http://schemas.microsoft.com/office/powerpoint/2010/main" val="324865234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9390E70E-0C1F-4035-BC32-0CF1E8216255}" type="datetimeFigureOut">
              <a:rPr lang="fr-FR" smtClean="0"/>
              <a:t>05/02/2026</a:t>
            </a:fld>
            <a:endParaRPr lang="fr-FR"/>
          </a:p>
        </p:txBody>
      </p:sp>
      <p:sp>
        <p:nvSpPr>
          <p:cNvPr id="3" name="Footer Placeholder 2"/>
          <p:cNvSpPr>
            <a:spLocks noGrp="1"/>
          </p:cNvSpPr>
          <p:nvPr>
            <p:ph type="ftr" sz="quarter" idx="11"/>
          </p:nvPr>
        </p:nvSpPr>
        <p:spPr/>
        <p:txBody>
          <a:bodyPr/>
          <a:lstStyle/>
          <a:p>
            <a:endParaRPr lang="fr-FR"/>
          </a:p>
        </p:txBody>
      </p:sp>
      <p:sp>
        <p:nvSpPr>
          <p:cNvPr id="4" name="Slide Number Placeholder 3"/>
          <p:cNvSpPr>
            <a:spLocks noGrp="1"/>
          </p:cNvSpPr>
          <p:nvPr>
            <p:ph type="sldNum" sz="quarter" idx="12"/>
          </p:nvPr>
        </p:nvSpPr>
        <p:spPr/>
        <p:txBody>
          <a:bodyPr/>
          <a:lstStyle/>
          <a:p>
            <a:fld id="{81E2B5AF-2CC4-42A0-AEE7-F37D224B8908}" type="slidenum">
              <a:rPr lang="fr-FR" smtClean="0"/>
              <a:t>‹#›</a:t>
            </a:fld>
            <a:endParaRPr lang="fr-FR"/>
          </a:p>
        </p:txBody>
      </p:sp>
    </p:spTree>
    <p:extLst>
      <p:ext uri="{BB962C8B-B14F-4D97-AF65-F5344CB8AC3E}">
        <p14:creationId xmlns:p14="http://schemas.microsoft.com/office/powerpoint/2010/main" val="255153427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9" name="Rectangle 8"/>
          <p:cNvSpPr>
            <a:spLocks noChangeAspect="1"/>
          </p:cNvSpPr>
          <p:nvPr/>
        </p:nvSpPr>
        <p:spPr>
          <a:xfrm>
            <a:off x="447817" y="5141973"/>
            <a:ext cx="11298200" cy="1274702"/>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581192" y="5262296"/>
            <a:ext cx="4909445" cy="689514"/>
          </a:xfrm>
        </p:spPr>
        <p:txBody>
          <a:bodyPr anchor="ctr"/>
          <a:lstStyle>
            <a:lvl1pPr algn="l">
              <a:defRPr sz="2000" b="0">
                <a:solidFill>
                  <a:schemeClr val="accent1">
                    <a:lumMod val="75000"/>
                    <a:lumOff val="25000"/>
                  </a:schemeClr>
                </a:solidFill>
              </a:defRPr>
            </a:lvl1pPr>
          </a:lstStyle>
          <a:p>
            <a:r>
              <a:rPr lang="en-US" smtClean="0"/>
              <a:t>Click to edit Master title style</a:t>
            </a:r>
            <a:endParaRPr lang="en-US" dirty="0"/>
          </a:p>
        </p:txBody>
      </p:sp>
      <p:sp>
        <p:nvSpPr>
          <p:cNvPr id="3" name="Content Placeholder 2"/>
          <p:cNvSpPr>
            <a:spLocks noGrp="1"/>
          </p:cNvSpPr>
          <p:nvPr>
            <p:ph idx="1"/>
          </p:nvPr>
        </p:nvSpPr>
        <p:spPr>
          <a:xfrm>
            <a:off x="447816" y="601200"/>
            <a:ext cx="11292840" cy="4204800"/>
          </a:xfrm>
        </p:spPr>
        <p:txBody>
          <a:bodyPr anchor="ctr">
            <a:normAutofit/>
          </a:bodyPr>
          <a:lstStyle>
            <a:lvl1pPr>
              <a:defRPr sz="2000">
                <a:solidFill>
                  <a:schemeClr val="tx2"/>
                </a:solidFill>
              </a:defRPr>
            </a:lvl1pPr>
            <a:lvl2pPr>
              <a:defRPr sz="1800">
                <a:solidFill>
                  <a:schemeClr val="tx2"/>
                </a:solidFill>
              </a:defRPr>
            </a:lvl2pPr>
            <a:lvl3pPr>
              <a:defRPr sz="1600">
                <a:solidFill>
                  <a:schemeClr val="tx2"/>
                </a:solidFill>
              </a:defRPr>
            </a:lvl3pPr>
            <a:lvl4pPr>
              <a:defRPr sz="1400">
                <a:solidFill>
                  <a:schemeClr val="tx2"/>
                </a:solidFill>
              </a:defRPr>
            </a:lvl4pPr>
            <a:lvl5pPr>
              <a:defRPr sz="1400">
                <a:solidFill>
                  <a:schemeClr val="tx2"/>
                </a:solidFill>
              </a:defRPr>
            </a:lvl5pPr>
            <a:lvl6pPr>
              <a:defRPr sz="1400">
                <a:solidFill>
                  <a:schemeClr val="tx2"/>
                </a:solidFill>
              </a:defRPr>
            </a:lvl6pPr>
            <a:lvl7pPr>
              <a:defRPr sz="1400">
                <a:solidFill>
                  <a:schemeClr val="tx2"/>
                </a:solidFill>
              </a:defRPr>
            </a:lvl7pPr>
            <a:lvl8pPr>
              <a:defRPr sz="1400">
                <a:solidFill>
                  <a:schemeClr val="tx2"/>
                </a:solidFill>
              </a:defRPr>
            </a:lvl8pPr>
            <a:lvl9pPr>
              <a:defRPr sz="1400">
                <a:solidFill>
                  <a:schemeClr val="tx2"/>
                </a:solidFill>
              </a:defRPr>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3"/>
          <p:cNvSpPr>
            <a:spLocks noGrp="1"/>
          </p:cNvSpPr>
          <p:nvPr>
            <p:ph type="body" sz="half" idx="2"/>
          </p:nvPr>
        </p:nvSpPr>
        <p:spPr>
          <a:xfrm>
            <a:off x="5740823" y="5262296"/>
            <a:ext cx="5869987" cy="689515"/>
          </a:xfrm>
        </p:spPr>
        <p:txBody>
          <a:bodyPr anchor="ctr">
            <a:normAutofit/>
          </a:bodyPr>
          <a:lstStyle>
            <a:lvl1pPr marL="0" indent="0" algn="r">
              <a:buNone/>
              <a:defRPr sz="1100">
                <a:solidFill>
                  <a:schemeClr val="bg1"/>
                </a:solidFill>
              </a:defRPr>
            </a:lvl1pPr>
            <a:lvl2pPr marL="457200" indent="0">
              <a:buNone/>
              <a:defRPr sz="11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5" name="Date Placeholder 4"/>
          <p:cNvSpPr>
            <a:spLocks noGrp="1"/>
          </p:cNvSpPr>
          <p:nvPr>
            <p:ph type="dt" sz="half" idx="10"/>
          </p:nvPr>
        </p:nvSpPr>
        <p:spPr/>
        <p:txBody>
          <a:bodyPr/>
          <a:lstStyle>
            <a:lvl1pPr>
              <a:defRPr>
                <a:solidFill>
                  <a:schemeClr val="accent1">
                    <a:lumMod val="75000"/>
                    <a:lumOff val="25000"/>
                  </a:schemeClr>
                </a:solidFill>
              </a:defRPr>
            </a:lvl1pPr>
          </a:lstStyle>
          <a:p>
            <a:fld id="{9390E70E-0C1F-4035-BC32-0CF1E8216255}" type="datetimeFigureOut">
              <a:rPr lang="fr-FR" smtClean="0"/>
              <a:t>05/02/2026</a:t>
            </a:fld>
            <a:endParaRPr lang="fr-FR"/>
          </a:p>
        </p:txBody>
      </p:sp>
      <p:sp>
        <p:nvSpPr>
          <p:cNvPr id="6" name="Footer Placeholder 5"/>
          <p:cNvSpPr>
            <a:spLocks noGrp="1"/>
          </p:cNvSpPr>
          <p:nvPr>
            <p:ph type="ftr" sz="quarter" idx="11"/>
          </p:nvPr>
        </p:nvSpPr>
        <p:spPr/>
        <p:txBody>
          <a:bodyPr/>
          <a:lstStyle>
            <a:lvl1pPr>
              <a:defRPr>
                <a:solidFill>
                  <a:schemeClr val="accent1">
                    <a:lumMod val="75000"/>
                    <a:lumOff val="25000"/>
                  </a:schemeClr>
                </a:solidFill>
              </a:defRPr>
            </a:lvl1pPr>
          </a:lstStyle>
          <a:p>
            <a:endParaRPr lang="fr-FR"/>
          </a:p>
        </p:txBody>
      </p:sp>
      <p:sp>
        <p:nvSpPr>
          <p:cNvPr id="7" name="Slide Number Placeholder 6"/>
          <p:cNvSpPr>
            <a:spLocks noGrp="1"/>
          </p:cNvSpPr>
          <p:nvPr>
            <p:ph type="sldNum" sz="quarter" idx="12"/>
          </p:nvPr>
        </p:nvSpPr>
        <p:spPr/>
        <p:txBody>
          <a:bodyPr/>
          <a:lstStyle>
            <a:lvl1pPr>
              <a:defRPr>
                <a:solidFill>
                  <a:schemeClr val="accent1">
                    <a:lumMod val="75000"/>
                    <a:lumOff val="25000"/>
                  </a:schemeClr>
                </a:solidFill>
              </a:defRPr>
            </a:lvl1pPr>
          </a:lstStyle>
          <a:p>
            <a:fld id="{81E2B5AF-2CC4-42A0-AEE7-F37D224B8908}" type="slidenum">
              <a:rPr lang="fr-FR" smtClean="0"/>
              <a:t>‹#›</a:t>
            </a:fld>
            <a:endParaRPr lang="fr-FR"/>
          </a:p>
        </p:txBody>
      </p:sp>
    </p:spTree>
    <p:extLst>
      <p:ext uri="{BB962C8B-B14F-4D97-AF65-F5344CB8AC3E}">
        <p14:creationId xmlns:p14="http://schemas.microsoft.com/office/powerpoint/2010/main" val="119740072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581193" y="4693389"/>
            <a:ext cx="11029616" cy="566738"/>
          </a:xfrm>
        </p:spPr>
        <p:txBody>
          <a:bodyPr anchor="b">
            <a:normAutofit/>
          </a:bodyPr>
          <a:lstStyle>
            <a:lvl1pPr algn="l">
              <a:defRPr sz="2400" b="0">
                <a:solidFill>
                  <a:schemeClr val="accent1"/>
                </a:solidFill>
              </a:defRPr>
            </a:lvl1pPr>
          </a:lstStyle>
          <a:p>
            <a:r>
              <a:rPr lang="en-US" smtClean="0"/>
              <a:t>Click to edit Master title style</a:t>
            </a:r>
            <a:endParaRPr lang="en-US" dirty="0"/>
          </a:p>
        </p:txBody>
      </p:sp>
      <p:sp>
        <p:nvSpPr>
          <p:cNvPr id="3" name="Picture Placeholder 2"/>
          <p:cNvSpPr>
            <a:spLocks noGrp="1" noChangeAspect="1"/>
          </p:cNvSpPr>
          <p:nvPr>
            <p:ph type="pic" idx="1"/>
          </p:nvPr>
        </p:nvSpPr>
        <p:spPr>
          <a:xfrm>
            <a:off x="447817" y="599725"/>
            <a:ext cx="11290859" cy="3557252"/>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smtClean="0"/>
              <a:t>Click icon to add picture</a:t>
            </a:r>
            <a:endParaRPr lang="en-US" dirty="0"/>
          </a:p>
        </p:txBody>
      </p:sp>
      <p:sp>
        <p:nvSpPr>
          <p:cNvPr id="4" name="Text Placeholder 3"/>
          <p:cNvSpPr>
            <a:spLocks noGrp="1"/>
          </p:cNvSpPr>
          <p:nvPr>
            <p:ph type="body" sz="half" idx="2"/>
          </p:nvPr>
        </p:nvSpPr>
        <p:spPr>
          <a:xfrm>
            <a:off x="581192" y="5260127"/>
            <a:ext cx="11029617" cy="598671"/>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5" name="Date Placeholder 4"/>
          <p:cNvSpPr>
            <a:spLocks noGrp="1"/>
          </p:cNvSpPr>
          <p:nvPr>
            <p:ph type="dt" sz="half" idx="10"/>
          </p:nvPr>
        </p:nvSpPr>
        <p:spPr/>
        <p:txBody>
          <a:bodyPr/>
          <a:lstStyle/>
          <a:p>
            <a:fld id="{9390E70E-0C1F-4035-BC32-0CF1E8216255}" type="datetimeFigureOut">
              <a:rPr lang="fr-FR" smtClean="0"/>
              <a:t>05/02/2026</a:t>
            </a:fld>
            <a:endParaRPr lang="fr-FR"/>
          </a:p>
        </p:txBody>
      </p:sp>
      <p:sp>
        <p:nvSpPr>
          <p:cNvPr id="6" name="Footer Placeholder 5"/>
          <p:cNvSpPr>
            <a:spLocks noGrp="1"/>
          </p:cNvSpPr>
          <p:nvPr>
            <p:ph type="ftr" sz="quarter" idx="11"/>
          </p:nvPr>
        </p:nvSpPr>
        <p:spPr/>
        <p:txBody>
          <a:bodyPr/>
          <a:lstStyle/>
          <a:p>
            <a:endParaRPr lang="fr-FR"/>
          </a:p>
        </p:txBody>
      </p:sp>
      <p:sp>
        <p:nvSpPr>
          <p:cNvPr id="7" name="Slide Number Placeholder 6"/>
          <p:cNvSpPr>
            <a:spLocks noGrp="1"/>
          </p:cNvSpPr>
          <p:nvPr>
            <p:ph type="sldNum" sz="quarter" idx="12"/>
          </p:nvPr>
        </p:nvSpPr>
        <p:spPr/>
        <p:txBody>
          <a:bodyPr/>
          <a:lstStyle/>
          <a:p>
            <a:fld id="{81E2B5AF-2CC4-42A0-AEE7-F37D224B8908}" type="slidenum">
              <a:rPr lang="fr-FR" smtClean="0"/>
              <a:t>‹#›</a:t>
            </a:fld>
            <a:endParaRPr lang="fr-FR"/>
          </a:p>
        </p:txBody>
      </p:sp>
    </p:spTree>
    <p:extLst>
      <p:ext uri="{BB962C8B-B14F-4D97-AF65-F5344CB8AC3E}">
        <p14:creationId xmlns:p14="http://schemas.microsoft.com/office/powerpoint/2010/main" val="25608131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8" name="Rectangle 7"/>
          <p:cNvSpPr>
            <a:spLocks noChangeAspect="1"/>
          </p:cNvSpPr>
          <p:nvPr/>
        </p:nvSpPr>
        <p:spPr>
          <a:xfrm>
            <a:off x="440286" y="614407"/>
            <a:ext cx="11309338" cy="1189298"/>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9" name="Title 1"/>
          <p:cNvSpPr>
            <a:spLocks noGrp="1"/>
          </p:cNvSpPr>
          <p:nvPr>
            <p:ph type="title"/>
          </p:nvPr>
        </p:nvSpPr>
        <p:spPr>
          <a:xfrm>
            <a:off x="581192" y="702156"/>
            <a:ext cx="11029616" cy="1013800"/>
          </a:xfrm>
        </p:spPr>
        <p:txBody>
          <a:bodyPr/>
          <a:lstStyle/>
          <a:p>
            <a:r>
              <a:rPr lang="en-US" smtClean="0"/>
              <a:t>Click to edit Master title style</a:t>
            </a:r>
            <a:endParaRPr lang="en-US" dirty="0"/>
          </a:p>
        </p:txBody>
      </p:sp>
      <p:sp>
        <p:nvSpPr>
          <p:cNvPr id="3" name="Vertical Text Placeholder 2"/>
          <p:cNvSpPr>
            <a:spLocks noGrp="1"/>
          </p:cNvSpPr>
          <p:nvPr>
            <p:ph type="body" orient="vert" idx="1"/>
          </p:nvPr>
        </p:nvSpPr>
        <p:spPr/>
        <p:txBody>
          <a:bodyPr vert="eaVert" anchor="t"/>
          <a:lstStyle>
            <a:lvl1pPr algn="l">
              <a:defRPr/>
            </a:lvl1pPr>
            <a:lvl2pPr algn="l">
              <a:defRPr/>
            </a:lvl2pPr>
            <a:lvl3pPr algn="l">
              <a:defRPr/>
            </a:lvl3pPr>
            <a:lvl4pPr algn="l">
              <a:defRPr/>
            </a:lvl4pPr>
            <a:lvl5pPr algn="l">
              <a:defRPr/>
            </a:lvl5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9390E70E-0C1F-4035-BC32-0CF1E8216255}" type="datetimeFigureOut">
              <a:rPr lang="fr-FR" smtClean="0"/>
              <a:t>05/02/2026</a:t>
            </a:fld>
            <a:endParaRPr lang="fr-FR"/>
          </a:p>
        </p:txBody>
      </p:sp>
      <p:sp>
        <p:nvSpPr>
          <p:cNvPr id="5" name="Footer Placeholder 4"/>
          <p:cNvSpPr>
            <a:spLocks noGrp="1"/>
          </p:cNvSpPr>
          <p:nvPr>
            <p:ph type="ftr" sz="quarter" idx="11"/>
          </p:nvPr>
        </p:nvSpPr>
        <p:spPr/>
        <p:txBody>
          <a:bodyPr/>
          <a:lstStyle/>
          <a:p>
            <a:endParaRPr lang="fr-FR"/>
          </a:p>
        </p:txBody>
      </p:sp>
      <p:sp>
        <p:nvSpPr>
          <p:cNvPr id="6" name="Slide Number Placeholder 5"/>
          <p:cNvSpPr>
            <a:spLocks noGrp="1"/>
          </p:cNvSpPr>
          <p:nvPr>
            <p:ph type="sldNum" sz="quarter" idx="12"/>
          </p:nvPr>
        </p:nvSpPr>
        <p:spPr/>
        <p:txBody>
          <a:bodyPr/>
          <a:lstStyle/>
          <a:p>
            <a:fld id="{81E2B5AF-2CC4-42A0-AEE7-F37D224B8908}" type="slidenum">
              <a:rPr lang="fr-FR" smtClean="0"/>
              <a:t>‹#›</a:t>
            </a:fld>
            <a:endParaRPr lang="fr-FR"/>
          </a:p>
        </p:txBody>
      </p:sp>
    </p:spTree>
    <p:extLst>
      <p:ext uri="{BB962C8B-B14F-4D97-AF65-F5344CB8AC3E}">
        <p14:creationId xmlns:p14="http://schemas.microsoft.com/office/powerpoint/2010/main" val="83437843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7" name="Rectangle 6"/>
          <p:cNvSpPr>
            <a:spLocks noChangeAspect="1"/>
          </p:cNvSpPr>
          <p:nvPr/>
        </p:nvSpPr>
        <p:spPr>
          <a:xfrm>
            <a:off x="8839201" y="599725"/>
            <a:ext cx="2906817" cy="581695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Vertical Title 1"/>
          <p:cNvSpPr>
            <a:spLocks noGrp="1"/>
          </p:cNvSpPr>
          <p:nvPr>
            <p:ph type="title" orient="vert"/>
          </p:nvPr>
        </p:nvSpPr>
        <p:spPr>
          <a:xfrm>
            <a:off x="8839201" y="675726"/>
            <a:ext cx="2004164" cy="5183073"/>
          </a:xfrm>
        </p:spPr>
        <p:txBody>
          <a:bodyPr vert="eaVert"/>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774923" y="675726"/>
            <a:ext cx="7896279" cy="5183073"/>
          </a:xfrm>
        </p:spPr>
        <p:txBody>
          <a:bodyPr vert="eaVert" ancho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a:xfrm>
            <a:off x="8993673" y="5956137"/>
            <a:ext cx="1328141" cy="365125"/>
          </a:xfrm>
        </p:spPr>
        <p:txBody>
          <a:bodyPr/>
          <a:lstStyle>
            <a:lvl1pPr>
              <a:defRPr>
                <a:solidFill>
                  <a:schemeClr val="accent1">
                    <a:lumMod val="75000"/>
                    <a:lumOff val="25000"/>
                  </a:schemeClr>
                </a:solidFill>
              </a:defRPr>
            </a:lvl1pPr>
          </a:lstStyle>
          <a:p>
            <a:fld id="{9390E70E-0C1F-4035-BC32-0CF1E8216255}" type="datetimeFigureOut">
              <a:rPr lang="fr-FR" smtClean="0"/>
              <a:t>05/02/2026</a:t>
            </a:fld>
            <a:endParaRPr lang="fr-FR"/>
          </a:p>
        </p:txBody>
      </p:sp>
      <p:sp>
        <p:nvSpPr>
          <p:cNvPr id="5" name="Footer Placeholder 4"/>
          <p:cNvSpPr>
            <a:spLocks noGrp="1"/>
          </p:cNvSpPr>
          <p:nvPr>
            <p:ph type="ftr" sz="quarter" idx="11"/>
          </p:nvPr>
        </p:nvSpPr>
        <p:spPr>
          <a:xfrm>
            <a:off x="774923" y="5951811"/>
            <a:ext cx="7896279" cy="365125"/>
          </a:xfrm>
        </p:spPr>
        <p:txBody>
          <a:bodyPr/>
          <a:lstStyle/>
          <a:p>
            <a:endParaRPr lang="fr-FR"/>
          </a:p>
        </p:txBody>
      </p:sp>
      <p:sp>
        <p:nvSpPr>
          <p:cNvPr id="6" name="Slide Number Placeholder 5"/>
          <p:cNvSpPr>
            <a:spLocks noGrp="1"/>
          </p:cNvSpPr>
          <p:nvPr>
            <p:ph type="sldNum" sz="quarter" idx="12"/>
          </p:nvPr>
        </p:nvSpPr>
        <p:spPr>
          <a:xfrm>
            <a:off x="10446615" y="5956137"/>
            <a:ext cx="1164195" cy="365125"/>
          </a:xfrm>
        </p:spPr>
        <p:txBody>
          <a:bodyPr/>
          <a:lstStyle>
            <a:lvl1pPr>
              <a:defRPr>
                <a:solidFill>
                  <a:schemeClr val="accent1">
                    <a:lumMod val="75000"/>
                    <a:lumOff val="25000"/>
                  </a:schemeClr>
                </a:solidFill>
              </a:defRPr>
            </a:lvl1pPr>
          </a:lstStyle>
          <a:p>
            <a:fld id="{81E2B5AF-2CC4-42A0-AEE7-F37D224B8908}" type="slidenum">
              <a:rPr lang="fr-FR" smtClean="0"/>
              <a:t>‹#›</a:t>
            </a:fld>
            <a:endParaRPr lang="fr-FR"/>
          </a:p>
        </p:txBody>
      </p:sp>
    </p:spTree>
    <p:extLst>
      <p:ext uri="{BB962C8B-B14F-4D97-AF65-F5344CB8AC3E}">
        <p14:creationId xmlns:p14="http://schemas.microsoft.com/office/powerpoint/2010/main" val="358803223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581192" y="705124"/>
            <a:ext cx="11029616" cy="1189554"/>
          </a:xfrm>
          <a:prstGeom prst="rect">
            <a:avLst/>
          </a:prstGeom>
        </p:spPr>
        <p:txBody>
          <a:bodyPr vert="horz" lIns="91440" tIns="45720" rIns="91440" bIns="45720" rtlCol="0" anchor="b">
            <a:normAutofit/>
          </a:bodyPr>
          <a:lstStyle/>
          <a:p>
            <a:r>
              <a:rPr lang="en-US" smtClean="0"/>
              <a:t>Click to edit Master title style</a:t>
            </a:r>
            <a:endParaRPr lang="en-US" dirty="0"/>
          </a:p>
        </p:txBody>
      </p:sp>
      <p:sp>
        <p:nvSpPr>
          <p:cNvPr id="3" name="Text Placeholder 2"/>
          <p:cNvSpPr>
            <a:spLocks noGrp="1"/>
          </p:cNvSpPr>
          <p:nvPr>
            <p:ph type="body" idx="1"/>
          </p:nvPr>
        </p:nvSpPr>
        <p:spPr>
          <a:xfrm>
            <a:off x="581192" y="2336003"/>
            <a:ext cx="11029616" cy="3522794"/>
          </a:xfrm>
          <a:prstGeom prst="rect">
            <a:avLst/>
          </a:prstGeom>
        </p:spPr>
        <p:txBody>
          <a:bodyPr vert="horz" lIns="91440" tIns="45720" rIns="91440" bIns="45720" rtlCol="0" anchor="ctr">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2"/>
          </p:nvPr>
        </p:nvSpPr>
        <p:spPr>
          <a:xfrm>
            <a:off x="7605951" y="5956137"/>
            <a:ext cx="2844799" cy="365125"/>
          </a:xfrm>
          <a:prstGeom prst="rect">
            <a:avLst/>
          </a:prstGeom>
        </p:spPr>
        <p:txBody>
          <a:bodyPr vert="horz" lIns="91440" tIns="45720" rIns="91440" bIns="45720" rtlCol="0" anchor="ctr"/>
          <a:lstStyle>
            <a:lvl1pPr algn="r">
              <a:defRPr sz="900">
                <a:solidFill>
                  <a:schemeClr val="accent2"/>
                </a:solidFill>
              </a:defRPr>
            </a:lvl1pPr>
          </a:lstStyle>
          <a:p>
            <a:fld id="{9390E70E-0C1F-4035-BC32-0CF1E8216255}" type="datetimeFigureOut">
              <a:rPr lang="fr-FR" smtClean="0"/>
              <a:t>05/02/2026</a:t>
            </a:fld>
            <a:endParaRPr lang="fr-FR"/>
          </a:p>
        </p:txBody>
      </p:sp>
      <p:sp>
        <p:nvSpPr>
          <p:cNvPr id="5" name="Footer Placeholder 4"/>
          <p:cNvSpPr>
            <a:spLocks noGrp="1"/>
          </p:cNvSpPr>
          <p:nvPr>
            <p:ph type="ftr" sz="quarter" idx="3"/>
          </p:nvPr>
        </p:nvSpPr>
        <p:spPr>
          <a:xfrm>
            <a:off x="581192" y="5951811"/>
            <a:ext cx="6917210" cy="365125"/>
          </a:xfrm>
          <a:prstGeom prst="rect">
            <a:avLst/>
          </a:prstGeom>
        </p:spPr>
        <p:txBody>
          <a:bodyPr vert="horz" lIns="91440" tIns="45720" rIns="91440" bIns="45720" rtlCol="0" anchor="ctr"/>
          <a:lstStyle>
            <a:lvl1pPr algn="l">
              <a:defRPr sz="900" cap="all">
                <a:solidFill>
                  <a:schemeClr val="accent2"/>
                </a:solidFill>
              </a:defRPr>
            </a:lvl1pPr>
          </a:lstStyle>
          <a:p>
            <a:endParaRPr lang="fr-FR"/>
          </a:p>
        </p:txBody>
      </p:sp>
      <p:sp>
        <p:nvSpPr>
          <p:cNvPr id="6" name="Slide Number Placeholder 5"/>
          <p:cNvSpPr>
            <a:spLocks noGrp="1"/>
          </p:cNvSpPr>
          <p:nvPr>
            <p:ph type="sldNum" sz="quarter" idx="4"/>
          </p:nvPr>
        </p:nvSpPr>
        <p:spPr>
          <a:xfrm>
            <a:off x="10558300" y="5956137"/>
            <a:ext cx="1052510" cy="365125"/>
          </a:xfrm>
          <a:prstGeom prst="rect">
            <a:avLst/>
          </a:prstGeom>
        </p:spPr>
        <p:txBody>
          <a:bodyPr vert="horz" lIns="91440" tIns="45720" rIns="91440" bIns="45720" rtlCol="0" anchor="ctr"/>
          <a:lstStyle>
            <a:lvl1pPr algn="r">
              <a:defRPr sz="900">
                <a:solidFill>
                  <a:schemeClr val="accent2"/>
                </a:solidFill>
              </a:defRPr>
            </a:lvl1pPr>
          </a:lstStyle>
          <a:p>
            <a:fld id="{81E2B5AF-2CC4-42A0-AEE7-F37D224B8908}" type="slidenum">
              <a:rPr lang="fr-FR" smtClean="0"/>
              <a:t>‹#›</a:t>
            </a:fld>
            <a:endParaRPr lang="fr-FR"/>
          </a:p>
        </p:txBody>
      </p:sp>
      <p:sp>
        <p:nvSpPr>
          <p:cNvPr id="9" name="Rectangle 8"/>
          <p:cNvSpPr/>
          <p:nvPr/>
        </p:nvSpPr>
        <p:spPr>
          <a:xfrm>
            <a:off x="446534" y="457200"/>
            <a:ext cx="3703320" cy="9499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10" name="Rectangle 9"/>
          <p:cNvSpPr/>
          <p:nvPr/>
        </p:nvSpPr>
        <p:spPr>
          <a:xfrm>
            <a:off x="8042147" y="453643"/>
            <a:ext cx="3703320" cy="98554"/>
          </a:xfrm>
          <a:prstGeom prst="rect">
            <a:avLst/>
          </a:prstGeom>
          <a:solidFill>
            <a:schemeClr val="accent4"/>
          </a:solidFill>
          <a:ln>
            <a:noFill/>
          </a:ln>
          <a:effectLst/>
        </p:spPr>
        <p:style>
          <a:lnRef idx="1">
            <a:schemeClr val="accent1"/>
          </a:lnRef>
          <a:fillRef idx="3">
            <a:schemeClr val="accent1"/>
          </a:fillRef>
          <a:effectRef idx="2">
            <a:schemeClr val="accent1"/>
          </a:effectRef>
          <a:fontRef idx="minor">
            <a:schemeClr val="lt1"/>
          </a:fontRef>
        </p:style>
      </p:sp>
      <p:sp>
        <p:nvSpPr>
          <p:cNvPr id="11" name="Rectangle 10"/>
          <p:cNvSpPr/>
          <p:nvPr/>
        </p:nvSpPr>
        <p:spPr>
          <a:xfrm>
            <a:off x="4241830" y="457200"/>
            <a:ext cx="3703320" cy="91440"/>
          </a:xfrm>
          <a:prstGeom prst="rect">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sp>
    </p:spTree>
    <p:extLst>
      <p:ext uri="{BB962C8B-B14F-4D97-AF65-F5344CB8AC3E}">
        <p14:creationId xmlns:p14="http://schemas.microsoft.com/office/powerpoint/2010/main" val="3640429374"/>
      </p:ext>
    </p:extLst>
  </p:cSld>
  <p:clrMap bg1="lt1" tx1="dk1" bg2="lt2" tx2="dk2" accent1="accent1" accent2="accent2" accent3="accent3" accent4="accent4" accent5="accent5" accent6="accent6" hlink="hlink" folHlink="folHlink"/>
  <p:sldLayoutIdLst>
    <p:sldLayoutId id="2147483736" r:id="rId1"/>
    <p:sldLayoutId id="2147483737" r:id="rId2"/>
    <p:sldLayoutId id="2147483738" r:id="rId3"/>
    <p:sldLayoutId id="2147483739" r:id="rId4"/>
    <p:sldLayoutId id="2147483740" r:id="rId5"/>
    <p:sldLayoutId id="2147483741" r:id="rId6"/>
    <p:sldLayoutId id="2147483742" r:id="rId7"/>
    <p:sldLayoutId id="2147483743" r:id="rId8"/>
    <p:sldLayoutId id="2147483744" r:id="rId9"/>
    <p:sldLayoutId id="2147483745" r:id="rId10"/>
    <p:sldLayoutId id="2147483746" r:id="rId11"/>
  </p:sldLayoutIdLst>
  <p:txStyles>
    <p:titleStyle>
      <a:lvl1pPr algn="l" defTabSz="457200" rtl="0" eaLnBrk="1" latinLnBrk="0" hangingPunct="1">
        <a:spcBef>
          <a:spcPct val="0"/>
        </a:spcBef>
        <a:buNone/>
        <a:defRPr sz="2800" b="0" kern="1200" cap="all">
          <a:solidFill>
            <a:schemeClr val="bg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06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800" kern="1200">
          <a:solidFill>
            <a:schemeClr val="tx2"/>
          </a:solidFill>
          <a:latin typeface="+mn-lt"/>
          <a:ea typeface="+mn-ea"/>
          <a:cs typeface="+mn-cs"/>
        </a:defRPr>
      </a:lvl1pPr>
      <a:lvl2pPr marL="630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600" kern="1200">
          <a:solidFill>
            <a:schemeClr val="tx2"/>
          </a:solidFill>
          <a:latin typeface="+mn-lt"/>
          <a:ea typeface="+mn-ea"/>
          <a:cs typeface="+mn-cs"/>
        </a:defRPr>
      </a:lvl2pPr>
      <a:lvl3pPr marL="900000" indent="-270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400" kern="1200">
          <a:solidFill>
            <a:schemeClr val="tx2"/>
          </a:solidFill>
          <a:latin typeface="+mn-lt"/>
          <a:ea typeface="+mn-ea"/>
          <a:cs typeface="+mn-cs"/>
        </a:defRPr>
      </a:lvl3pPr>
      <a:lvl4pPr marL="124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4pPr>
      <a:lvl5pPr marL="160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5pPr>
      <a:lvl6pPr marL="19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6pPr>
      <a:lvl7pPr marL="22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7pPr>
      <a:lvl8pPr marL="25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8pPr>
      <a:lvl9pPr marL="28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fr-FR" dirty="0" smtClean="0"/>
              <a:t>Réception de l’antiquité	</a:t>
            </a:r>
            <a:endParaRPr lang="fr-FR" dirty="0"/>
          </a:p>
        </p:txBody>
      </p:sp>
      <p:sp>
        <p:nvSpPr>
          <p:cNvPr id="3" name="Subtitle 2"/>
          <p:cNvSpPr>
            <a:spLocks noGrp="1"/>
          </p:cNvSpPr>
          <p:nvPr>
            <p:ph type="subTitle" idx="1"/>
          </p:nvPr>
        </p:nvSpPr>
        <p:spPr/>
        <p:txBody>
          <a:bodyPr>
            <a:normAutofit/>
          </a:bodyPr>
          <a:lstStyle/>
          <a:p>
            <a:r>
              <a:rPr lang="fr-FR" dirty="0" smtClean="0"/>
              <a:t>Université </a:t>
            </a:r>
            <a:r>
              <a:rPr lang="fr-FR" dirty="0" err="1" smtClean="0"/>
              <a:t>grenoble</a:t>
            </a:r>
            <a:r>
              <a:rPr lang="fr-FR" dirty="0" smtClean="0"/>
              <a:t> alpes – S2 2025/2026													</a:t>
            </a:r>
            <a:r>
              <a:rPr lang="fr-FR" smtClean="0"/>
              <a:t>Séance 3</a:t>
            </a:r>
            <a:r>
              <a:rPr lang="fr-FR" dirty="0" smtClean="0"/>
              <a:t/>
            </a:r>
            <a:br>
              <a:rPr lang="fr-FR" dirty="0" smtClean="0"/>
            </a:br>
            <a:r>
              <a:rPr lang="fr-FR" dirty="0" smtClean="0"/>
              <a:t>Sarah gaucher</a:t>
            </a:r>
          </a:p>
        </p:txBody>
      </p:sp>
    </p:spTree>
    <p:extLst>
      <p:ext uri="{BB962C8B-B14F-4D97-AF65-F5344CB8AC3E}">
        <p14:creationId xmlns:p14="http://schemas.microsoft.com/office/powerpoint/2010/main" val="3316265295"/>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fr-FR" dirty="0" smtClean="0"/>
              <a:t>Petrus </a:t>
            </a:r>
            <a:r>
              <a:rPr lang="fr-FR" dirty="0" err="1" smtClean="0"/>
              <a:t>crinitus</a:t>
            </a:r>
            <a:endParaRPr lang="fr-FR" dirty="0"/>
          </a:p>
        </p:txBody>
      </p:sp>
      <p:sp>
        <p:nvSpPr>
          <p:cNvPr id="5" name="Text Placeholder 4"/>
          <p:cNvSpPr>
            <a:spLocks noGrp="1"/>
          </p:cNvSpPr>
          <p:nvPr>
            <p:ph type="body" idx="1"/>
          </p:nvPr>
        </p:nvSpPr>
        <p:spPr/>
        <p:txBody>
          <a:bodyPr/>
          <a:lstStyle/>
          <a:p>
            <a:r>
              <a:rPr lang="fr-FR" dirty="0" smtClean="0"/>
              <a:t>De </a:t>
            </a:r>
            <a:r>
              <a:rPr lang="fr-FR" dirty="0" err="1" smtClean="0"/>
              <a:t>poetis</a:t>
            </a:r>
            <a:r>
              <a:rPr lang="fr-FR" dirty="0" smtClean="0"/>
              <a:t> </a:t>
            </a:r>
            <a:r>
              <a:rPr lang="fr-FR" dirty="0" err="1" smtClean="0"/>
              <a:t>latinis</a:t>
            </a:r>
            <a:endParaRPr lang="fr-FR" dirty="0"/>
          </a:p>
        </p:txBody>
      </p:sp>
    </p:spTree>
    <p:extLst>
      <p:ext uri="{BB962C8B-B14F-4D97-AF65-F5344CB8AC3E}">
        <p14:creationId xmlns:p14="http://schemas.microsoft.com/office/powerpoint/2010/main" val="3841837181"/>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fr-FR" dirty="0" smtClean="0"/>
              <a:t>Petrus </a:t>
            </a:r>
            <a:r>
              <a:rPr lang="fr-FR" dirty="0" err="1" smtClean="0"/>
              <a:t>crinitus</a:t>
            </a:r>
            <a:r>
              <a:rPr lang="fr-FR" dirty="0" smtClean="0"/>
              <a:t/>
            </a:r>
            <a:br>
              <a:rPr lang="fr-FR" dirty="0" smtClean="0"/>
            </a:br>
            <a:r>
              <a:rPr lang="fr-FR" dirty="0" smtClean="0"/>
              <a:t>Contexte</a:t>
            </a:r>
            <a:endParaRPr lang="fr-FR" dirty="0"/>
          </a:p>
        </p:txBody>
      </p:sp>
      <p:sp>
        <p:nvSpPr>
          <p:cNvPr id="3" name="Content Placeholder 2"/>
          <p:cNvSpPr>
            <a:spLocks noGrp="1"/>
          </p:cNvSpPr>
          <p:nvPr>
            <p:ph idx="1"/>
          </p:nvPr>
        </p:nvSpPr>
        <p:spPr>
          <a:xfrm>
            <a:off x="581192" y="2066192"/>
            <a:ext cx="11029615" cy="4018085"/>
          </a:xfrm>
        </p:spPr>
        <p:txBody>
          <a:bodyPr>
            <a:normAutofit/>
          </a:bodyPr>
          <a:lstStyle/>
          <a:p>
            <a:pPr algn="just">
              <a:lnSpc>
                <a:spcPct val="110000"/>
              </a:lnSpc>
            </a:pPr>
            <a:r>
              <a:rPr lang="fr-FR" dirty="0" smtClean="0"/>
              <a:t>La </a:t>
            </a:r>
            <a:r>
              <a:rPr lang="fr-FR" dirty="0"/>
              <a:t>fin du XVe et le début du XVIe siècle à </a:t>
            </a:r>
            <a:r>
              <a:rPr lang="fr-FR" dirty="0" smtClean="0"/>
              <a:t>Florence</a:t>
            </a:r>
          </a:p>
          <a:p>
            <a:pPr algn="just">
              <a:lnSpc>
                <a:spcPct val="110000"/>
              </a:lnSpc>
            </a:pPr>
            <a:r>
              <a:rPr lang="fr-FR" dirty="0" smtClean="0"/>
              <a:t>De </a:t>
            </a:r>
            <a:r>
              <a:rPr lang="fr-FR" dirty="0"/>
              <a:t>1490 à 1510 environ, </a:t>
            </a:r>
            <a:r>
              <a:rPr lang="fr-FR" dirty="0" smtClean="0"/>
              <a:t>période remarquable, </a:t>
            </a:r>
            <a:r>
              <a:rPr lang="fr-FR" dirty="0"/>
              <a:t>importante période de transition </a:t>
            </a:r>
            <a:r>
              <a:rPr lang="fr-FR" dirty="0" smtClean="0"/>
              <a:t>: la </a:t>
            </a:r>
            <a:r>
              <a:rPr lang="fr-FR" dirty="0"/>
              <a:t>fin du règne des Médicis, l'ascension de Savonarole </a:t>
            </a:r>
            <a:r>
              <a:rPr lang="fr-FR" dirty="0" smtClean="0"/>
              <a:t>(qui, de </a:t>
            </a:r>
            <a:r>
              <a:rPr lang="fr-FR" dirty="0"/>
              <a:t>1494 à 1498, a dirigé un régime théocratique dans la république de </a:t>
            </a:r>
            <a:r>
              <a:rPr lang="fr-FR" dirty="0" smtClean="0"/>
              <a:t>Florence), </a:t>
            </a:r>
            <a:r>
              <a:rPr lang="fr-FR" dirty="0"/>
              <a:t>et </a:t>
            </a:r>
            <a:r>
              <a:rPr lang="fr-FR" dirty="0" smtClean="0"/>
              <a:t>début </a:t>
            </a:r>
            <a:r>
              <a:rPr lang="fr-FR" dirty="0"/>
              <a:t>des guerres </a:t>
            </a:r>
            <a:r>
              <a:rPr lang="fr-FR" dirty="0" smtClean="0"/>
              <a:t>d’Italie.</a:t>
            </a:r>
          </a:p>
          <a:p>
            <a:pPr algn="just">
              <a:lnSpc>
                <a:spcPct val="110000"/>
              </a:lnSpc>
            </a:pPr>
            <a:r>
              <a:rPr lang="fr-FR" dirty="0"/>
              <a:t>V</a:t>
            </a:r>
            <a:r>
              <a:rPr lang="fr-FR" dirty="0" smtClean="0"/>
              <a:t>ie </a:t>
            </a:r>
            <a:r>
              <a:rPr lang="fr-FR" dirty="0"/>
              <a:t>intellectuelle, il est à noter (parmi </a:t>
            </a:r>
            <a:r>
              <a:rPr lang="fr-FR" dirty="0" smtClean="0"/>
              <a:t>d'autres </a:t>
            </a:r>
            <a:r>
              <a:rPr lang="fr-FR" dirty="0"/>
              <a:t>développements) </a:t>
            </a:r>
            <a:r>
              <a:rPr lang="fr-FR" dirty="0" smtClean="0"/>
              <a:t>: à </a:t>
            </a:r>
            <a:r>
              <a:rPr lang="fr-FR" dirty="0"/>
              <a:t>la fin du XVe siècle, presque toutes les sources textuelles primaires actuellement disponibles pour étudier le monde antique avaient été </a:t>
            </a:r>
            <a:r>
              <a:rPr lang="fr-FR" dirty="0" smtClean="0"/>
              <a:t>découvertes.</a:t>
            </a:r>
          </a:p>
          <a:p>
            <a:pPr algn="just">
              <a:lnSpc>
                <a:spcPct val="110000"/>
              </a:lnSpc>
            </a:pPr>
            <a:r>
              <a:rPr lang="fr-FR" dirty="0" smtClean="0"/>
              <a:t>Temps de </a:t>
            </a:r>
            <a:r>
              <a:rPr lang="fr-FR" dirty="0"/>
              <a:t>consolider ces acquis, de trouver des moyens de les ordonner et de créer les ressources qui seraient désormais utilisées pour aborder l'étude du monde classique.</a:t>
            </a:r>
          </a:p>
        </p:txBody>
      </p:sp>
    </p:spTree>
    <p:extLst>
      <p:ext uri="{BB962C8B-B14F-4D97-AF65-F5344CB8AC3E}">
        <p14:creationId xmlns:p14="http://schemas.microsoft.com/office/powerpoint/2010/main" val="3751657806"/>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fr-FR" dirty="0" smtClean="0"/>
              <a:t>Petrus </a:t>
            </a:r>
            <a:r>
              <a:rPr lang="fr-FR" dirty="0" err="1" smtClean="0"/>
              <a:t>crinitus</a:t>
            </a:r>
            <a:r>
              <a:rPr lang="fr-FR" dirty="0" smtClean="0"/>
              <a:t/>
            </a:r>
            <a:br>
              <a:rPr lang="fr-FR" dirty="0" smtClean="0"/>
            </a:br>
            <a:r>
              <a:rPr lang="fr-FR" dirty="0" smtClean="0"/>
              <a:t>Repères</a:t>
            </a:r>
            <a:endParaRPr lang="fr-FR" dirty="0"/>
          </a:p>
        </p:txBody>
      </p:sp>
      <p:sp>
        <p:nvSpPr>
          <p:cNvPr id="3" name="Content Placeholder 2"/>
          <p:cNvSpPr>
            <a:spLocks noGrp="1"/>
          </p:cNvSpPr>
          <p:nvPr>
            <p:ph idx="1"/>
          </p:nvPr>
        </p:nvSpPr>
        <p:spPr>
          <a:xfrm>
            <a:off x="581192" y="2066192"/>
            <a:ext cx="11029615" cy="4791808"/>
          </a:xfrm>
        </p:spPr>
        <p:txBody>
          <a:bodyPr>
            <a:normAutofit/>
          </a:bodyPr>
          <a:lstStyle/>
          <a:p>
            <a:pPr algn="just"/>
            <a:r>
              <a:rPr lang="fr-FR" dirty="0" smtClean="0"/>
              <a:t>Pietro </a:t>
            </a:r>
            <a:r>
              <a:rPr lang="fr-FR" dirty="0" err="1" smtClean="0"/>
              <a:t>del</a:t>
            </a:r>
            <a:r>
              <a:rPr lang="fr-FR" dirty="0" smtClean="0"/>
              <a:t> Riccio </a:t>
            </a:r>
            <a:r>
              <a:rPr lang="fr-FR" dirty="0" err="1" smtClean="0"/>
              <a:t>Baldi</a:t>
            </a:r>
            <a:r>
              <a:rPr lang="fr-FR" dirty="0" smtClean="0"/>
              <a:t> (1474-1507), connu sous son nom latinisé de Petrus </a:t>
            </a:r>
            <a:r>
              <a:rPr lang="fr-FR" dirty="0" err="1" smtClean="0"/>
              <a:t>Crinitus</a:t>
            </a:r>
            <a:r>
              <a:rPr lang="fr-FR" dirty="0" smtClean="0"/>
              <a:t>.</a:t>
            </a:r>
          </a:p>
          <a:p>
            <a:pPr algn="just"/>
            <a:r>
              <a:rPr lang="fr-FR" dirty="0" smtClean="0"/>
              <a:t>Cinquième d'une famille de neuf enfants.</a:t>
            </a:r>
          </a:p>
          <a:p>
            <a:pPr algn="just"/>
            <a:r>
              <a:rPr lang="fr-FR" dirty="0" smtClean="0"/>
              <a:t>Rapidement un jeune savant précoce, étudiant auprès de Paolo </a:t>
            </a:r>
            <a:r>
              <a:rPr lang="fr-FR" dirty="0" err="1" smtClean="0"/>
              <a:t>Sassi</a:t>
            </a:r>
            <a:r>
              <a:rPr lang="fr-FR" dirty="0" smtClean="0"/>
              <a:t> da </a:t>
            </a:r>
            <a:r>
              <a:rPr lang="fr-FR" dirty="0" err="1" smtClean="0"/>
              <a:t>Ronciglione</a:t>
            </a:r>
            <a:r>
              <a:rPr lang="fr-FR" dirty="0" smtClean="0"/>
              <a:t>, le maître de Nicolas Machiavel.</a:t>
            </a:r>
          </a:p>
          <a:p>
            <a:pPr algn="just"/>
            <a:r>
              <a:rPr lang="fr-FR" dirty="0" err="1" smtClean="0"/>
              <a:t>Etudia</a:t>
            </a:r>
            <a:r>
              <a:rPr lang="fr-FR" dirty="0" smtClean="0"/>
              <a:t> également avec </a:t>
            </a:r>
            <a:r>
              <a:rPr lang="fr-FR" dirty="0" err="1" smtClean="0"/>
              <a:t>Ugolino</a:t>
            </a:r>
            <a:r>
              <a:rPr lang="fr-FR" dirty="0" smtClean="0"/>
              <a:t> </a:t>
            </a:r>
            <a:r>
              <a:rPr lang="fr-FR" dirty="0" err="1" smtClean="0"/>
              <a:t>Verino</a:t>
            </a:r>
            <a:r>
              <a:rPr lang="fr-FR" dirty="0" smtClean="0"/>
              <a:t> (1438–1516), </a:t>
            </a:r>
            <a:r>
              <a:rPr lang="fr-FR" dirty="0"/>
              <a:t>aussi </a:t>
            </a:r>
            <a:r>
              <a:rPr lang="fr-FR" dirty="0" smtClean="0"/>
              <a:t>professeur d'humanités </a:t>
            </a:r>
            <a:r>
              <a:rPr lang="fr-FR" dirty="0"/>
              <a:t>auprès du pape Léon X, de Francesco </a:t>
            </a:r>
            <a:r>
              <a:rPr lang="fr-FR" dirty="0" smtClean="0"/>
              <a:t>Pitti.</a:t>
            </a:r>
          </a:p>
          <a:p>
            <a:pPr algn="just"/>
            <a:r>
              <a:rPr lang="fr-FR" dirty="0" smtClean="0"/>
              <a:t>Rejoint le cercle d'Ange Politien (1454–1494), grand auteur en langue vulgaire mais surtout </a:t>
            </a:r>
            <a:r>
              <a:rPr lang="fr-FR" dirty="0"/>
              <a:t>immense philologue (Politien écrivit des introductions aux Silves de Stace, sur l'Institution oratoire de Quintilien, sur Perse et sur </a:t>
            </a:r>
            <a:r>
              <a:rPr lang="fr-FR" dirty="0" smtClean="0"/>
              <a:t>Suétone</a:t>
            </a:r>
            <a:r>
              <a:rPr lang="fr-FR" dirty="0"/>
              <a:t>)</a:t>
            </a:r>
            <a:r>
              <a:rPr lang="fr-FR" dirty="0" smtClean="0"/>
              <a:t>. </a:t>
            </a:r>
          </a:p>
          <a:p>
            <a:pPr algn="just"/>
            <a:r>
              <a:rPr lang="fr-FR" dirty="0" smtClean="0"/>
              <a:t>À Florence, </a:t>
            </a:r>
            <a:r>
              <a:rPr lang="fr-FR" dirty="0" err="1" smtClean="0"/>
              <a:t>Crinitus</a:t>
            </a:r>
            <a:r>
              <a:rPr lang="fr-FR" dirty="0" smtClean="0"/>
              <a:t> devint non seulement le principal élève de Politien, mais aussi, de fait, son exécuteur littéraire. Il édita les lettres et d'autres travaux de Politien et confia à Aldo </a:t>
            </a:r>
            <a:r>
              <a:rPr lang="fr-FR" dirty="0" err="1" smtClean="0"/>
              <a:t>Manuzio</a:t>
            </a:r>
            <a:r>
              <a:rPr lang="fr-FR" dirty="0" smtClean="0"/>
              <a:t> (Alde Manuce) le texte qui devint les </a:t>
            </a:r>
            <a:r>
              <a:rPr lang="fr-FR" i="1" dirty="0" smtClean="0"/>
              <a:t>Œuvres complètes</a:t>
            </a:r>
            <a:r>
              <a:rPr lang="fr-FR" dirty="0" smtClean="0"/>
              <a:t> de Politien.</a:t>
            </a:r>
            <a:endParaRPr lang="fr-FR" dirty="0"/>
          </a:p>
        </p:txBody>
      </p:sp>
    </p:spTree>
    <p:extLst>
      <p:ext uri="{BB962C8B-B14F-4D97-AF65-F5344CB8AC3E}">
        <p14:creationId xmlns:p14="http://schemas.microsoft.com/office/powerpoint/2010/main" val="3256070366"/>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fr-FR" dirty="0" smtClean="0"/>
              <a:t>Petrus </a:t>
            </a:r>
            <a:r>
              <a:rPr lang="fr-FR" dirty="0" err="1" smtClean="0"/>
              <a:t>crinitus</a:t>
            </a:r>
            <a:r>
              <a:rPr lang="fr-FR" dirty="0" smtClean="0"/>
              <a:t/>
            </a:r>
            <a:br>
              <a:rPr lang="fr-FR" dirty="0" smtClean="0"/>
            </a:br>
            <a:r>
              <a:rPr lang="fr-FR" dirty="0" smtClean="0"/>
              <a:t>Lien avec Ange Politien</a:t>
            </a:r>
            <a:endParaRPr lang="fr-FR" dirty="0"/>
          </a:p>
        </p:txBody>
      </p:sp>
      <p:sp>
        <p:nvSpPr>
          <p:cNvPr id="3" name="Content Placeholder 2"/>
          <p:cNvSpPr>
            <a:spLocks noGrp="1"/>
          </p:cNvSpPr>
          <p:nvPr>
            <p:ph idx="1"/>
          </p:nvPr>
        </p:nvSpPr>
        <p:spPr>
          <a:xfrm>
            <a:off x="581192" y="2066192"/>
            <a:ext cx="11029615" cy="4791808"/>
          </a:xfrm>
        </p:spPr>
        <p:txBody>
          <a:bodyPr>
            <a:normAutofit/>
          </a:bodyPr>
          <a:lstStyle/>
          <a:p>
            <a:pPr algn="just"/>
            <a:r>
              <a:rPr lang="fr-FR" dirty="0"/>
              <a:t>Le lien entre </a:t>
            </a:r>
            <a:r>
              <a:rPr lang="fr-FR" dirty="0" err="1"/>
              <a:t>Crinitus</a:t>
            </a:r>
            <a:r>
              <a:rPr lang="fr-FR" dirty="0"/>
              <a:t> et Politien est important pour deux </a:t>
            </a:r>
            <a:r>
              <a:rPr lang="fr-FR" dirty="0" smtClean="0"/>
              <a:t>raisons.</a:t>
            </a:r>
          </a:p>
          <a:p>
            <a:pPr lvl="1" algn="just"/>
            <a:r>
              <a:rPr lang="fr-FR" sz="1800" dirty="0" err="1" smtClean="0"/>
              <a:t>Interiorisation</a:t>
            </a:r>
            <a:r>
              <a:rPr lang="fr-FR" sz="1800" dirty="0" smtClean="0"/>
              <a:t> de la </a:t>
            </a:r>
            <a:r>
              <a:rPr lang="fr-FR" sz="1800" dirty="0"/>
              <a:t>vision globale de Politien sur ce que doit être un érudit authentiquement </a:t>
            </a:r>
            <a:r>
              <a:rPr lang="fr-FR" sz="1800" dirty="0" smtClean="0"/>
              <a:t>engagé. Dans </a:t>
            </a:r>
            <a:r>
              <a:rPr lang="fr-FR" sz="1800" i="1" dirty="0" smtClean="0"/>
              <a:t>Lamia</a:t>
            </a:r>
            <a:r>
              <a:rPr lang="fr-FR" sz="1800" dirty="0"/>
              <a:t>, Politien avait esquissé ce qu'il considérait comme la compétence du </a:t>
            </a:r>
            <a:r>
              <a:rPr lang="fr-FR" sz="1800" i="1" dirty="0" err="1"/>
              <a:t>grammaticus</a:t>
            </a:r>
            <a:r>
              <a:rPr lang="fr-FR" sz="1800" dirty="0"/>
              <a:t>, le « grammairien » ou même le « philologue ». Ce terme désignait typiquement un professeur de grammaire (par l'étude de la poésie), mais pour </a:t>
            </a:r>
            <a:r>
              <a:rPr lang="fr-FR" sz="1800" dirty="0" smtClean="0"/>
              <a:t>Politien, </a:t>
            </a:r>
            <a:r>
              <a:rPr lang="fr-FR" sz="1800" dirty="0"/>
              <a:t>le terme </a:t>
            </a:r>
            <a:r>
              <a:rPr lang="fr-FR" sz="1800" i="1" dirty="0" err="1"/>
              <a:t>grammaticus</a:t>
            </a:r>
            <a:r>
              <a:rPr lang="fr-FR" sz="1800" dirty="0"/>
              <a:t> indiquait un savant </a:t>
            </a:r>
            <a:r>
              <a:rPr lang="fr-FR" sz="1800" dirty="0" smtClean="0"/>
              <a:t>non prisonnier </a:t>
            </a:r>
            <a:r>
              <a:rPr lang="fr-FR" sz="1800" dirty="0"/>
              <a:t>des frontières disciplinaires </a:t>
            </a:r>
            <a:r>
              <a:rPr lang="fr-FR" sz="1800" dirty="0" smtClean="0"/>
              <a:t>traditionnelles</a:t>
            </a:r>
            <a:r>
              <a:rPr lang="fr-FR" sz="1800" dirty="0"/>
              <a:t> </a:t>
            </a:r>
            <a:r>
              <a:rPr lang="fr-FR" sz="1800" dirty="0" smtClean="0"/>
              <a:t>&gt;  </a:t>
            </a:r>
            <a:r>
              <a:rPr lang="fr-FR" sz="1800" dirty="0"/>
              <a:t>passion pour traiter de nombreux genres de la culture écrite traditionnellement </a:t>
            </a:r>
            <a:r>
              <a:rPr lang="fr-FR" sz="1800" dirty="0" smtClean="0"/>
              <a:t>distincts.</a:t>
            </a:r>
          </a:p>
          <a:p>
            <a:pPr lvl="1" algn="just"/>
            <a:r>
              <a:rPr lang="fr-FR" sz="1800" dirty="0" smtClean="0"/>
              <a:t>Phase </a:t>
            </a:r>
            <a:r>
              <a:rPr lang="fr-FR" sz="1800" dirty="0"/>
              <a:t>suivante de cette évolution. Politien, le mentor de </a:t>
            </a:r>
            <a:r>
              <a:rPr lang="fr-FR" sz="1800" dirty="0" err="1"/>
              <a:t>Crinitus</a:t>
            </a:r>
            <a:r>
              <a:rPr lang="fr-FR" sz="1800" dirty="0"/>
              <a:t>, avait écrit les manifestes, mené les batailles et englobé les luttes du siècle passé. </a:t>
            </a:r>
            <a:r>
              <a:rPr lang="fr-FR" sz="1800" dirty="0" smtClean="0"/>
              <a:t>L'œuvre </a:t>
            </a:r>
            <a:r>
              <a:rPr lang="fr-FR" sz="1800" dirty="0"/>
              <a:t>de </a:t>
            </a:r>
            <a:r>
              <a:rPr lang="fr-FR" sz="1800" dirty="0" err="1"/>
              <a:t>Crinitus</a:t>
            </a:r>
            <a:r>
              <a:rPr lang="fr-FR" sz="1800" dirty="0"/>
              <a:t> </a:t>
            </a:r>
            <a:r>
              <a:rPr lang="fr-FR" sz="1800" dirty="0" smtClean="0"/>
              <a:t>(ouvrages appelés et à venir au moment de sa mort) indique </a:t>
            </a:r>
            <a:r>
              <a:rPr lang="fr-FR" sz="1800" dirty="0"/>
              <a:t>une transition générationnelle. </a:t>
            </a:r>
          </a:p>
        </p:txBody>
      </p:sp>
    </p:spTree>
    <p:extLst>
      <p:ext uri="{BB962C8B-B14F-4D97-AF65-F5344CB8AC3E}">
        <p14:creationId xmlns:p14="http://schemas.microsoft.com/office/powerpoint/2010/main" val="3571207642"/>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ctr"/>
            <a:r>
              <a:rPr lang="fr-FR" dirty="0" smtClean="0"/>
              <a:t>Petrus </a:t>
            </a:r>
            <a:r>
              <a:rPr lang="fr-FR" dirty="0" err="1" smtClean="0"/>
              <a:t>crinitus</a:t>
            </a:r>
            <a:r>
              <a:rPr lang="fr-FR" dirty="0" smtClean="0"/>
              <a:t/>
            </a:r>
            <a:br>
              <a:rPr lang="fr-FR" dirty="0" smtClean="0"/>
            </a:br>
            <a:r>
              <a:rPr lang="fr-FR" dirty="0" smtClean="0"/>
              <a:t>ŒUVRES Encyclopédique</a:t>
            </a:r>
            <a:endParaRPr lang="fr-FR" dirty="0"/>
          </a:p>
        </p:txBody>
      </p:sp>
      <p:sp>
        <p:nvSpPr>
          <p:cNvPr id="3" name="Content Placeholder 2"/>
          <p:cNvSpPr>
            <a:spLocks noGrp="1"/>
          </p:cNvSpPr>
          <p:nvPr>
            <p:ph idx="1"/>
          </p:nvPr>
        </p:nvSpPr>
        <p:spPr>
          <a:xfrm>
            <a:off x="581192" y="2066192"/>
            <a:ext cx="11029615" cy="4791808"/>
          </a:xfrm>
        </p:spPr>
        <p:txBody>
          <a:bodyPr>
            <a:normAutofit/>
          </a:bodyPr>
          <a:lstStyle/>
          <a:p>
            <a:pPr algn="just"/>
            <a:r>
              <a:rPr lang="fr-FR" dirty="0"/>
              <a:t>Comprendre ce moment de transition par l’examen de la séquence d'ouvrages projetée par </a:t>
            </a:r>
            <a:r>
              <a:rPr lang="fr-FR" dirty="0" err="1"/>
              <a:t>Crinitus</a:t>
            </a:r>
            <a:r>
              <a:rPr lang="fr-FR" dirty="0"/>
              <a:t> (il n’en acheva que trois).</a:t>
            </a:r>
          </a:p>
          <a:p>
            <a:pPr algn="just"/>
            <a:r>
              <a:rPr lang="fr-FR" dirty="0" smtClean="0"/>
              <a:t>MAIS Liste </a:t>
            </a:r>
            <a:r>
              <a:rPr lang="fr-FR" dirty="0"/>
              <a:t>de ces ouvrages projetés dans la lettre de présentation jointe au </a:t>
            </a:r>
            <a:r>
              <a:rPr lang="fr-FR" i="1" dirty="0"/>
              <a:t>De </a:t>
            </a:r>
            <a:r>
              <a:rPr lang="fr-FR" i="1" dirty="0" err="1"/>
              <a:t>honesta</a:t>
            </a:r>
            <a:r>
              <a:rPr lang="fr-FR" i="1" dirty="0"/>
              <a:t> disciplina</a:t>
            </a:r>
            <a:r>
              <a:rPr lang="fr-FR" dirty="0"/>
              <a:t> de </a:t>
            </a:r>
            <a:r>
              <a:rPr lang="fr-FR" dirty="0" err="1" smtClean="0"/>
              <a:t>Crinitus</a:t>
            </a:r>
            <a:r>
              <a:rPr lang="fr-FR" dirty="0" smtClean="0"/>
              <a:t> (œuvre majeure). Elle </a:t>
            </a:r>
            <a:r>
              <a:rPr lang="fr-FR" dirty="0"/>
              <a:t>représente bien </a:t>
            </a:r>
            <a:r>
              <a:rPr lang="fr-FR" dirty="0" smtClean="0"/>
              <a:t>un </a:t>
            </a:r>
            <a:r>
              <a:rPr lang="fr-FR" dirty="0"/>
              <a:t>type de composition </a:t>
            </a:r>
            <a:r>
              <a:rPr lang="fr-FR" dirty="0" smtClean="0"/>
              <a:t>littéraire inspirée </a:t>
            </a:r>
            <a:r>
              <a:rPr lang="fr-FR" dirty="0"/>
              <a:t>par les </a:t>
            </a:r>
            <a:r>
              <a:rPr lang="fr-FR" i="1" dirty="0"/>
              <a:t>Nuits Attiques</a:t>
            </a:r>
            <a:r>
              <a:rPr lang="fr-FR" dirty="0"/>
              <a:t> </a:t>
            </a:r>
            <a:r>
              <a:rPr lang="fr-FR" dirty="0" smtClean="0"/>
              <a:t>d'Aulu-Gelle. La </a:t>
            </a:r>
            <a:r>
              <a:rPr lang="fr-FR" dirty="0"/>
              <a:t>lettre jointe au traité a été écrite par Benedetto </a:t>
            </a:r>
            <a:r>
              <a:rPr lang="fr-FR" dirty="0" err="1"/>
              <a:t>Filologo</a:t>
            </a:r>
            <a:r>
              <a:rPr lang="fr-FR" dirty="0"/>
              <a:t> à </a:t>
            </a:r>
            <a:r>
              <a:rPr lang="fr-FR" dirty="0" err="1"/>
              <a:t>Scipione</a:t>
            </a:r>
            <a:r>
              <a:rPr lang="fr-FR" dirty="0"/>
              <a:t> </a:t>
            </a:r>
            <a:r>
              <a:rPr lang="fr-FR" dirty="0" err="1" smtClean="0"/>
              <a:t>Carteromacho</a:t>
            </a:r>
            <a:r>
              <a:rPr lang="fr-FR" dirty="0" smtClean="0"/>
              <a:t>.</a:t>
            </a:r>
          </a:p>
          <a:p>
            <a:pPr algn="just"/>
            <a:r>
              <a:rPr lang="fr-FR" dirty="0" smtClean="0"/>
              <a:t>Caractérise </a:t>
            </a:r>
            <a:r>
              <a:rPr lang="fr-FR" dirty="0" err="1"/>
              <a:t>Crinitus</a:t>
            </a:r>
            <a:r>
              <a:rPr lang="fr-FR" dirty="0"/>
              <a:t> comme quelqu'un qui, depuis sa jeunesse, s'est attaché à « étudier énergiquement et en profondeur chaque aspect de l'Antiquité et à commenter ces questions avec le plus grand soin </a:t>
            </a:r>
            <a:r>
              <a:rPr lang="fr-FR" dirty="0" smtClean="0"/>
              <a:t>».</a:t>
            </a:r>
          </a:p>
          <a:p>
            <a:pPr algn="just"/>
            <a:r>
              <a:rPr lang="fr-FR" dirty="0" err="1" smtClean="0"/>
              <a:t>Enumère</a:t>
            </a:r>
            <a:r>
              <a:rPr lang="fr-FR" dirty="0" smtClean="0"/>
              <a:t> </a:t>
            </a:r>
            <a:r>
              <a:rPr lang="fr-FR" dirty="0"/>
              <a:t>les œuvres de </a:t>
            </a:r>
            <a:r>
              <a:rPr lang="fr-FR" dirty="0" err="1"/>
              <a:t>Crinitus</a:t>
            </a:r>
            <a:r>
              <a:rPr lang="fr-FR" dirty="0"/>
              <a:t> et suggère à son correspondant qu'elles sont imminentes : « </a:t>
            </a:r>
            <a:r>
              <a:rPr lang="fr-FR" dirty="0" err="1"/>
              <a:t>Porte-toi</a:t>
            </a:r>
            <a:r>
              <a:rPr lang="fr-FR" dirty="0"/>
              <a:t> bien, et attends d'ici peu tous ces ouvrages notés ci-dessous : </a:t>
            </a:r>
            <a:r>
              <a:rPr lang="fr-FR" i="1" dirty="0" err="1"/>
              <a:t>Epistolicarum</a:t>
            </a:r>
            <a:r>
              <a:rPr lang="fr-FR" i="1" dirty="0"/>
              <a:t> </a:t>
            </a:r>
            <a:r>
              <a:rPr lang="fr-FR" i="1" dirty="0" err="1"/>
              <a:t>responsionum</a:t>
            </a:r>
            <a:r>
              <a:rPr lang="fr-FR" i="1" dirty="0"/>
              <a:t> </a:t>
            </a:r>
            <a:r>
              <a:rPr lang="fr-FR" i="1" dirty="0" err="1"/>
              <a:t>libri</a:t>
            </a:r>
            <a:r>
              <a:rPr lang="fr-FR" i="1" dirty="0"/>
              <a:t> XX. De </a:t>
            </a:r>
            <a:r>
              <a:rPr lang="fr-FR" i="1" dirty="0" err="1"/>
              <a:t>Grammaticis</a:t>
            </a:r>
            <a:r>
              <a:rPr lang="fr-FR" i="1" dirty="0"/>
              <a:t> </a:t>
            </a:r>
            <a:r>
              <a:rPr lang="fr-FR" i="1" dirty="0" err="1"/>
              <a:t>latinis</a:t>
            </a:r>
            <a:r>
              <a:rPr lang="fr-FR" i="1" dirty="0"/>
              <a:t>, De </a:t>
            </a:r>
            <a:r>
              <a:rPr lang="fr-FR" i="1" dirty="0" err="1"/>
              <a:t>poetis</a:t>
            </a:r>
            <a:r>
              <a:rPr lang="fr-FR" i="1" dirty="0"/>
              <a:t>, De </a:t>
            </a:r>
            <a:r>
              <a:rPr lang="fr-FR" i="1" dirty="0" err="1"/>
              <a:t>oratoribus</a:t>
            </a:r>
            <a:r>
              <a:rPr lang="fr-FR" i="1" dirty="0"/>
              <a:t> et </a:t>
            </a:r>
            <a:r>
              <a:rPr lang="fr-FR" i="1" dirty="0" err="1"/>
              <a:t>historicis</a:t>
            </a:r>
            <a:r>
              <a:rPr lang="fr-FR" i="1" dirty="0"/>
              <a:t>, </a:t>
            </a:r>
            <a:r>
              <a:rPr lang="fr-FR" i="1" dirty="0" err="1"/>
              <a:t>libri</a:t>
            </a:r>
            <a:r>
              <a:rPr lang="fr-FR" i="1" dirty="0"/>
              <a:t> XV. </a:t>
            </a:r>
            <a:r>
              <a:rPr lang="fr-FR" i="1" dirty="0" err="1"/>
              <a:t>Promiscuarum</a:t>
            </a:r>
            <a:r>
              <a:rPr lang="fr-FR" i="1" dirty="0"/>
              <a:t> </a:t>
            </a:r>
            <a:r>
              <a:rPr lang="fr-FR" i="1" dirty="0" err="1"/>
              <a:t>quaestionum</a:t>
            </a:r>
            <a:r>
              <a:rPr lang="fr-FR" i="1" dirty="0"/>
              <a:t>, </a:t>
            </a:r>
            <a:r>
              <a:rPr lang="fr-FR" i="1" dirty="0" err="1"/>
              <a:t>libri</a:t>
            </a:r>
            <a:r>
              <a:rPr lang="fr-FR" i="1" dirty="0"/>
              <a:t> X. </a:t>
            </a:r>
            <a:r>
              <a:rPr lang="fr-FR" i="1" dirty="0" err="1"/>
              <a:t>Parthenicorum</a:t>
            </a:r>
            <a:r>
              <a:rPr lang="fr-FR" i="1" dirty="0"/>
              <a:t> </a:t>
            </a:r>
            <a:r>
              <a:rPr lang="fr-FR" i="1" dirty="0" err="1"/>
              <a:t>sermonum</a:t>
            </a:r>
            <a:r>
              <a:rPr lang="fr-FR" i="1" dirty="0"/>
              <a:t> et </a:t>
            </a:r>
            <a:r>
              <a:rPr lang="fr-FR" i="1" dirty="0" err="1"/>
              <a:t>poematum</a:t>
            </a:r>
            <a:r>
              <a:rPr lang="fr-FR" i="1" dirty="0"/>
              <a:t> </a:t>
            </a:r>
            <a:r>
              <a:rPr lang="fr-FR" i="1" dirty="0" err="1"/>
              <a:t>libri</a:t>
            </a:r>
            <a:r>
              <a:rPr lang="fr-FR" i="1" dirty="0"/>
              <a:t> III</a:t>
            </a:r>
            <a:r>
              <a:rPr lang="fr-FR" dirty="0"/>
              <a:t>. </a:t>
            </a:r>
            <a:r>
              <a:rPr lang="fr-FR" dirty="0" smtClean="0"/>
              <a:t>»</a:t>
            </a:r>
          </a:p>
        </p:txBody>
      </p:sp>
    </p:spTree>
    <p:extLst>
      <p:ext uri="{BB962C8B-B14F-4D97-AF65-F5344CB8AC3E}">
        <p14:creationId xmlns:p14="http://schemas.microsoft.com/office/powerpoint/2010/main" val="2272582990"/>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fr-FR" dirty="0" smtClean="0"/>
              <a:t>Petrus </a:t>
            </a:r>
            <a:r>
              <a:rPr lang="fr-FR" dirty="0" err="1" smtClean="0"/>
              <a:t>crinitus</a:t>
            </a:r>
            <a:r>
              <a:rPr lang="fr-FR" dirty="0" smtClean="0"/>
              <a:t/>
            </a:r>
            <a:br>
              <a:rPr lang="fr-FR" dirty="0" smtClean="0"/>
            </a:br>
            <a:r>
              <a:rPr lang="fr-FR" dirty="0" smtClean="0"/>
              <a:t>De </a:t>
            </a:r>
            <a:r>
              <a:rPr lang="fr-FR" dirty="0" err="1" smtClean="0"/>
              <a:t>poetis</a:t>
            </a:r>
            <a:r>
              <a:rPr lang="fr-FR" dirty="0" smtClean="0"/>
              <a:t> </a:t>
            </a:r>
            <a:r>
              <a:rPr lang="fr-FR" dirty="0" err="1" smtClean="0"/>
              <a:t>latinis</a:t>
            </a:r>
            <a:endParaRPr lang="fr-FR" dirty="0"/>
          </a:p>
        </p:txBody>
      </p:sp>
      <p:sp>
        <p:nvSpPr>
          <p:cNvPr id="3" name="Content Placeholder 2"/>
          <p:cNvSpPr>
            <a:spLocks noGrp="1"/>
          </p:cNvSpPr>
          <p:nvPr>
            <p:ph idx="1"/>
          </p:nvPr>
        </p:nvSpPr>
        <p:spPr>
          <a:xfrm>
            <a:off x="581192" y="2066192"/>
            <a:ext cx="11029615" cy="4791808"/>
          </a:xfrm>
        </p:spPr>
        <p:txBody>
          <a:bodyPr>
            <a:normAutofit/>
          </a:bodyPr>
          <a:lstStyle/>
          <a:p>
            <a:pPr algn="just"/>
            <a:r>
              <a:rPr lang="fr-FR" dirty="0" smtClean="0"/>
              <a:t>Liste montre </a:t>
            </a:r>
            <a:r>
              <a:rPr lang="fr-FR" dirty="0"/>
              <a:t>que </a:t>
            </a:r>
            <a:r>
              <a:rPr lang="fr-FR" dirty="0" err="1"/>
              <a:t>Crinitus</a:t>
            </a:r>
            <a:r>
              <a:rPr lang="fr-FR" dirty="0"/>
              <a:t> s'intéressait aux types d'ouvrages de mélanges qui avaient également captivé </a:t>
            </a:r>
            <a:r>
              <a:rPr lang="fr-FR" dirty="0" smtClean="0"/>
              <a:t>Politien.</a:t>
            </a:r>
          </a:p>
          <a:p>
            <a:pPr algn="just"/>
            <a:r>
              <a:rPr lang="fr-FR" dirty="0" smtClean="0"/>
              <a:t>Révèle un </a:t>
            </a:r>
            <a:r>
              <a:rPr lang="fr-FR" dirty="0"/>
              <a:t>vif intérêt à </a:t>
            </a:r>
            <a:r>
              <a:rPr lang="fr-FR" dirty="0" smtClean="0"/>
              <a:t>Suétone &gt; Le </a:t>
            </a:r>
            <a:r>
              <a:rPr lang="fr-FR" dirty="0"/>
              <a:t>vaste ensemble de </a:t>
            </a:r>
            <a:r>
              <a:rPr lang="fr-FR" i="1" dirty="0"/>
              <a:t>Vies des hommes illustres</a:t>
            </a:r>
            <a:r>
              <a:rPr lang="fr-FR" dirty="0"/>
              <a:t> de Suétone (au-delà de ses désormais célèbres </a:t>
            </a:r>
            <a:r>
              <a:rPr lang="fr-FR" i="1" dirty="0"/>
              <a:t>Vies des douze Césars</a:t>
            </a:r>
            <a:r>
              <a:rPr lang="fr-FR" dirty="0"/>
              <a:t>) </a:t>
            </a:r>
            <a:r>
              <a:rPr lang="fr-FR" dirty="0" smtClean="0"/>
              <a:t>avec </a:t>
            </a:r>
            <a:r>
              <a:rPr lang="fr-FR" dirty="0"/>
              <a:t>des historiens, des philosophes et des </a:t>
            </a:r>
            <a:r>
              <a:rPr lang="fr-FR" dirty="0" smtClean="0"/>
              <a:t>orateurs.</a:t>
            </a:r>
          </a:p>
          <a:p>
            <a:pPr algn="just"/>
            <a:r>
              <a:rPr lang="fr-FR" dirty="0" smtClean="0"/>
              <a:t>Au </a:t>
            </a:r>
            <a:r>
              <a:rPr lang="fr-FR" dirty="0"/>
              <a:t>sein de cet ensemble, figurait un ouvrage conservé comme un texte distinct, avec sa propre tradition, qui était connu de Politien et largement utilisé par lui, et que </a:t>
            </a:r>
            <a:r>
              <a:rPr lang="fr-FR" dirty="0" err="1"/>
              <a:t>Crinitus</a:t>
            </a:r>
            <a:r>
              <a:rPr lang="fr-FR" dirty="0"/>
              <a:t> revendique comme modèle : le </a:t>
            </a:r>
            <a:r>
              <a:rPr lang="fr-FR" i="1" dirty="0"/>
              <a:t>De </a:t>
            </a:r>
            <a:r>
              <a:rPr lang="fr-FR" i="1" dirty="0" err="1"/>
              <a:t>grammaticis</a:t>
            </a:r>
            <a:r>
              <a:rPr lang="fr-FR" i="1" dirty="0"/>
              <a:t> et </a:t>
            </a:r>
            <a:r>
              <a:rPr lang="fr-FR" i="1" dirty="0" err="1"/>
              <a:t>rhetoribus</a:t>
            </a:r>
            <a:r>
              <a:rPr lang="fr-FR" dirty="0"/>
              <a:t> de </a:t>
            </a:r>
            <a:r>
              <a:rPr lang="fr-FR" dirty="0" smtClean="0"/>
              <a:t>Suétone. Moment </a:t>
            </a:r>
            <a:r>
              <a:rPr lang="fr-FR" dirty="0" err="1"/>
              <a:t>suétonien</a:t>
            </a:r>
            <a:r>
              <a:rPr lang="fr-FR" dirty="0"/>
              <a:t> </a:t>
            </a:r>
            <a:r>
              <a:rPr lang="fr-FR" dirty="0" smtClean="0"/>
              <a:t>révèle </a:t>
            </a:r>
            <a:r>
              <a:rPr lang="fr-FR" dirty="0"/>
              <a:t>une entreprise de référencement et de </a:t>
            </a:r>
            <a:r>
              <a:rPr lang="fr-FR" dirty="0" smtClean="0"/>
              <a:t>consolidation.</a:t>
            </a:r>
          </a:p>
          <a:p>
            <a:pPr algn="just"/>
            <a:r>
              <a:rPr lang="fr-FR" dirty="0" smtClean="0"/>
              <a:t>Objectif de </a:t>
            </a:r>
            <a:r>
              <a:rPr lang="fr-FR" dirty="0" err="1" smtClean="0"/>
              <a:t>Crinitus</a:t>
            </a:r>
            <a:r>
              <a:rPr lang="fr-FR" dirty="0" smtClean="0"/>
              <a:t> : systématiser </a:t>
            </a:r>
            <a:r>
              <a:rPr lang="fr-FR" dirty="0"/>
              <a:t>les informations disponibles concernant les écrivains </a:t>
            </a:r>
            <a:r>
              <a:rPr lang="fr-FR" dirty="0" smtClean="0"/>
              <a:t>anciens</a:t>
            </a:r>
          </a:p>
          <a:p>
            <a:pPr algn="just"/>
            <a:r>
              <a:rPr lang="fr-FR" dirty="0" smtClean="0"/>
              <a:t>Son </a:t>
            </a:r>
            <a:r>
              <a:rPr lang="fr-FR" dirty="0"/>
              <a:t>ouvrage </a:t>
            </a:r>
            <a:r>
              <a:rPr lang="fr-FR" i="1" dirty="0"/>
              <a:t>Sur les poètes latins</a:t>
            </a:r>
            <a:r>
              <a:rPr lang="fr-FR" dirty="0"/>
              <a:t> (</a:t>
            </a:r>
            <a:r>
              <a:rPr lang="fr-FR" i="1" dirty="0"/>
              <a:t>De </a:t>
            </a:r>
            <a:r>
              <a:rPr lang="fr-FR" i="1" dirty="0" err="1"/>
              <a:t>poetis</a:t>
            </a:r>
            <a:r>
              <a:rPr lang="fr-FR" i="1" dirty="0"/>
              <a:t> </a:t>
            </a:r>
            <a:r>
              <a:rPr lang="fr-FR" i="1" dirty="0" err="1"/>
              <a:t>latinis</a:t>
            </a:r>
            <a:r>
              <a:rPr lang="fr-FR" dirty="0"/>
              <a:t>), le seul de ces livres de type "référence" qui subsiste, offre un aperçu de ces préoccupations. Paru en 1505, il est divisé en quatre-vingt-quinze chapitres et cinq livres, et couvre tous les poètes latins anciens connus, de </a:t>
            </a:r>
            <a:r>
              <a:rPr lang="fr-FR" dirty="0" err="1"/>
              <a:t>Livius</a:t>
            </a:r>
            <a:r>
              <a:rPr lang="fr-FR" dirty="0"/>
              <a:t> </a:t>
            </a:r>
            <a:r>
              <a:rPr lang="fr-FR" dirty="0" err="1"/>
              <a:t>Andronicus</a:t>
            </a:r>
            <a:r>
              <a:rPr lang="fr-FR" dirty="0"/>
              <a:t> (vers 284–204 av. J.-C.) à Sidoine Apollinaire (vers 430–489 apr. J.-C.).</a:t>
            </a:r>
          </a:p>
        </p:txBody>
      </p:sp>
    </p:spTree>
    <p:extLst>
      <p:ext uri="{BB962C8B-B14F-4D97-AF65-F5344CB8AC3E}">
        <p14:creationId xmlns:p14="http://schemas.microsoft.com/office/powerpoint/2010/main" val="720979347"/>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fr-FR" dirty="0" smtClean="0"/>
              <a:t>Petrus </a:t>
            </a:r>
            <a:r>
              <a:rPr lang="fr-FR" dirty="0" err="1" smtClean="0"/>
              <a:t>crinitus</a:t>
            </a:r>
            <a:r>
              <a:rPr lang="fr-FR" dirty="0" smtClean="0"/>
              <a:t/>
            </a:r>
            <a:br>
              <a:rPr lang="fr-FR" dirty="0" smtClean="0"/>
            </a:br>
            <a:r>
              <a:rPr lang="fr-FR" dirty="0" smtClean="0"/>
              <a:t>DE POETIS LATINIS</a:t>
            </a:r>
            <a:endParaRPr lang="fr-FR" dirty="0"/>
          </a:p>
        </p:txBody>
      </p:sp>
      <p:sp>
        <p:nvSpPr>
          <p:cNvPr id="3" name="Content Placeholder 2"/>
          <p:cNvSpPr>
            <a:spLocks noGrp="1"/>
          </p:cNvSpPr>
          <p:nvPr>
            <p:ph idx="1"/>
          </p:nvPr>
        </p:nvSpPr>
        <p:spPr>
          <a:xfrm>
            <a:off x="581192" y="2066192"/>
            <a:ext cx="11029615" cy="4791808"/>
          </a:xfrm>
        </p:spPr>
        <p:txBody>
          <a:bodyPr>
            <a:normAutofit/>
          </a:bodyPr>
          <a:lstStyle/>
          <a:p>
            <a:pPr algn="just"/>
            <a:r>
              <a:rPr lang="fr-FR" dirty="0" smtClean="0"/>
              <a:t>Pour </a:t>
            </a:r>
            <a:r>
              <a:rPr lang="fr-FR" dirty="0"/>
              <a:t>Christopher S. </a:t>
            </a:r>
            <a:r>
              <a:rPr lang="fr-FR" dirty="0" err="1"/>
              <a:t>Celenza</a:t>
            </a:r>
            <a:r>
              <a:rPr lang="fr-FR" dirty="0"/>
              <a:t> </a:t>
            </a:r>
            <a:r>
              <a:rPr lang="fr-FR" dirty="0" smtClean="0"/>
              <a:t>: au </a:t>
            </a:r>
            <a:r>
              <a:rPr lang="fr-FR" dirty="0"/>
              <a:t>moins deux manières d'aborder cet </a:t>
            </a:r>
            <a:r>
              <a:rPr lang="fr-FR" dirty="0" smtClean="0"/>
              <a:t>ouvrage.</a:t>
            </a:r>
          </a:p>
          <a:p>
            <a:pPr marL="0" indent="0" algn="just">
              <a:buNone/>
            </a:pPr>
            <a:r>
              <a:rPr lang="fr-FR" dirty="0" smtClean="0"/>
              <a:t>« La </a:t>
            </a:r>
            <a:r>
              <a:rPr lang="fr-FR" dirty="0"/>
              <a:t>première consiste à se concentrer sur le schéma historique qu'il contient et autour duquel </a:t>
            </a:r>
            <a:r>
              <a:rPr lang="fr-FR" dirty="0" err="1"/>
              <a:t>Crinitus</a:t>
            </a:r>
            <a:r>
              <a:rPr lang="fr-FR" dirty="0"/>
              <a:t> structure sa discussion sur les poètes latins. Chacun des cinq livres possède sa propre préface, et ensemble, elles nous aident à comprendre la vision historique de </a:t>
            </a:r>
            <a:r>
              <a:rPr lang="fr-FR" dirty="0" err="1"/>
              <a:t>Crinitus</a:t>
            </a:r>
            <a:r>
              <a:rPr lang="fr-FR" dirty="0"/>
              <a:t>. La seconde consiste à examiner comment </a:t>
            </a:r>
            <a:r>
              <a:rPr lang="fr-FR" dirty="0" err="1"/>
              <a:t>Crinitus</a:t>
            </a:r>
            <a:r>
              <a:rPr lang="fr-FR" dirty="0"/>
              <a:t> traite un auteur spécifique (ce qui peut être observé en partie à travers l'examen des preuves manuscrites). Ces approches révèlent un penseur doté d'une vision spécifique de la place et de l'évolution de la poésie dans la société, alors même que les difficultés ponctuelles de </a:t>
            </a:r>
            <a:r>
              <a:rPr lang="fr-FR" dirty="0" err="1"/>
              <a:t>Crinitus</a:t>
            </a:r>
            <a:r>
              <a:rPr lang="fr-FR" dirty="0"/>
              <a:t> nous ouvrent une fenêtre sur une culture émergente des ouvrages de référence et de la gestion de l'information à l'époque moderne, sujet qui a récemment attiré l'attention des chercheurs</a:t>
            </a:r>
            <a:r>
              <a:rPr lang="fr-FR" dirty="0" smtClean="0"/>
              <a:t>.  »</a:t>
            </a:r>
          </a:p>
          <a:p>
            <a:pPr marL="0" indent="0" algn="just">
              <a:buNone/>
            </a:pPr>
            <a:endParaRPr lang="fr-FR" dirty="0"/>
          </a:p>
        </p:txBody>
      </p:sp>
    </p:spTree>
    <p:extLst>
      <p:ext uri="{BB962C8B-B14F-4D97-AF65-F5344CB8AC3E}">
        <p14:creationId xmlns:p14="http://schemas.microsoft.com/office/powerpoint/2010/main" val="2861739458"/>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fr-FR" dirty="0" smtClean="0"/>
              <a:t>Petrus </a:t>
            </a:r>
            <a:r>
              <a:rPr lang="fr-FR" dirty="0" err="1" smtClean="0"/>
              <a:t>crinitus</a:t>
            </a:r>
            <a:r>
              <a:rPr lang="fr-FR" dirty="0" smtClean="0"/>
              <a:t/>
            </a:r>
            <a:br>
              <a:rPr lang="fr-FR" dirty="0" smtClean="0"/>
            </a:br>
            <a:r>
              <a:rPr lang="fr-FR" dirty="0" smtClean="0"/>
              <a:t>De </a:t>
            </a:r>
            <a:r>
              <a:rPr lang="fr-FR" dirty="0" err="1" smtClean="0"/>
              <a:t>poetis</a:t>
            </a:r>
            <a:r>
              <a:rPr lang="fr-FR" dirty="0" smtClean="0"/>
              <a:t> </a:t>
            </a:r>
            <a:r>
              <a:rPr lang="fr-FR" dirty="0" err="1" smtClean="0"/>
              <a:t>latinis</a:t>
            </a:r>
            <a:endParaRPr lang="fr-FR" dirty="0"/>
          </a:p>
        </p:txBody>
      </p:sp>
      <p:sp>
        <p:nvSpPr>
          <p:cNvPr id="3" name="Content Placeholder 2"/>
          <p:cNvSpPr>
            <a:spLocks noGrp="1"/>
          </p:cNvSpPr>
          <p:nvPr>
            <p:ph idx="1"/>
          </p:nvPr>
        </p:nvSpPr>
        <p:spPr>
          <a:xfrm>
            <a:off x="581192" y="2066192"/>
            <a:ext cx="11029615" cy="4791808"/>
          </a:xfrm>
        </p:spPr>
        <p:txBody>
          <a:bodyPr>
            <a:normAutofit/>
          </a:bodyPr>
          <a:lstStyle/>
          <a:p>
            <a:pPr algn="just"/>
            <a:r>
              <a:rPr lang="fr-FR" dirty="0" smtClean="0"/>
              <a:t>Vision </a:t>
            </a:r>
            <a:r>
              <a:rPr lang="fr-FR" dirty="0"/>
              <a:t>de </a:t>
            </a:r>
            <a:r>
              <a:rPr lang="fr-FR" dirty="0" err="1"/>
              <a:t>Crinitus</a:t>
            </a:r>
            <a:r>
              <a:rPr lang="fr-FR" dirty="0"/>
              <a:t> sur le progrès de la poésie latine </a:t>
            </a:r>
            <a:r>
              <a:rPr lang="fr-FR" dirty="0" smtClean="0"/>
              <a:t>ancienne liée </a:t>
            </a:r>
            <a:r>
              <a:rPr lang="fr-FR" dirty="0"/>
              <a:t>à une conception classique de naissance, de croissance et de déclin, assez semblable à la version d'Isidore de Séville sur le progrès de la langue </a:t>
            </a:r>
            <a:r>
              <a:rPr lang="fr-FR" dirty="0" smtClean="0"/>
              <a:t>latine. Socle important </a:t>
            </a:r>
            <a:r>
              <a:rPr lang="fr-FR" dirty="0"/>
              <a:t>pour envisager le schéma historique de </a:t>
            </a:r>
            <a:r>
              <a:rPr lang="fr-FR" dirty="0" err="1" smtClean="0"/>
              <a:t>Crinitus</a:t>
            </a:r>
            <a:r>
              <a:rPr lang="fr-FR" dirty="0" smtClean="0"/>
              <a:t>,</a:t>
            </a:r>
            <a:endParaRPr lang="fr-FR" dirty="0"/>
          </a:p>
          <a:p>
            <a:pPr algn="just"/>
            <a:r>
              <a:rPr lang="fr-FR" dirty="0" smtClean="0"/>
              <a:t>Isidore </a:t>
            </a:r>
            <a:r>
              <a:rPr lang="fr-FR" dirty="0"/>
              <a:t>divisait son schéma en quatre périodes </a:t>
            </a:r>
            <a:r>
              <a:rPr lang="fr-FR" dirty="0" smtClean="0"/>
              <a:t>:</a:t>
            </a:r>
          </a:p>
          <a:p>
            <a:pPr lvl="1" algn="just"/>
            <a:r>
              <a:rPr lang="fr-FR" sz="1800" dirty="0" smtClean="0"/>
              <a:t>l'ancienne </a:t>
            </a:r>
            <a:r>
              <a:rPr lang="fr-FR" sz="1800" dirty="0"/>
              <a:t>ou </a:t>
            </a:r>
            <a:r>
              <a:rPr lang="fr-FR" sz="1800" i="1" dirty="0" err="1"/>
              <a:t>prisca</a:t>
            </a:r>
            <a:r>
              <a:rPr lang="fr-FR" sz="1800" dirty="0"/>
              <a:t> (le latin le plus reculé, situé dans l'ère mythique de Janus et de </a:t>
            </a:r>
            <a:r>
              <a:rPr lang="fr-FR" sz="1800" dirty="0" smtClean="0"/>
              <a:t>Saturne)</a:t>
            </a:r>
          </a:p>
          <a:p>
            <a:pPr lvl="1" algn="just"/>
            <a:r>
              <a:rPr lang="fr-FR" sz="1800" dirty="0" smtClean="0"/>
              <a:t>la </a:t>
            </a:r>
            <a:r>
              <a:rPr lang="fr-FR" sz="1800" dirty="0"/>
              <a:t>latine ou </a:t>
            </a:r>
            <a:r>
              <a:rPr lang="fr-FR" sz="1800" i="1" dirty="0" err="1"/>
              <a:t>latina</a:t>
            </a:r>
            <a:r>
              <a:rPr lang="fr-FR" sz="1800" dirty="0"/>
              <a:t> (la langue du Latium, dans laquelle furent écrites les Douze </a:t>
            </a:r>
            <a:r>
              <a:rPr lang="fr-FR" sz="1800" dirty="0" smtClean="0"/>
              <a:t>Tables)</a:t>
            </a:r>
          </a:p>
          <a:p>
            <a:pPr lvl="1" algn="just"/>
            <a:r>
              <a:rPr lang="fr-FR" sz="1800" dirty="0" smtClean="0"/>
              <a:t>la </a:t>
            </a:r>
            <a:r>
              <a:rPr lang="fr-FR" sz="1800" dirty="0"/>
              <a:t>romaine (qui représentait la période suivante et incluait entre autres Plaute, Virgile et </a:t>
            </a:r>
            <a:r>
              <a:rPr lang="fr-FR" sz="1800" dirty="0" smtClean="0"/>
              <a:t>Cicéron)</a:t>
            </a:r>
          </a:p>
          <a:p>
            <a:pPr lvl="1" algn="just"/>
            <a:r>
              <a:rPr lang="fr-FR" sz="1800" dirty="0" smtClean="0"/>
              <a:t>et </a:t>
            </a:r>
            <a:r>
              <a:rPr lang="fr-FR" sz="1800" dirty="0"/>
              <a:t>enfin la « mixte » ou </a:t>
            </a:r>
            <a:r>
              <a:rPr lang="fr-FR" sz="1800" i="1" dirty="0" err="1"/>
              <a:t>mixta</a:t>
            </a:r>
            <a:r>
              <a:rPr lang="fr-FR" sz="1800" dirty="0"/>
              <a:t> (survenue au déclin de la puissance romaine, corrompant la langue par des solécismes et des barbarismes</a:t>
            </a:r>
            <a:r>
              <a:rPr lang="fr-FR" sz="1800" dirty="0" smtClean="0"/>
              <a:t>).</a:t>
            </a:r>
          </a:p>
        </p:txBody>
      </p:sp>
    </p:spTree>
    <p:extLst>
      <p:ext uri="{BB962C8B-B14F-4D97-AF65-F5344CB8AC3E}">
        <p14:creationId xmlns:p14="http://schemas.microsoft.com/office/powerpoint/2010/main" val="377987228"/>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fr-FR" dirty="0" smtClean="0"/>
              <a:t>Petrus </a:t>
            </a:r>
            <a:r>
              <a:rPr lang="fr-FR" dirty="0" err="1" smtClean="0"/>
              <a:t>crinitus</a:t>
            </a:r>
            <a:r>
              <a:rPr lang="fr-FR" dirty="0" smtClean="0"/>
              <a:t/>
            </a:r>
            <a:br>
              <a:rPr lang="fr-FR" dirty="0" smtClean="0"/>
            </a:br>
            <a:r>
              <a:rPr lang="fr-FR" dirty="0" err="1" smtClean="0"/>
              <a:t>isidore</a:t>
            </a:r>
            <a:r>
              <a:rPr lang="fr-FR" dirty="0" smtClean="0"/>
              <a:t> et les QUATRE Périodes</a:t>
            </a:r>
            <a:endParaRPr lang="fr-FR" dirty="0"/>
          </a:p>
        </p:txBody>
      </p:sp>
      <p:sp>
        <p:nvSpPr>
          <p:cNvPr id="3" name="Content Placeholder 2"/>
          <p:cNvSpPr>
            <a:spLocks noGrp="1"/>
          </p:cNvSpPr>
          <p:nvPr>
            <p:ph idx="1"/>
          </p:nvPr>
        </p:nvSpPr>
        <p:spPr>
          <a:xfrm>
            <a:off x="581192" y="2066192"/>
            <a:ext cx="11029615" cy="4791808"/>
          </a:xfrm>
        </p:spPr>
        <p:txBody>
          <a:bodyPr>
            <a:normAutofit/>
          </a:bodyPr>
          <a:lstStyle/>
          <a:p>
            <a:pPr algn="just"/>
            <a:r>
              <a:rPr lang="fr-FR" dirty="0" smtClean="0"/>
              <a:t>Vision </a:t>
            </a:r>
            <a:r>
              <a:rPr lang="fr-FR" dirty="0"/>
              <a:t>de </a:t>
            </a:r>
            <a:r>
              <a:rPr lang="fr-FR" dirty="0" err="1"/>
              <a:t>Crinitus</a:t>
            </a:r>
            <a:r>
              <a:rPr lang="fr-FR" dirty="0"/>
              <a:t> sur le progrès de la poésie latine </a:t>
            </a:r>
            <a:r>
              <a:rPr lang="fr-FR" dirty="0" smtClean="0"/>
              <a:t>ancienne liée </a:t>
            </a:r>
            <a:r>
              <a:rPr lang="fr-FR" dirty="0"/>
              <a:t>à une conception classique de naissance, de croissance et de déclin, assez semblable à la version d'Isidore de Séville sur le progrès de la langue </a:t>
            </a:r>
            <a:r>
              <a:rPr lang="fr-FR" dirty="0" smtClean="0"/>
              <a:t>latine. Socle important </a:t>
            </a:r>
            <a:r>
              <a:rPr lang="fr-FR" dirty="0"/>
              <a:t>pour envisager le schéma historique de </a:t>
            </a:r>
            <a:r>
              <a:rPr lang="fr-FR" dirty="0" err="1" smtClean="0"/>
              <a:t>Crinitus</a:t>
            </a:r>
            <a:r>
              <a:rPr lang="fr-FR" dirty="0" smtClean="0"/>
              <a:t>,</a:t>
            </a:r>
            <a:endParaRPr lang="fr-FR" dirty="0"/>
          </a:p>
          <a:p>
            <a:pPr algn="just"/>
            <a:r>
              <a:rPr lang="fr-FR" dirty="0" smtClean="0"/>
              <a:t>Isidore </a:t>
            </a:r>
            <a:r>
              <a:rPr lang="fr-FR" dirty="0"/>
              <a:t>divisait son schéma en quatre périodes </a:t>
            </a:r>
            <a:r>
              <a:rPr lang="fr-FR" dirty="0" smtClean="0"/>
              <a:t>:</a:t>
            </a:r>
          </a:p>
          <a:p>
            <a:pPr lvl="1" algn="just"/>
            <a:r>
              <a:rPr lang="fr-FR" sz="1800" dirty="0" smtClean="0"/>
              <a:t>l'ancienne </a:t>
            </a:r>
            <a:r>
              <a:rPr lang="fr-FR" sz="1800" dirty="0"/>
              <a:t>ou </a:t>
            </a:r>
            <a:r>
              <a:rPr lang="fr-FR" sz="1800" i="1" dirty="0" err="1"/>
              <a:t>prisca</a:t>
            </a:r>
            <a:r>
              <a:rPr lang="fr-FR" sz="1800" dirty="0"/>
              <a:t> (le latin le plus reculé, situé dans l'ère mythique de Janus et de </a:t>
            </a:r>
            <a:r>
              <a:rPr lang="fr-FR" sz="1800" dirty="0" smtClean="0"/>
              <a:t>Saturne)</a:t>
            </a:r>
          </a:p>
          <a:p>
            <a:pPr lvl="1" algn="just"/>
            <a:r>
              <a:rPr lang="fr-FR" sz="1800" dirty="0" smtClean="0"/>
              <a:t>la </a:t>
            </a:r>
            <a:r>
              <a:rPr lang="fr-FR" sz="1800" dirty="0"/>
              <a:t>latine ou </a:t>
            </a:r>
            <a:r>
              <a:rPr lang="fr-FR" sz="1800" i="1" dirty="0" err="1"/>
              <a:t>latina</a:t>
            </a:r>
            <a:r>
              <a:rPr lang="fr-FR" sz="1800" dirty="0"/>
              <a:t> (la langue du Latium, dans laquelle furent écrites les Douze </a:t>
            </a:r>
            <a:r>
              <a:rPr lang="fr-FR" sz="1800" dirty="0" smtClean="0"/>
              <a:t>Tables)</a:t>
            </a:r>
          </a:p>
          <a:p>
            <a:pPr lvl="1" algn="just"/>
            <a:r>
              <a:rPr lang="fr-FR" sz="1800" dirty="0" smtClean="0"/>
              <a:t>la </a:t>
            </a:r>
            <a:r>
              <a:rPr lang="fr-FR" sz="1800" dirty="0"/>
              <a:t>romaine (qui représentait la période suivante et incluait entre autres Plaute, Virgile et </a:t>
            </a:r>
            <a:r>
              <a:rPr lang="fr-FR" sz="1800" dirty="0" smtClean="0"/>
              <a:t>Cicéron)</a:t>
            </a:r>
          </a:p>
          <a:p>
            <a:pPr lvl="1" algn="just"/>
            <a:r>
              <a:rPr lang="fr-FR" sz="1800" dirty="0" smtClean="0"/>
              <a:t>et </a:t>
            </a:r>
            <a:r>
              <a:rPr lang="fr-FR" sz="1800" dirty="0"/>
              <a:t>enfin la « mixte » ou </a:t>
            </a:r>
            <a:r>
              <a:rPr lang="fr-FR" sz="1800" i="1" dirty="0" err="1"/>
              <a:t>mixta</a:t>
            </a:r>
            <a:r>
              <a:rPr lang="fr-FR" sz="1800" dirty="0"/>
              <a:t> (survenue au déclin de la puissance romaine, corrompant la langue par des solécismes et des barbarismes</a:t>
            </a:r>
            <a:r>
              <a:rPr lang="fr-FR" sz="1800" dirty="0" smtClean="0"/>
              <a:t>).</a:t>
            </a:r>
          </a:p>
        </p:txBody>
      </p:sp>
    </p:spTree>
    <p:extLst>
      <p:ext uri="{BB962C8B-B14F-4D97-AF65-F5344CB8AC3E}">
        <p14:creationId xmlns:p14="http://schemas.microsoft.com/office/powerpoint/2010/main" val="2327147859"/>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fr-FR" dirty="0" smtClean="0"/>
              <a:t>Petrus </a:t>
            </a:r>
            <a:r>
              <a:rPr lang="fr-FR" dirty="0" err="1" smtClean="0"/>
              <a:t>crinitus</a:t>
            </a:r>
            <a:r>
              <a:rPr lang="fr-FR" dirty="0" smtClean="0"/>
              <a:t/>
            </a:r>
            <a:br>
              <a:rPr lang="fr-FR" dirty="0" smtClean="0"/>
            </a:br>
            <a:r>
              <a:rPr lang="fr-FR" dirty="0" smtClean="0"/>
              <a:t>Débat sur la langue latine</a:t>
            </a:r>
            <a:endParaRPr lang="fr-FR" dirty="0"/>
          </a:p>
        </p:txBody>
      </p:sp>
      <p:sp>
        <p:nvSpPr>
          <p:cNvPr id="3" name="Content Placeholder 2"/>
          <p:cNvSpPr>
            <a:spLocks noGrp="1"/>
          </p:cNvSpPr>
          <p:nvPr>
            <p:ph idx="1"/>
          </p:nvPr>
        </p:nvSpPr>
        <p:spPr>
          <a:xfrm>
            <a:off x="581192" y="2180496"/>
            <a:ext cx="11029615" cy="4563204"/>
          </a:xfrm>
        </p:spPr>
        <p:txBody>
          <a:bodyPr>
            <a:normAutofit/>
          </a:bodyPr>
          <a:lstStyle/>
          <a:p>
            <a:pPr algn="just"/>
            <a:r>
              <a:rPr lang="fr-FR" dirty="0"/>
              <a:t>Importance également </a:t>
            </a:r>
            <a:r>
              <a:rPr lang="fr-FR" dirty="0" smtClean="0"/>
              <a:t>de la </a:t>
            </a:r>
            <a:r>
              <a:rPr lang="fr-FR" dirty="0"/>
              <a:t>discussion du XVe siècle sur la langue parlée dans la Rome </a:t>
            </a:r>
            <a:r>
              <a:rPr lang="fr-FR" dirty="0" smtClean="0"/>
              <a:t>antique</a:t>
            </a:r>
          </a:p>
          <a:p>
            <a:pPr algn="just"/>
            <a:r>
              <a:rPr lang="fr-FR" dirty="0" smtClean="0"/>
              <a:t>Discussion entre </a:t>
            </a:r>
            <a:r>
              <a:rPr lang="fr-FR" dirty="0" err="1"/>
              <a:t>Biondo</a:t>
            </a:r>
            <a:r>
              <a:rPr lang="fr-FR" dirty="0"/>
              <a:t> Flavio et Leonardo Bruni, et se poursuivit à travers Poggio </a:t>
            </a:r>
            <a:r>
              <a:rPr lang="fr-FR" dirty="0" err="1"/>
              <a:t>Bracciolini</a:t>
            </a:r>
            <a:r>
              <a:rPr lang="fr-FR" dirty="0"/>
              <a:t>, Lorenzo Valla, Angelo </a:t>
            </a:r>
            <a:r>
              <a:rPr lang="fr-FR" dirty="0" err="1"/>
              <a:t>Decembrio</a:t>
            </a:r>
            <a:r>
              <a:rPr lang="fr-FR" dirty="0"/>
              <a:t>, </a:t>
            </a:r>
            <a:r>
              <a:rPr lang="fr-FR" dirty="0" err="1"/>
              <a:t>Guarino</a:t>
            </a:r>
            <a:r>
              <a:rPr lang="fr-FR" dirty="0"/>
              <a:t> da </a:t>
            </a:r>
            <a:r>
              <a:rPr lang="fr-FR" dirty="0" err="1"/>
              <a:t>Verona</a:t>
            </a:r>
            <a:r>
              <a:rPr lang="fr-FR" dirty="0"/>
              <a:t> et Francesco </a:t>
            </a:r>
            <a:r>
              <a:rPr lang="fr-FR" dirty="0" err="1" smtClean="0"/>
              <a:t>Filelfo</a:t>
            </a:r>
            <a:r>
              <a:rPr lang="fr-FR" dirty="0" smtClean="0"/>
              <a:t>.</a:t>
            </a:r>
          </a:p>
          <a:p>
            <a:pPr algn="just"/>
            <a:r>
              <a:rPr lang="fr-FR" dirty="0" smtClean="0"/>
              <a:t>Question : Les </a:t>
            </a:r>
            <a:r>
              <a:rPr lang="fr-FR" dirty="0"/>
              <a:t>anciens Romains parlaient-ils une langue relativement formelle, semblable au latin écrit qui a été préservé ? Ou possédaient-ils, au contraire, une langue vernaculaire distincte de leur langue écrite </a:t>
            </a:r>
            <a:r>
              <a:rPr lang="fr-FR" dirty="0" smtClean="0"/>
              <a:t>?</a:t>
            </a:r>
          </a:p>
          <a:p>
            <a:pPr algn="just"/>
            <a:r>
              <a:rPr lang="fr-FR" dirty="0" smtClean="0"/>
              <a:t>Débat </a:t>
            </a:r>
            <a:r>
              <a:rPr lang="fr-FR" dirty="0"/>
              <a:t>long et </a:t>
            </a:r>
            <a:r>
              <a:rPr lang="fr-FR" dirty="0" smtClean="0"/>
              <a:t>complexe. Résumé </a:t>
            </a:r>
            <a:r>
              <a:rPr lang="fr-FR" dirty="0"/>
              <a:t>: au début de cette période, même un excellent latiniste cicéronien comme Bruni croyait que le latin dans l'Antiquité avait été, comme il l'était pour les modernes, une langue « artificielle », dotée de son propre ensemble idéalisé de règles uniformes. Pour Bruni, même à l'époque de Cicéron, il existait le latin d'un côté et un vernaculaire séparé de l'autre. À la fin du débat, et vers la fin du XVe siècle, presque tous ceux qui s'étaient penchés sur la question pensaient le contraire : le latin ancien avait été une langue naturelle avec un cycle de naissance, de croissance et de </a:t>
            </a:r>
            <a:r>
              <a:rPr lang="fr-FR" dirty="0" smtClean="0"/>
              <a:t>déclin.</a:t>
            </a:r>
          </a:p>
          <a:p>
            <a:pPr algn="just"/>
            <a:r>
              <a:rPr lang="fr-FR" dirty="0" smtClean="0"/>
              <a:t>Le </a:t>
            </a:r>
            <a:r>
              <a:rPr lang="fr-FR" dirty="0"/>
              <a:t>rassemblement de sources jusqu'alors peu étudiées pour l'examen de la langue latine concordait avec de nouvelles manières d'expliquer son histoire, sa fonction et sa place dans la société.</a:t>
            </a:r>
          </a:p>
        </p:txBody>
      </p:sp>
    </p:spTree>
    <p:extLst>
      <p:ext uri="{BB962C8B-B14F-4D97-AF65-F5344CB8AC3E}">
        <p14:creationId xmlns:p14="http://schemas.microsoft.com/office/powerpoint/2010/main" val="223776089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fr-FR" dirty="0" smtClean="0"/>
              <a:t>Petrus </a:t>
            </a:r>
            <a:r>
              <a:rPr lang="fr-FR" dirty="0" err="1" smtClean="0"/>
              <a:t>crinitus</a:t>
            </a:r>
            <a:r>
              <a:rPr lang="fr-FR" dirty="0" smtClean="0"/>
              <a:t/>
            </a:r>
            <a:br>
              <a:rPr lang="fr-FR" dirty="0" smtClean="0"/>
            </a:br>
            <a:r>
              <a:rPr lang="fr-FR" dirty="0" smtClean="0"/>
              <a:t>Souci de la chronologie</a:t>
            </a:r>
            <a:endParaRPr lang="fr-FR" dirty="0"/>
          </a:p>
        </p:txBody>
      </p:sp>
      <p:sp>
        <p:nvSpPr>
          <p:cNvPr id="3" name="Content Placeholder 2"/>
          <p:cNvSpPr>
            <a:spLocks noGrp="1"/>
          </p:cNvSpPr>
          <p:nvPr>
            <p:ph idx="1"/>
          </p:nvPr>
        </p:nvSpPr>
        <p:spPr>
          <a:xfrm>
            <a:off x="581192" y="2180496"/>
            <a:ext cx="11029615" cy="4202719"/>
          </a:xfrm>
        </p:spPr>
        <p:txBody>
          <a:bodyPr/>
          <a:lstStyle/>
          <a:p>
            <a:pPr algn="just"/>
            <a:r>
              <a:rPr lang="fr-FR" dirty="0"/>
              <a:t>La vision de </a:t>
            </a:r>
            <a:r>
              <a:rPr lang="fr-FR" dirty="0" err="1"/>
              <a:t>Crinitus</a:t>
            </a:r>
            <a:r>
              <a:rPr lang="fr-FR" dirty="0"/>
              <a:t> sur le progrès de la poésie latine ancienne reflète ces développements </a:t>
            </a:r>
            <a:r>
              <a:rPr lang="fr-FR" dirty="0" smtClean="0"/>
              <a:t>antérieurs.</a:t>
            </a:r>
          </a:p>
          <a:p>
            <a:pPr algn="just"/>
            <a:r>
              <a:rPr lang="fr-FR" dirty="0" smtClean="0"/>
              <a:t>Lettre </a:t>
            </a:r>
            <a:r>
              <a:rPr lang="fr-FR" dirty="0"/>
              <a:t>liminaire </a:t>
            </a:r>
            <a:r>
              <a:rPr lang="fr-FR" dirty="0" smtClean="0"/>
              <a:t>et les </a:t>
            </a:r>
            <a:r>
              <a:rPr lang="fr-FR" dirty="0"/>
              <a:t>préfaces individuelles </a:t>
            </a:r>
            <a:r>
              <a:rPr lang="fr-FR" dirty="0" smtClean="0"/>
              <a:t>des différents livres du </a:t>
            </a:r>
            <a:r>
              <a:rPr lang="fr-FR" i="1" dirty="0" smtClean="0"/>
              <a:t>De </a:t>
            </a:r>
            <a:r>
              <a:rPr lang="fr-FR" i="1" dirty="0" err="1" smtClean="0"/>
              <a:t>poetis</a:t>
            </a:r>
            <a:r>
              <a:rPr lang="fr-FR" i="1" dirty="0" smtClean="0"/>
              <a:t> </a:t>
            </a:r>
            <a:r>
              <a:rPr lang="fr-FR" i="1" dirty="0" err="1" smtClean="0"/>
              <a:t>latinis</a:t>
            </a:r>
            <a:r>
              <a:rPr lang="fr-FR" dirty="0" smtClean="0"/>
              <a:t> permettent d’évaluer </a:t>
            </a:r>
            <a:r>
              <a:rPr lang="fr-FR" dirty="0"/>
              <a:t>à la fois l'entreprise globale de </a:t>
            </a:r>
            <a:r>
              <a:rPr lang="fr-FR" dirty="0" err="1"/>
              <a:t>Crinitus</a:t>
            </a:r>
            <a:r>
              <a:rPr lang="fr-FR" dirty="0"/>
              <a:t> et ses théories concernant le développement de la poésie latine </a:t>
            </a:r>
            <a:r>
              <a:rPr lang="fr-FR" dirty="0" smtClean="0"/>
              <a:t>antique.</a:t>
            </a:r>
          </a:p>
          <a:p>
            <a:pPr algn="just"/>
            <a:r>
              <a:rPr lang="fr-FR" dirty="0" smtClean="0"/>
              <a:t>La </a:t>
            </a:r>
            <a:r>
              <a:rPr lang="fr-FR" dirty="0"/>
              <a:t>lettre </a:t>
            </a:r>
            <a:r>
              <a:rPr lang="fr-FR" dirty="0" err="1"/>
              <a:t>préfacielle</a:t>
            </a:r>
            <a:r>
              <a:rPr lang="fr-FR" dirty="0"/>
              <a:t> : après avoir souligné sa dette envers le </a:t>
            </a:r>
            <a:r>
              <a:rPr lang="fr-FR" i="1" dirty="0"/>
              <a:t>Sur les grammairiens et les rhéteurs</a:t>
            </a:r>
            <a:r>
              <a:rPr lang="fr-FR" dirty="0"/>
              <a:t> de Suétone, </a:t>
            </a:r>
            <a:r>
              <a:rPr lang="fr-FR" dirty="0" err="1"/>
              <a:t>Crinitus</a:t>
            </a:r>
            <a:r>
              <a:rPr lang="fr-FR" dirty="0"/>
              <a:t> fait un commentaire </a:t>
            </a:r>
            <a:r>
              <a:rPr lang="fr-FR" dirty="0" smtClean="0"/>
              <a:t>sur </a:t>
            </a:r>
            <a:r>
              <a:rPr lang="fr-FR" dirty="0"/>
              <a:t>la chronologie </a:t>
            </a:r>
            <a:r>
              <a:rPr lang="fr-FR" dirty="0" smtClean="0"/>
              <a:t>:</a:t>
            </a:r>
          </a:p>
          <a:p>
            <a:pPr marL="0" indent="0" algn="just">
              <a:buNone/>
            </a:pPr>
            <a:r>
              <a:rPr lang="fr-FR" dirty="0" smtClean="0"/>
              <a:t>« </a:t>
            </a:r>
            <a:r>
              <a:rPr lang="fr-FR" dirty="0"/>
              <a:t>Dans l'ensemble du projet, presque rien ne m'a causé plus de peine que ce qui a été transmis au sujet des époques des poètes, car les sources, pour la plupart, diffèrent grandement entre elles. </a:t>
            </a:r>
            <a:r>
              <a:rPr lang="fr-FR" dirty="0" smtClean="0"/>
              <a:t>»</a:t>
            </a:r>
          </a:p>
          <a:p>
            <a:pPr algn="just"/>
            <a:r>
              <a:rPr lang="fr-FR" dirty="0" smtClean="0"/>
              <a:t>Ce </a:t>
            </a:r>
            <a:r>
              <a:rPr lang="fr-FR" dirty="0"/>
              <a:t>souci de la chronologie est une constante qui a traversé toute la carrière de </a:t>
            </a:r>
            <a:r>
              <a:rPr lang="fr-FR" dirty="0" err="1"/>
              <a:t>Crinitus</a:t>
            </a:r>
            <a:r>
              <a:rPr lang="fr-FR" dirty="0"/>
              <a:t> </a:t>
            </a:r>
            <a:r>
              <a:rPr lang="fr-FR" dirty="0" smtClean="0"/>
              <a:t>(travaux sur la jeunesse de Sidoine par exemple en témoignent).</a:t>
            </a:r>
            <a:endParaRPr lang="fr-FR" dirty="0"/>
          </a:p>
        </p:txBody>
      </p:sp>
    </p:spTree>
    <p:extLst>
      <p:ext uri="{BB962C8B-B14F-4D97-AF65-F5344CB8AC3E}">
        <p14:creationId xmlns:p14="http://schemas.microsoft.com/office/powerpoint/2010/main" val="423244372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fr-FR" dirty="0" smtClean="0"/>
              <a:t>Petrus </a:t>
            </a:r>
            <a:r>
              <a:rPr lang="fr-FR" dirty="0" err="1" smtClean="0"/>
              <a:t>crinitus</a:t>
            </a:r>
            <a:r>
              <a:rPr lang="fr-FR" dirty="0" smtClean="0"/>
              <a:t/>
            </a:r>
            <a:br>
              <a:rPr lang="fr-FR" dirty="0" smtClean="0"/>
            </a:br>
            <a:r>
              <a:rPr lang="fr-FR" dirty="0" smtClean="0"/>
              <a:t>Intérêt pour le fait religieux</a:t>
            </a:r>
            <a:endParaRPr lang="fr-FR" dirty="0"/>
          </a:p>
        </p:txBody>
      </p:sp>
      <p:sp>
        <p:nvSpPr>
          <p:cNvPr id="3" name="Content Placeholder 2"/>
          <p:cNvSpPr>
            <a:spLocks noGrp="1"/>
          </p:cNvSpPr>
          <p:nvPr>
            <p:ph idx="1"/>
          </p:nvPr>
        </p:nvSpPr>
        <p:spPr>
          <a:xfrm>
            <a:off x="581192" y="1715956"/>
            <a:ext cx="11029615" cy="4667259"/>
          </a:xfrm>
        </p:spPr>
        <p:txBody>
          <a:bodyPr>
            <a:normAutofit fontScale="92500" lnSpcReduction="20000"/>
          </a:bodyPr>
          <a:lstStyle/>
          <a:p>
            <a:pPr algn="just"/>
            <a:r>
              <a:rPr lang="fr-FR" dirty="0"/>
              <a:t>La lettre liminaire </a:t>
            </a:r>
            <a:r>
              <a:rPr lang="fr-FR" dirty="0" smtClean="0"/>
              <a:t>montre aussi son </a:t>
            </a:r>
            <a:r>
              <a:rPr lang="fr-FR" dirty="0"/>
              <a:t>intérêt pour le rituel et la </a:t>
            </a:r>
            <a:r>
              <a:rPr lang="fr-FR" dirty="0" smtClean="0"/>
              <a:t>religion. Aussi dans </a:t>
            </a:r>
            <a:r>
              <a:rPr lang="fr-FR" dirty="0"/>
              <a:t>la préface du Livre I, </a:t>
            </a:r>
            <a:r>
              <a:rPr lang="fr-FR" dirty="0" smtClean="0"/>
              <a:t>commentaires </a:t>
            </a:r>
            <a:r>
              <a:rPr lang="fr-FR" dirty="0"/>
              <a:t>sur les origines de la poésie chez les </a:t>
            </a:r>
            <a:r>
              <a:rPr lang="fr-FR" dirty="0" smtClean="0"/>
              <a:t>Romains.</a:t>
            </a:r>
          </a:p>
          <a:p>
            <a:pPr algn="just"/>
            <a:r>
              <a:rPr lang="fr-FR" dirty="0" smtClean="0"/>
              <a:t>Au </a:t>
            </a:r>
            <a:r>
              <a:rPr lang="fr-FR" dirty="0"/>
              <a:t>début, les Romains étaient vertueux et « un citoyen romain était loué comme homme de bien dans la mesure où il était un bon agriculteur et un soldat vigoureux </a:t>
            </a:r>
            <a:r>
              <a:rPr lang="fr-FR" dirty="0" smtClean="0"/>
              <a:t>».  Environ </a:t>
            </a:r>
            <a:r>
              <a:rPr lang="fr-FR" dirty="0"/>
              <a:t>quatre cents ans après la fondation de la Ville, </a:t>
            </a:r>
            <a:r>
              <a:rPr lang="fr-FR" dirty="0" smtClean="0"/>
              <a:t>(paix et triomphes militaires), </a:t>
            </a:r>
            <a:r>
              <a:rPr lang="fr-FR" dirty="0" err="1" smtClean="0"/>
              <a:t>reflexion</a:t>
            </a:r>
            <a:r>
              <a:rPr lang="fr-FR" dirty="0" smtClean="0"/>
              <a:t> plus formelle sur </a:t>
            </a:r>
            <a:r>
              <a:rPr lang="fr-FR" dirty="0"/>
              <a:t>la </a:t>
            </a:r>
            <a:r>
              <a:rPr lang="fr-FR" dirty="0" smtClean="0"/>
              <a:t>poésie.</a:t>
            </a:r>
          </a:p>
          <a:p>
            <a:pPr algn="just"/>
            <a:r>
              <a:rPr lang="fr-FR" dirty="0" smtClean="0"/>
              <a:t>Art</a:t>
            </a:r>
            <a:r>
              <a:rPr lang="fr-FR" dirty="0"/>
              <a:t>, initialement méprisé comme une activité de </a:t>
            </a:r>
            <a:r>
              <a:rPr lang="fr-FR" i="1" dirty="0" err="1"/>
              <a:t>crassatores</a:t>
            </a:r>
            <a:r>
              <a:rPr lang="fr-FR" dirty="0"/>
              <a:t> (« lourdauds »), </a:t>
            </a:r>
            <a:r>
              <a:rPr lang="fr-FR" dirty="0" smtClean="0"/>
              <a:t>qui trouve sa </a:t>
            </a:r>
            <a:r>
              <a:rPr lang="fr-FR" dirty="0"/>
              <a:t>véritable origine dans le rituel et la cérémonie religieuse : « Même à l'époque où Numa </a:t>
            </a:r>
            <a:r>
              <a:rPr lang="fr-FR" dirty="0" err="1"/>
              <a:t>Pompilius</a:t>
            </a:r>
            <a:r>
              <a:rPr lang="fr-FR" dirty="0"/>
              <a:t> régnait et où les citoyens étaient armés, les "Chants des Saliens" furent créés, que les prêtres boucliers de Mars </a:t>
            </a:r>
            <a:r>
              <a:rPr lang="fr-FR" dirty="0" smtClean="0"/>
              <a:t>entonnaient </a:t>
            </a:r>
            <a:r>
              <a:rPr lang="fr-FR" dirty="0"/>
              <a:t>certains jours en dansant leur danse solennelle à trois sauts. » « Peu après », poursuit </a:t>
            </a:r>
            <a:r>
              <a:rPr lang="fr-FR" dirty="0" err="1"/>
              <a:t>Crinitus</a:t>
            </a:r>
            <a:r>
              <a:rPr lang="fr-FR" dirty="0"/>
              <a:t>, « certains chants et hymnes sacrificiels devinrent populaires », et les Romains s'habituèrent à transmettre les louanges des dieux et les prophéties en vers</a:t>
            </a:r>
            <a:r>
              <a:rPr lang="fr-FR" dirty="0" smtClean="0"/>
              <a:t>.</a:t>
            </a:r>
          </a:p>
          <a:p>
            <a:pPr algn="just"/>
            <a:r>
              <a:rPr lang="fr-FR" dirty="0" smtClean="0"/>
              <a:t>Lien </a:t>
            </a:r>
            <a:r>
              <a:rPr lang="fr-FR" dirty="0"/>
              <a:t>entre poésie et religion rappelle le </a:t>
            </a:r>
            <a:r>
              <a:rPr lang="fr-FR" i="1" dirty="0"/>
              <a:t>De </a:t>
            </a:r>
            <a:r>
              <a:rPr lang="fr-FR" i="1" dirty="0" err="1"/>
              <a:t>honesta</a:t>
            </a:r>
            <a:r>
              <a:rPr lang="fr-FR" i="1" dirty="0"/>
              <a:t> disciplina</a:t>
            </a:r>
            <a:r>
              <a:rPr lang="fr-FR" dirty="0"/>
              <a:t> de </a:t>
            </a:r>
            <a:r>
              <a:rPr lang="fr-FR" dirty="0" err="1"/>
              <a:t>Crinitus</a:t>
            </a:r>
            <a:r>
              <a:rPr lang="fr-FR" dirty="0"/>
              <a:t>, un recueil de mélanges à la fin duquel il présente ses excuses aux lecteurs. Il écrit qu'il veut que les gens comprennent qu'en rapportant autant de choses sur la religion des anciens sous tous ses aspects, il l'a fait pour servir la cause des humanités, et non pour approuver la </a:t>
            </a:r>
            <a:r>
              <a:rPr lang="fr-FR" dirty="0" smtClean="0"/>
              <a:t>superstition.</a:t>
            </a:r>
          </a:p>
          <a:p>
            <a:pPr algn="just"/>
            <a:r>
              <a:rPr lang="fr-FR" dirty="0" smtClean="0"/>
              <a:t>Intérêt </a:t>
            </a:r>
            <a:r>
              <a:rPr lang="fr-FR" dirty="0"/>
              <a:t>pour la pluralité des religions a servi de fondement puissant aux travaux de nombreux penseurs de la </a:t>
            </a:r>
            <a:r>
              <a:rPr lang="fr-FR" dirty="0" smtClean="0"/>
              <a:t>Renaissance:  dès </a:t>
            </a:r>
            <a:r>
              <a:rPr lang="fr-FR" dirty="0"/>
              <a:t>la </a:t>
            </a:r>
            <a:r>
              <a:rPr lang="fr-FR" i="1" dirty="0" err="1"/>
              <a:t>Genealogia</a:t>
            </a:r>
            <a:r>
              <a:rPr lang="fr-FR" i="1" dirty="0"/>
              <a:t> </a:t>
            </a:r>
            <a:r>
              <a:rPr lang="fr-FR" i="1" dirty="0" err="1"/>
              <a:t>deorum</a:t>
            </a:r>
            <a:r>
              <a:rPr lang="fr-FR" dirty="0"/>
              <a:t> de Boccace et jusqu'au </a:t>
            </a:r>
            <a:r>
              <a:rPr lang="fr-FR" i="1" dirty="0"/>
              <a:t>De </a:t>
            </a:r>
            <a:r>
              <a:rPr lang="fr-FR" i="1" dirty="0" err="1"/>
              <a:t>deis</a:t>
            </a:r>
            <a:r>
              <a:rPr lang="fr-FR" i="1" dirty="0"/>
              <a:t> </a:t>
            </a:r>
            <a:r>
              <a:rPr lang="fr-FR" i="1" dirty="0" err="1"/>
              <a:t>gentium</a:t>
            </a:r>
            <a:r>
              <a:rPr lang="fr-FR" dirty="0"/>
              <a:t> de </a:t>
            </a:r>
            <a:r>
              <a:rPr lang="fr-FR" dirty="0" err="1"/>
              <a:t>Lilio</a:t>
            </a:r>
            <a:r>
              <a:rPr lang="fr-FR" dirty="0"/>
              <a:t> Gregorio </a:t>
            </a:r>
            <a:r>
              <a:rPr lang="fr-FR" dirty="0" err="1"/>
              <a:t>Giraldi</a:t>
            </a:r>
            <a:r>
              <a:rPr lang="fr-FR" dirty="0"/>
              <a:t> au milieu du XVIe siècle </a:t>
            </a:r>
            <a:r>
              <a:rPr lang="fr-FR" dirty="0" smtClean="0"/>
              <a:t>(sous-produit </a:t>
            </a:r>
            <a:r>
              <a:rPr lang="fr-FR" dirty="0"/>
              <a:t>de l'intérêt pour la littérature antique et un moyen de comprendre la culture ancienne </a:t>
            </a:r>
            <a:r>
              <a:rPr lang="fr-FR" dirty="0" smtClean="0"/>
              <a:t>plus globalement).</a:t>
            </a:r>
            <a:endParaRPr lang="fr-FR" dirty="0"/>
          </a:p>
        </p:txBody>
      </p:sp>
    </p:spTree>
    <p:extLst>
      <p:ext uri="{BB962C8B-B14F-4D97-AF65-F5344CB8AC3E}">
        <p14:creationId xmlns:p14="http://schemas.microsoft.com/office/powerpoint/2010/main" val="79915126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fr-FR" dirty="0" smtClean="0"/>
              <a:t>Petrus </a:t>
            </a:r>
            <a:r>
              <a:rPr lang="fr-FR" dirty="0" err="1" smtClean="0"/>
              <a:t>crinitus</a:t>
            </a:r>
            <a:r>
              <a:rPr lang="fr-FR" dirty="0" smtClean="0"/>
              <a:t/>
            </a:r>
            <a:br>
              <a:rPr lang="fr-FR" dirty="0" smtClean="0"/>
            </a:br>
            <a:r>
              <a:rPr lang="fr-FR" dirty="0" smtClean="0"/>
              <a:t>Littérature et politique</a:t>
            </a:r>
            <a:endParaRPr lang="fr-FR" dirty="0"/>
          </a:p>
        </p:txBody>
      </p:sp>
      <p:sp>
        <p:nvSpPr>
          <p:cNvPr id="3" name="Content Placeholder 2"/>
          <p:cNvSpPr>
            <a:spLocks noGrp="1"/>
          </p:cNvSpPr>
          <p:nvPr>
            <p:ph idx="1"/>
          </p:nvPr>
        </p:nvSpPr>
        <p:spPr>
          <a:xfrm>
            <a:off x="581192" y="1715956"/>
            <a:ext cx="11029615" cy="4667259"/>
          </a:xfrm>
        </p:spPr>
        <p:txBody>
          <a:bodyPr>
            <a:normAutofit/>
          </a:bodyPr>
          <a:lstStyle/>
          <a:p>
            <a:pPr algn="just"/>
            <a:r>
              <a:rPr lang="fr-FR" dirty="0" smtClean="0"/>
              <a:t>Vision </a:t>
            </a:r>
            <a:r>
              <a:rPr lang="fr-FR" dirty="0"/>
              <a:t>de </a:t>
            </a:r>
            <a:r>
              <a:rPr lang="fr-FR" dirty="0" err="1" smtClean="0"/>
              <a:t>Crinitus</a:t>
            </a:r>
            <a:r>
              <a:rPr lang="fr-FR" dirty="0"/>
              <a:t> </a:t>
            </a:r>
            <a:r>
              <a:rPr lang="fr-FR" dirty="0" smtClean="0"/>
              <a:t>(et d’autres) </a:t>
            </a:r>
            <a:r>
              <a:rPr lang="fr-FR" dirty="0"/>
              <a:t>concernant la poésie et la littérature : elle fleurit lorsque le bon type de pouvoir politique est en </a:t>
            </a:r>
            <a:r>
              <a:rPr lang="fr-FR" dirty="0" smtClean="0"/>
              <a:t>place.</a:t>
            </a:r>
          </a:p>
          <a:p>
            <a:pPr algn="just"/>
            <a:r>
              <a:rPr lang="fr-FR" dirty="0" smtClean="0"/>
              <a:t>Livre II, de </a:t>
            </a:r>
            <a:r>
              <a:rPr lang="fr-FR" dirty="0"/>
              <a:t>Lucrèce à l'époque précédant immédiatement </a:t>
            </a:r>
            <a:r>
              <a:rPr lang="fr-FR" dirty="0" smtClean="0"/>
              <a:t>Virgile. Préface montre que </a:t>
            </a:r>
            <a:r>
              <a:rPr lang="fr-FR" dirty="0" err="1"/>
              <a:t>Crinitus</a:t>
            </a:r>
            <a:r>
              <a:rPr lang="fr-FR" dirty="0"/>
              <a:t> voit cette époque comme une période préliminaire du mariage entre le pouvoir et la littérature. Pourtant, « il est incroyable, une fois que le pouvoir s'accrut et que la prospérité fut atteinte, de voir avec quelle rapidité la ville elle-même devint experte dans chaque branche du savoir </a:t>
            </a:r>
            <a:r>
              <a:rPr lang="fr-FR" dirty="0" smtClean="0"/>
              <a:t>» (</a:t>
            </a:r>
            <a:r>
              <a:rPr lang="fr-FR" dirty="0" err="1" smtClean="0"/>
              <a:t>Crinitus</a:t>
            </a:r>
            <a:r>
              <a:rPr lang="fr-FR" dirty="0" smtClean="0"/>
              <a:t>).</a:t>
            </a:r>
          </a:p>
          <a:p>
            <a:pPr algn="just"/>
            <a:r>
              <a:rPr lang="fr-FR" dirty="0" smtClean="0"/>
              <a:t>Livre III, la </a:t>
            </a:r>
            <a:r>
              <a:rPr lang="fr-FR" dirty="0"/>
              <a:t>période où « toutes les nobles branches du savoir atteignirent leur apogée, en même temps que la puissance de Rome ». </a:t>
            </a:r>
            <a:r>
              <a:rPr lang="fr-FR" dirty="0" err="1"/>
              <a:t>Crinitus</a:t>
            </a:r>
            <a:r>
              <a:rPr lang="fr-FR" dirty="0"/>
              <a:t> </a:t>
            </a:r>
            <a:r>
              <a:rPr lang="fr-FR" dirty="0" smtClean="0"/>
              <a:t>: </a:t>
            </a:r>
            <a:r>
              <a:rPr lang="fr-FR" dirty="0"/>
              <a:t>« Pour autant que ce sujet soit concerné, quand je réfléchis à la condition des mortels, je crois qu'il importe beaucoup, dans les affaires humaines, de savoir à quelle époque les hommes vivent et surtout dans quelles communautés ils passent leur vie. Car lorsqu'Auguste régnait, il semble évident que les choses se sont déroulées de manière si favorable et si heureuse pour le genre humain que personne ne pourrait douter que le pouvoir fut exercé tout au long de cette période avec la plus grande guidance et le plus grand conseil, et que toutes les branches de l'érudition brillèrent au plus haut degré à Rome</a:t>
            </a:r>
            <a:r>
              <a:rPr lang="fr-FR" dirty="0" smtClean="0"/>
              <a:t>. »</a:t>
            </a:r>
            <a:endParaRPr lang="fr-FR" dirty="0"/>
          </a:p>
        </p:txBody>
      </p:sp>
    </p:spTree>
    <p:extLst>
      <p:ext uri="{BB962C8B-B14F-4D97-AF65-F5344CB8AC3E}">
        <p14:creationId xmlns:p14="http://schemas.microsoft.com/office/powerpoint/2010/main" val="148535955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fr-FR" dirty="0" smtClean="0"/>
              <a:t>Petrus </a:t>
            </a:r>
            <a:r>
              <a:rPr lang="fr-FR" dirty="0" err="1" smtClean="0"/>
              <a:t>crinitus</a:t>
            </a:r>
            <a:r>
              <a:rPr lang="fr-FR" dirty="0" smtClean="0"/>
              <a:t/>
            </a:r>
            <a:br>
              <a:rPr lang="fr-FR" dirty="0" smtClean="0"/>
            </a:br>
            <a:r>
              <a:rPr lang="fr-FR" dirty="0" smtClean="0"/>
              <a:t>Littérature et politique</a:t>
            </a:r>
            <a:endParaRPr lang="fr-FR" dirty="0"/>
          </a:p>
        </p:txBody>
      </p:sp>
      <p:sp>
        <p:nvSpPr>
          <p:cNvPr id="3" name="Content Placeholder 2"/>
          <p:cNvSpPr>
            <a:spLocks noGrp="1"/>
          </p:cNvSpPr>
          <p:nvPr>
            <p:ph idx="1"/>
          </p:nvPr>
        </p:nvSpPr>
        <p:spPr>
          <a:xfrm>
            <a:off x="581192" y="1715956"/>
            <a:ext cx="11029615" cy="4667259"/>
          </a:xfrm>
        </p:spPr>
        <p:txBody>
          <a:bodyPr>
            <a:normAutofit/>
          </a:bodyPr>
          <a:lstStyle/>
          <a:p>
            <a:pPr algn="just"/>
            <a:r>
              <a:rPr lang="fr-FR" dirty="0" smtClean="0"/>
              <a:t>Seulement </a:t>
            </a:r>
            <a:r>
              <a:rPr lang="fr-FR" dirty="0"/>
              <a:t>sous le règne d'Auguste que les conditions </a:t>
            </a:r>
            <a:r>
              <a:rPr lang="fr-FR" dirty="0" smtClean="0"/>
              <a:t>parfaites </a:t>
            </a:r>
            <a:r>
              <a:rPr lang="fr-FR" dirty="0" err="1" smtClean="0"/>
              <a:t>son</a:t>
            </a:r>
            <a:r>
              <a:rPr lang="fr-FR" dirty="0" smtClean="0"/>
              <a:t> réunies pour </a:t>
            </a:r>
            <a:r>
              <a:rPr lang="fr-FR" dirty="0"/>
              <a:t>un véritable épanouissement de la littérature et du </a:t>
            </a:r>
            <a:r>
              <a:rPr lang="fr-FR" dirty="0" smtClean="0"/>
              <a:t>savoir &gt; pouvoir </a:t>
            </a:r>
            <a:r>
              <a:rPr lang="fr-FR" dirty="0"/>
              <a:t>politique et </a:t>
            </a:r>
            <a:r>
              <a:rPr lang="fr-FR" dirty="0" smtClean="0"/>
              <a:t>domination </a:t>
            </a:r>
            <a:r>
              <a:rPr lang="fr-FR" dirty="0"/>
              <a:t>romaine </a:t>
            </a:r>
            <a:r>
              <a:rPr lang="fr-FR" dirty="0" smtClean="0"/>
              <a:t>créent </a:t>
            </a:r>
            <a:r>
              <a:rPr lang="fr-FR" dirty="0"/>
              <a:t>l'environnement propice au progrès </a:t>
            </a:r>
            <a:r>
              <a:rPr lang="fr-FR" dirty="0" smtClean="0"/>
              <a:t>culturel. Chez </a:t>
            </a:r>
            <a:r>
              <a:rPr lang="fr-FR" dirty="0" err="1" smtClean="0"/>
              <a:t>Crinitus</a:t>
            </a:r>
            <a:r>
              <a:rPr lang="fr-FR" dirty="0" smtClean="0"/>
              <a:t> </a:t>
            </a:r>
            <a:r>
              <a:rPr lang="fr-FR" dirty="0"/>
              <a:t>: « Quand le pouvoir romain était fort, les esprits les plus célèbres de la Ville étaient exceptionnels, et ce non seulement en poésie, mais aussi dans toutes les autres branches du savoir que l'on considère habituellement comme appartenant aux arts libéraux. </a:t>
            </a:r>
            <a:r>
              <a:rPr lang="fr-FR" dirty="0" smtClean="0"/>
              <a:t>»</a:t>
            </a:r>
          </a:p>
          <a:p>
            <a:pPr algn="just"/>
            <a:r>
              <a:rPr lang="fr-FR" dirty="0" smtClean="0"/>
              <a:t>Ensuite</a:t>
            </a:r>
            <a:r>
              <a:rPr lang="fr-FR" dirty="0"/>
              <a:t>, </a:t>
            </a:r>
            <a:r>
              <a:rPr lang="fr-FR" dirty="0" smtClean="0"/>
              <a:t>vice augmente à cause d’un désir </a:t>
            </a:r>
            <a:r>
              <a:rPr lang="fr-FR" dirty="0"/>
              <a:t>immodéré pour le luxe et une ambition de </a:t>
            </a:r>
            <a:r>
              <a:rPr lang="fr-FR" dirty="0" smtClean="0"/>
              <a:t>régner.</a:t>
            </a:r>
          </a:p>
          <a:p>
            <a:pPr algn="just"/>
            <a:r>
              <a:rPr lang="fr-FR" dirty="0" smtClean="0"/>
              <a:t>Partage </a:t>
            </a:r>
            <a:r>
              <a:rPr lang="fr-FR" dirty="0"/>
              <a:t>une perspective manifestée dans l'historiographie de la Renaissance, de Leonardo Bruni à Machiavel : les cités, Florence incluse, manifestent des moments de déclin lorsque les habitants s'enfoncent dans le désir de luxe ; les symptômes incluent la faiblesse et la vulnérabilité à l'invasion, accompagnées d'une décadence </a:t>
            </a:r>
            <a:r>
              <a:rPr lang="fr-FR" dirty="0" smtClean="0"/>
              <a:t>culturelle.</a:t>
            </a:r>
          </a:p>
          <a:p>
            <a:pPr algn="just"/>
            <a:r>
              <a:rPr lang="fr-FR" dirty="0" smtClean="0"/>
              <a:t>Au </a:t>
            </a:r>
            <a:r>
              <a:rPr lang="fr-FR" dirty="0"/>
              <a:t>début du </a:t>
            </a:r>
            <a:r>
              <a:rPr lang="fr-FR" i="1" dirty="0"/>
              <a:t>De </a:t>
            </a:r>
            <a:r>
              <a:rPr lang="fr-FR" i="1" dirty="0" err="1"/>
              <a:t>poetis</a:t>
            </a:r>
            <a:r>
              <a:rPr lang="fr-FR" i="1" dirty="0"/>
              <a:t> </a:t>
            </a:r>
            <a:r>
              <a:rPr lang="fr-FR" i="1" dirty="0" err="1"/>
              <a:t>latinis</a:t>
            </a:r>
            <a:r>
              <a:rPr lang="fr-FR" dirty="0"/>
              <a:t>, dans sa lettre </a:t>
            </a:r>
            <a:r>
              <a:rPr lang="fr-FR" dirty="0" err="1"/>
              <a:t>préfacielle</a:t>
            </a:r>
            <a:r>
              <a:rPr lang="fr-FR" dirty="0"/>
              <a:t> initiale, </a:t>
            </a:r>
            <a:r>
              <a:rPr lang="fr-FR" dirty="0" err="1"/>
              <a:t>Crinitus</a:t>
            </a:r>
            <a:r>
              <a:rPr lang="fr-FR" dirty="0"/>
              <a:t> avait inclus un éloge de Laurent de Médicis et de son mécénat culturel :</a:t>
            </a:r>
          </a:p>
        </p:txBody>
      </p:sp>
    </p:spTree>
    <p:extLst>
      <p:ext uri="{BB962C8B-B14F-4D97-AF65-F5344CB8AC3E}">
        <p14:creationId xmlns:p14="http://schemas.microsoft.com/office/powerpoint/2010/main" val="237818476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fr-FR" dirty="0" smtClean="0"/>
              <a:t>Petrus </a:t>
            </a:r>
            <a:r>
              <a:rPr lang="fr-FR" dirty="0" err="1" smtClean="0"/>
              <a:t>crinitus</a:t>
            </a:r>
            <a:r>
              <a:rPr lang="fr-FR" dirty="0" smtClean="0"/>
              <a:t/>
            </a:r>
            <a:br>
              <a:rPr lang="fr-FR" dirty="0" smtClean="0"/>
            </a:br>
            <a:r>
              <a:rPr lang="fr-FR" dirty="0" smtClean="0"/>
              <a:t>Littérature et politique</a:t>
            </a:r>
            <a:endParaRPr lang="fr-FR" dirty="0"/>
          </a:p>
        </p:txBody>
      </p:sp>
      <p:sp>
        <p:nvSpPr>
          <p:cNvPr id="3" name="Content Placeholder 2"/>
          <p:cNvSpPr>
            <a:spLocks noGrp="1"/>
          </p:cNvSpPr>
          <p:nvPr>
            <p:ph idx="1"/>
          </p:nvPr>
        </p:nvSpPr>
        <p:spPr>
          <a:xfrm>
            <a:off x="581192" y="1715956"/>
            <a:ext cx="11029615" cy="4667259"/>
          </a:xfrm>
        </p:spPr>
        <p:txBody>
          <a:bodyPr>
            <a:normAutofit/>
          </a:bodyPr>
          <a:lstStyle/>
          <a:p>
            <a:pPr algn="just"/>
            <a:r>
              <a:rPr lang="fr-FR" dirty="0" smtClean="0"/>
              <a:t>Au </a:t>
            </a:r>
            <a:r>
              <a:rPr lang="fr-FR" dirty="0"/>
              <a:t>début du </a:t>
            </a:r>
            <a:r>
              <a:rPr lang="fr-FR" i="1" dirty="0"/>
              <a:t>De </a:t>
            </a:r>
            <a:r>
              <a:rPr lang="fr-FR" i="1" dirty="0" err="1"/>
              <a:t>poetis</a:t>
            </a:r>
            <a:r>
              <a:rPr lang="fr-FR" i="1" dirty="0"/>
              <a:t> </a:t>
            </a:r>
            <a:r>
              <a:rPr lang="fr-FR" i="1" dirty="0" err="1"/>
              <a:t>latinis</a:t>
            </a:r>
            <a:r>
              <a:rPr lang="fr-FR" dirty="0"/>
              <a:t>, dans sa lettre </a:t>
            </a:r>
            <a:r>
              <a:rPr lang="fr-FR" dirty="0" err="1"/>
              <a:t>préfacielle</a:t>
            </a:r>
            <a:r>
              <a:rPr lang="fr-FR" dirty="0"/>
              <a:t> initiale, </a:t>
            </a:r>
            <a:r>
              <a:rPr lang="fr-FR" dirty="0" err="1"/>
              <a:t>Crinitus</a:t>
            </a:r>
            <a:r>
              <a:rPr lang="fr-FR" dirty="0"/>
              <a:t> avait inclus un éloge de Laurent de Médicis et de son mécénat </a:t>
            </a:r>
            <a:r>
              <a:rPr lang="fr-FR" dirty="0" smtClean="0"/>
              <a:t>culturel. Chez </a:t>
            </a:r>
            <a:r>
              <a:rPr lang="fr-FR" dirty="0" err="1" smtClean="0"/>
              <a:t>Crinitus</a:t>
            </a:r>
            <a:r>
              <a:rPr lang="fr-FR" dirty="0"/>
              <a:t> : «  Jadis, on dit à Laurent de Médicis... qu'il y avait dans sa ville certains hommes qui se distinguaient par leur intelligence reconnue et leur érudition exceptionnelle. En apprenant cela, sa première émotion fut une joie incroyable. Puis, leur promettant beaucoup et par des actions aussi célèbres que généreuses, il fit en sorte que ceux qui semblaient méritants en raison de leurs études puissent, avec toujours plus d'énergie et d'ardeur, rester ouverts à la possibilité de poursuivre et de cultiver le plus haut savoir</a:t>
            </a:r>
            <a:r>
              <a:rPr lang="fr-FR" dirty="0" smtClean="0"/>
              <a:t>. »</a:t>
            </a:r>
          </a:p>
          <a:p>
            <a:pPr algn="just"/>
            <a:r>
              <a:rPr lang="fr-FR" dirty="0" smtClean="0"/>
              <a:t>Culte croissant </a:t>
            </a:r>
            <a:r>
              <a:rPr lang="fr-FR" dirty="0"/>
              <a:t>pour l'époque laurentienne dans la Florence de la première décennie du XVIe </a:t>
            </a:r>
            <a:r>
              <a:rPr lang="fr-FR" dirty="0" smtClean="0"/>
              <a:t>siècle. Hypothèse que </a:t>
            </a:r>
            <a:r>
              <a:rPr lang="fr-FR" dirty="0" err="1" smtClean="0"/>
              <a:t>Crinitus</a:t>
            </a:r>
            <a:r>
              <a:rPr lang="fr-FR" dirty="0" smtClean="0"/>
              <a:t> voit pour Laurent à </a:t>
            </a:r>
            <a:r>
              <a:rPr lang="fr-FR" dirty="0"/>
              <a:t>Florence une fonction similaire à celle d'Auguste à</a:t>
            </a:r>
            <a:r>
              <a:rPr lang="fr-FR" dirty="0" smtClean="0"/>
              <a:t> </a:t>
            </a:r>
            <a:r>
              <a:rPr lang="fr-FR" dirty="0"/>
              <a:t>Rome. </a:t>
            </a:r>
            <a:endParaRPr lang="fr-FR" dirty="0" smtClean="0"/>
          </a:p>
        </p:txBody>
      </p:sp>
    </p:spTree>
    <p:extLst>
      <p:ext uri="{BB962C8B-B14F-4D97-AF65-F5344CB8AC3E}">
        <p14:creationId xmlns:p14="http://schemas.microsoft.com/office/powerpoint/2010/main" val="50736921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fr-FR" dirty="0" smtClean="0"/>
              <a:t>Petrus </a:t>
            </a:r>
            <a:r>
              <a:rPr lang="fr-FR" dirty="0" err="1" smtClean="0"/>
              <a:t>crinitus</a:t>
            </a:r>
            <a:r>
              <a:rPr lang="fr-FR" dirty="0" smtClean="0"/>
              <a:t/>
            </a:r>
            <a:br>
              <a:rPr lang="fr-FR" dirty="0" smtClean="0"/>
            </a:br>
            <a:r>
              <a:rPr lang="fr-FR" dirty="0" smtClean="0"/>
              <a:t>Littérature et politique</a:t>
            </a:r>
            <a:endParaRPr lang="fr-FR" dirty="0"/>
          </a:p>
        </p:txBody>
      </p:sp>
      <p:sp>
        <p:nvSpPr>
          <p:cNvPr id="3" name="Content Placeholder 2"/>
          <p:cNvSpPr>
            <a:spLocks noGrp="1"/>
          </p:cNvSpPr>
          <p:nvPr>
            <p:ph idx="1"/>
          </p:nvPr>
        </p:nvSpPr>
        <p:spPr>
          <a:xfrm>
            <a:off x="581192" y="1715956"/>
            <a:ext cx="11029615" cy="4667259"/>
          </a:xfrm>
        </p:spPr>
        <p:txBody>
          <a:bodyPr>
            <a:normAutofit lnSpcReduction="10000"/>
          </a:bodyPr>
          <a:lstStyle/>
          <a:p>
            <a:pPr algn="just"/>
            <a:r>
              <a:rPr lang="fr-FR" dirty="0" smtClean="0"/>
              <a:t>Pour </a:t>
            </a:r>
            <a:r>
              <a:rPr lang="fr-FR" dirty="0" err="1" smtClean="0"/>
              <a:t>Crinitus</a:t>
            </a:r>
            <a:r>
              <a:rPr lang="fr-FR" dirty="0" smtClean="0"/>
              <a:t> (comme pour Bruni et Machiavel, d'ailleurs), l'opposition conceptuelle entre la « République » et l'« Empire » romains était moins puissante que l'opposition entre un « pouvoir » efficace (quelle que </a:t>
            </a:r>
            <a:r>
              <a:rPr lang="fr-FR" dirty="0"/>
              <a:t>soit sa structure gouvernementale) et la décadence. </a:t>
            </a:r>
            <a:endParaRPr lang="fr-FR" dirty="0" smtClean="0"/>
          </a:p>
          <a:p>
            <a:pPr algn="just"/>
            <a:r>
              <a:rPr lang="fr-FR" dirty="0" smtClean="0"/>
              <a:t>Sommet de la vie littéraire romaine </a:t>
            </a:r>
            <a:r>
              <a:rPr lang="fr-FR" dirty="0"/>
              <a:t>sous le règne </a:t>
            </a:r>
            <a:r>
              <a:rPr lang="fr-FR" dirty="0" smtClean="0"/>
              <a:t>d'Auguste.</a:t>
            </a:r>
          </a:p>
          <a:p>
            <a:pPr algn="just"/>
            <a:r>
              <a:rPr lang="fr-FR" dirty="0" err="1"/>
              <a:t>Crinitus</a:t>
            </a:r>
            <a:r>
              <a:rPr lang="fr-FR" dirty="0"/>
              <a:t>, dans la préface du livre quatre, indique qu'il a désormais déjà traité ceux qui « remplirent le devoir de poète avec la plus haute élégance et un savoir à la hauteur de la tâche </a:t>
            </a:r>
            <a:r>
              <a:rPr lang="fr-FR" dirty="0" smtClean="0"/>
              <a:t>».</a:t>
            </a:r>
          </a:p>
          <a:p>
            <a:pPr algn="just"/>
            <a:r>
              <a:rPr lang="fr-FR" dirty="0" smtClean="0"/>
              <a:t>Le </a:t>
            </a:r>
            <a:r>
              <a:rPr lang="fr-FR" dirty="0"/>
              <a:t>livre quatre commence par Stace et </a:t>
            </a:r>
            <a:r>
              <a:rPr lang="fr-FR" dirty="0" smtClean="0"/>
              <a:t>Juvénal.</a:t>
            </a:r>
          </a:p>
          <a:p>
            <a:pPr algn="just"/>
            <a:r>
              <a:rPr lang="fr-FR" dirty="0" smtClean="0"/>
              <a:t>Dans </a:t>
            </a:r>
            <a:r>
              <a:rPr lang="fr-FR" dirty="0"/>
              <a:t>la préface du livre cinq, </a:t>
            </a:r>
            <a:r>
              <a:rPr lang="fr-FR" dirty="0" smtClean="0"/>
              <a:t>déclin au sujet duquel </a:t>
            </a:r>
            <a:r>
              <a:rPr lang="fr-FR" dirty="0" err="1" smtClean="0"/>
              <a:t>Crinitus</a:t>
            </a:r>
            <a:r>
              <a:rPr lang="fr-FR" dirty="0" smtClean="0"/>
              <a:t> écrit : </a:t>
            </a:r>
            <a:r>
              <a:rPr lang="fr-FR" dirty="0"/>
              <a:t>« il me reste à traiter des poètes qui vécurent de l'époque des Antonins jusqu'aux empereurs Théodose et Constance, bien qu'il ne m'ait pas semblé faire partie de mon projet d'écrire sur chacun d'entre eux, une fois que la grandeur de l'Empire avait décliné et que les arts libéraux avaient été abandonnés ». Et plus loin : </a:t>
            </a:r>
            <a:r>
              <a:rPr lang="fr-FR" dirty="0" smtClean="0"/>
              <a:t>« Je </a:t>
            </a:r>
            <a:r>
              <a:rPr lang="fr-FR" dirty="0"/>
              <a:t>dois donc demander pardon aux savants, s'ils observent, en lisant le livre suivant, que j'inclus des poètes qui, en vérité, peuvent être considérés comme un peu maladroits et inélégants, tels que </a:t>
            </a:r>
            <a:r>
              <a:rPr lang="fr-FR" dirty="0" err="1"/>
              <a:t>Juvencus</a:t>
            </a:r>
            <a:r>
              <a:rPr lang="fr-FR" dirty="0"/>
              <a:t>, </a:t>
            </a:r>
            <a:r>
              <a:rPr lang="fr-FR" dirty="0" err="1"/>
              <a:t>Fortunatus</a:t>
            </a:r>
            <a:r>
              <a:rPr lang="fr-FR" dirty="0"/>
              <a:t>, et d'autres de cette sorte. En traitant d'eux, j'ai essayé de me conduire avec un sens de la mesure approprié</a:t>
            </a:r>
            <a:r>
              <a:rPr lang="fr-FR" dirty="0" smtClean="0"/>
              <a:t>. » </a:t>
            </a:r>
            <a:r>
              <a:rPr lang="fr-FR" dirty="0"/>
              <a:t>Fin sur une note optimiste : la poésie a été quelque peu restaurée (œuvre de Pontano et </a:t>
            </a:r>
            <a:r>
              <a:rPr lang="fr-FR" dirty="0" err="1"/>
              <a:t>Marullus</a:t>
            </a:r>
            <a:r>
              <a:rPr lang="fr-FR" dirty="0" smtClean="0"/>
              <a:t>).</a:t>
            </a:r>
            <a:endParaRPr lang="fr-FR" dirty="0"/>
          </a:p>
        </p:txBody>
      </p:sp>
    </p:spTree>
    <p:extLst>
      <p:ext uri="{BB962C8B-B14F-4D97-AF65-F5344CB8AC3E}">
        <p14:creationId xmlns:p14="http://schemas.microsoft.com/office/powerpoint/2010/main" val="343606488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fr-FR" dirty="0" smtClean="0"/>
              <a:t>Petrus </a:t>
            </a:r>
            <a:r>
              <a:rPr lang="fr-FR" dirty="0" err="1" smtClean="0"/>
              <a:t>crinitus</a:t>
            </a:r>
            <a:r>
              <a:rPr lang="fr-FR" dirty="0" smtClean="0"/>
              <a:t/>
            </a:r>
            <a:br>
              <a:rPr lang="fr-FR" dirty="0" smtClean="0"/>
            </a:br>
            <a:r>
              <a:rPr lang="fr-FR" dirty="0" smtClean="0"/>
              <a:t>Les poètes</a:t>
            </a:r>
            <a:endParaRPr lang="fr-FR" dirty="0"/>
          </a:p>
        </p:txBody>
      </p:sp>
      <p:sp>
        <p:nvSpPr>
          <p:cNvPr id="3" name="Content Placeholder 2"/>
          <p:cNvSpPr>
            <a:spLocks noGrp="1"/>
          </p:cNvSpPr>
          <p:nvPr>
            <p:ph idx="1"/>
          </p:nvPr>
        </p:nvSpPr>
        <p:spPr>
          <a:xfrm>
            <a:off x="581192" y="1715956"/>
            <a:ext cx="11029615" cy="4667259"/>
          </a:xfrm>
        </p:spPr>
        <p:txBody>
          <a:bodyPr>
            <a:normAutofit/>
          </a:bodyPr>
          <a:lstStyle/>
          <a:p>
            <a:pPr algn="just"/>
            <a:r>
              <a:rPr lang="fr-FR" dirty="0" smtClean="0"/>
              <a:t>Lorsqu'il </a:t>
            </a:r>
            <a:r>
              <a:rPr lang="fr-FR" dirty="0"/>
              <a:t>en vient aux récits sur les poètes eux-mêmes, </a:t>
            </a:r>
            <a:r>
              <a:rPr lang="fr-FR" dirty="0" err="1"/>
              <a:t>Crinitus</a:t>
            </a:r>
            <a:r>
              <a:rPr lang="fr-FR" dirty="0"/>
              <a:t> suit un modèle strict dont les paramètres de base sont la biographie et la </a:t>
            </a:r>
            <a:r>
              <a:rPr lang="fr-FR" dirty="0" smtClean="0"/>
              <a:t>chronologie (pas de répartition par genre, contrairement à ce que l’on trouvera chez </a:t>
            </a:r>
            <a:r>
              <a:rPr lang="fr-FR" dirty="0" err="1" smtClean="0"/>
              <a:t>Giraldi</a:t>
            </a:r>
            <a:r>
              <a:rPr lang="fr-FR" dirty="0" smtClean="0"/>
              <a:t> plus tard). Permet de mieux traiter les polygraphes notamment.</a:t>
            </a:r>
          </a:p>
          <a:p>
            <a:pPr algn="just"/>
            <a:r>
              <a:rPr lang="fr-FR" dirty="0" err="1" smtClean="0"/>
              <a:t>Crinitus</a:t>
            </a:r>
            <a:r>
              <a:rPr lang="fr-FR" dirty="0" smtClean="0"/>
              <a:t> </a:t>
            </a:r>
            <a:r>
              <a:rPr lang="fr-FR" dirty="0"/>
              <a:t>propose le nom de l'auteur, ses origines régionales et quelques détails de sa vie, en situant l'auteur dans son contexte chronologique par la mention du ou des consuls régnants ainsi que des contemporains célèbres dans le monde de </a:t>
            </a:r>
            <a:r>
              <a:rPr lang="fr-FR" dirty="0" smtClean="0"/>
              <a:t>l'éloquence. Il </a:t>
            </a:r>
            <a:r>
              <a:rPr lang="fr-FR" dirty="0"/>
              <a:t>discute ensuite des œuvres connues de </a:t>
            </a:r>
            <a:r>
              <a:rPr lang="fr-FR" dirty="0" smtClean="0"/>
              <a:t>l'auteur.</a:t>
            </a:r>
          </a:p>
          <a:p>
            <a:pPr algn="just"/>
            <a:r>
              <a:rPr lang="fr-FR" dirty="0" smtClean="0"/>
              <a:t>Le </a:t>
            </a:r>
            <a:r>
              <a:rPr lang="fr-FR" i="1" dirty="0" smtClean="0"/>
              <a:t>De </a:t>
            </a:r>
            <a:r>
              <a:rPr lang="fr-FR" i="1" dirty="0" err="1"/>
              <a:t>poetis</a:t>
            </a:r>
            <a:r>
              <a:rPr lang="fr-FR" i="1" dirty="0"/>
              <a:t> </a:t>
            </a:r>
            <a:r>
              <a:rPr lang="fr-FR" i="1" dirty="0" err="1"/>
              <a:t>latinis</a:t>
            </a:r>
            <a:r>
              <a:rPr lang="fr-FR" dirty="0"/>
              <a:t> de </a:t>
            </a:r>
            <a:r>
              <a:rPr lang="fr-FR" dirty="0" err="1"/>
              <a:t>Crinitus</a:t>
            </a:r>
            <a:r>
              <a:rPr lang="fr-FR" dirty="0"/>
              <a:t> offre une préfiguration intéressante de l'esthétique littéraire. </a:t>
            </a:r>
            <a:r>
              <a:rPr lang="fr-FR" dirty="0" smtClean="0"/>
              <a:t>Utilise omniprésente de mots comme </a:t>
            </a:r>
            <a:r>
              <a:rPr lang="fr-FR" i="1" dirty="0" err="1"/>
              <a:t>ingenium</a:t>
            </a:r>
            <a:r>
              <a:rPr lang="fr-FR" dirty="0"/>
              <a:t> (qui signifie généralement quelque chose comme « talents » ou « dons spécifiques distinctifs ») et </a:t>
            </a:r>
            <a:r>
              <a:rPr lang="fr-FR" i="1" dirty="0"/>
              <a:t>elegans</a:t>
            </a:r>
            <a:r>
              <a:rPr lang="fr-FR" dirty="0"/>
              <a:t> (« élégamment simple », « économie de goût dans les choix poétiques », « approprié »). L'ouvrage peut être qualifié de livre de référence et d'effort d'organisation de ce qui était auparavant peu systématique et rempli de mythes.</a:t>
            </a:r>
          </a:p>
        </p:txBody>
      </p:sp>
    </p:spTree>
    <p:extLst>
      <p:ext uri="{BB962C8B-B14F-4D97-AF65-F5344CB8AC3E}">
        <p14:creationId xmlns:p14="http://schemas.microsoft.com/office/powerpoint/2010/main" val="300248659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fr-FR" dirty="0" smtClean="0"/>
              <a:t>Petrus </a:t>
            </a:r>
            <a:r>
              <a:rPr lang="fr-FR" dirty="0" err="1" smtClean="0"/>
              <a:t>crinitus</a:t>
            </a:r>
            <a:r>
              <a:rPr lang="fr-FR" dirty="0" smtClean="0"/>
              <a:t/>
            </a:r>
            <a:br>
              <a:rPr lang="fr-FR" dirty="0" smtClean="0"/>
            </a:br>
            <a:r>
              <a:rPr lang="fr-FR" dirty="0" smtClean="0"/>
              <a:t>Les poètes</a:t>
            </a:r>
            <a:endParaRPr lang="fr-FR" dirty="0"/>
          </a:p>
        </p:txBody>
      </p:sp>
      <p:sp>
        <p:nvSpPr>
          <p:cNvPr id="3" name="Content Placeholder 2"/>
          <p:cNvSpPr>
            <a:spLocks noGrp="1"/>
          </p:cNvSpPr>
          <p:nvPr>
            <p:ph idx="1"/>
          </p:nvPr>
        </p:nvSpPr>
        <p:spPr>
          <a:xfrm>
            <a:off x="581192" y="1715956"/>
            <a:ext cx="11029615" cy="4667259"/>
          </a:xfrm>
        </p:spPr>
        <p:txBody>
          <a:bodyPr>
            <a:normAutofit/>
          </a:bodyPr>
          <a:lstStyle/>
          <a:p>
            <a:pPr algn="just"/>
            <a:r>
              <a:rPr lang="fr-FR" dirty="0"/>
              <a:t>À la différence de </a:t>
            </a:r>
            <a:r>
              <a:rPr lang="fr-FR" dirty="0" err="1"/>
              <a:t>Sicco</a:t>
            </a:r>
            <a:r>
              <a:rPr lang="fr-FR" dirty="0"/>
              <a:t>, </a:t>
            </a:r>
            <a:r>
              <a:rPr lang="fr-FR" dirty="0" err="1"/>
              <a:t>Crinitus</a:t>
            </a:r>
            <a:r>
              <a:rPr lang="fr-FR" dirty="0"/>
              <a:t> ne traite que des auteurs ayant apporté une contribution notable à la poésie. </a:t>
            </a:r>
            <a:r>
              <a:rPr lang="fr-FR" dirty="0" err="1"/>
              <a:t>Crinitus</a:t>
            </a:r>
            <a:r>
              <a:rPr lang="fr-FR" dirty="0"/>
              <a:t> possède également une vision de l'Antiquité allant de </a:t>
            </a:r>
            <a:r>
              <a:rPr lang="fr-FR" dirty="0" err="1"/>
              <a:t>Livius</a:t>
            </a:r>
            <a:r>
              <a:rPr lang="fr-FR" dirty="0"/>
              <a:t> </a:t>
            </a:r>
            <a:r>
              <a:rPr lang="fr-FR" dirty="0" err="1"/>
              <a:t>Andronicus</a:t>
            </a:r>
            <a:r>
              <a:rPr lang="fr-FR" dirty="0"/>
              <a:t> à Sidoine Apollinaire, tandis que </a:t>
            </a:r>
            <a:r>
              <a:rPr lang="fr-FR" dirty="0" err="1"/>
              <a:t>Sicco</a:t>
            </a:r>
            <a:r>
              <a:rPr lang="fr-FR" dirty="0"/>
              <a:t> avait inclus </a:t>
            </a:r>
            <a:r>
              <a:rPr lang="fr-FR" dirty="0" err="1"/>
              <a:t>Lovato</a:t>
            </a:r>
            <a:r>
              <a:rPr lang="fr-FR" dirty="0"/>
              <a:t> dei </a:t>
            </a:r>
            <a:r>
              <a:rPr lang="fr-FR" dirty="0" err="1"/>
              <a:t>Lovati</a:t>
            </a:r>
            <a:r>
              <a:rPr lang="fr-FR" dirty="0"/>
              <a:t>, Dante, Pétrarque et d'autres « modernes </a:t>
            </a:r>
            <a:r>
              <a:rPr lang="fr-FR" dirty="0" smtClean="0"/>
              <a:t>».</a:t>
            </a:r>
          </a:p>
          <a:p>
            <a:pPr algn="just"/>
            <a:r>
              <a:rPr lang="fr-FR" dirty="0" smtClean="0"/>
              <a:t>Pour </a:t>
            </a:r>
            <a:r>
              <a:rPr lang="fr-FR" dirty="0" err="1" smtClean="0"/>
              <a:t>Celenza</a:t>
            </a:r>
            <a:r>
              <a:rPr lang="fr-FR" dirty="0" smtClean="0"/>
              <a:t> : « </a:t>
            </a:r>
            <a:r>
              <a:rPr lang="fr-FR" dirty="0" err="1" smtClean="0"/>
              <a:t>Sicco</a:t>
            </a:r>
            <a:r>
              <a:rPr lang="fr-FR" dirty="0" smtClean="0"/>
              <a:t> </a:t>
            </a:r>
            <a:r>
              <a:rPr lang="fr-FR" dirty="0"/>
              <a:t>se préoccupe davantage de la vie et du contexte historique des personnages sur lesquels il écrit, énumérant toujours leurs œuvres connues, tandis que </a:t>
            </a:r>
            <a:r>
              <a:rPr lang="fr-FR" dirty="0" err="1"/>
              <a:t>Crinitus</a:t>
            </a:r>
            <a:r>
              <a:rPr lang="fr-FR" dirty="0"/>
              <a:t> se concentre, dans chaque vie, uniquement sur les éléments biographiques qui semblent directement liés au style et à la production poétique de l'auteur considéré</a:t>
            </a:r>
            <a:r>
              <a:rPr lang="fr-FR" dirty="0" smtClean="0"/>
              <a:t>. » (Assertion que nous vérifierons ou non pour les premiers poètes)</a:t>
            </a:r>
          </a:p>
        </p:txBody>
      </p:sp>
    </p:spTree>
    <p:extLst>
      <p:ext uri="{BB962C8B-B14F-4D97-AF65-F5344CB8AC3E}">
        <p14:creationId xmlns:p14="http://schemas.microsoft.com/office/powerpoint/2010/main" val="1303089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fr-FR" dirty="0" smtClean="0"/>
              <a:t>Petrus </a:t>
            </a:r>
            <a:r>
              <a:rPr lang="fr-FR" dirty="0" err="1" smtClean="0"/>
              <a:t>crinitus</a:t>
            </a:r>
            <a:r>
              <a:rPr lang="fr-FR" dirty="0" smtClean="0"/>
              <a:t/>
            </a:r>
            <a:br>
              <a:rPr lang="fr-FR" dirty="0" smtClean="0"/>
            </a:br>
            <a:r>
              <a:rPr lang="fr-FR" dirty="0" smtClean="0"/>
              <a:t>Les poètes</a:t>
            </a:r>
            <a:endParaRPr lang="fr-FR" dirty="0"/>
          </a:p>
        </p:txBody>
      </p:sp>
      <p:sp>
        <p:nvSpPr>
          <p:cNvPr id="3" name="Content Placeholder 2"/>
          <p:cNvSpPr>
            <a:spLocks noGrp="1"/>
          </p:cNvSpPr>
          <p:nvPr>
            <p:ph idx="1"/>
          </p:nvPr>
        </p:nvSpPr>
        <p:spPr>
          <a:xfrm>
            <a:off x="581192" y="1715956"/>
            <a:ext cx="11029615" cy="4667259"/>
          </a:xfrm>
        </p:spPr>
        <p:txBody>
          <a:bodyPr>
            <a:normAutofit/>
          </a:bodyPr>
          <a:lstStyle/>
          <a:p>
            <a:pPr algn="just"/>
            <a:r>
              <a:rPr lang="fr-FR" dirty="0"/>
              <a:t>Exemple chez </a:t>
            </a:r>
            <a:r>
              <a:rPr lang="fr-FR" dirty="0" err="1"/>
              <a:t>Celenza</a:t>
            </a:r>
            <a:r>
              <a:rPr lang="fr-FR" dirty="0"/>
              <a:t> pour la vie de Sidoine Apollinaire </a:t>
            </a:r>
            <a:r>
              <a:rPr lang="fr-FR" dirty="0" smtClean="0"/>
              <a:t>:</a:t>
            </a:r>
          </a:p>
          <a:p>
            <a:pPr lvl="1" algn="just"/>
            <a:r>
              <a:rPr lang="fr-FR" dirty="0" err="1" smtClean="0"/>
              <a:t>Sicco</a:t>
            </a:r>
            <a:r>
              <a:rPr lang="fr-FR" dirty="0" smtClean="0"/>
              <a:t> </a:t>
            </a:r>
            <a:r>
              <a:rPr lang="fr-FR" dirty="0"/>
              <a:t>relate les circonstances politiques de la vie de Sidoine, soulignant la manière dont un environnement ravagé par la guerre a poussé Sidoine à quitter l'arène politique séculière pour l'arène ecclésiastique. D'un autre côté, </a:t>
            </a:r>
            <a:r>
              <a:rPr lang="fr-FR" dirty="0" err="1"/>
              <a:t>Crinitus</a:t>
            </a:r>
            <a:r>
              <a:rPr lang="fr-FR" dirty="0"/>
              <a:t> ne prête presque aucune attention à ces circonstances politiques, se concentrant davantage, dans sa description biographique, sur l'éducation de </a:t>
            </a:r>
            <a:r>
              <a:rPr lang="fr-FR" dirty="0" smtClean="0"/>
              <a:t>Sidoine.</a:t>
            </a:r>
          </a:p>
          <a:p>
            <a:pPr lvl="1" algn="just"/>
            <a:r>
              <a:rPr lang="fr-FR" dirty="0" smtClean="0"/>
              <a:t>Autre différence : </a:t>
            </a:r>
            <a:r>
              <a:rPr lang="fr-FR" dirty="0" err="1"/>
              <a:t>Sicco</a:t>
            </a:r>
            <a:r>
              <a:rPr lang="fr-FR" dirty="0"/>
              <a:t> n'émet aucun jugement critique sur l'œuvre de Sidoine (si ce n'est pour dire que Sidoine était savant et qu'il possédait un talent pour la prose comme pour la poésie) ; il termine ensuite par une liste des œuvres connues de Sidoine. </a:t>
            </a:r>
            <a:r>
              <a:rPr lang="fr-FR" dirty="0" err="1"/>
              <a:t>Crinitus</a:t>
            </a:r>
            <a:r>
              <a:rPr lang="fr-FR" dirty="0"/>
              <a:t>, en revanche, écrit que la prose de Sidoine (telle qu'elle apparaît dans ses </a:t>
            </a:r>
            <a:r>
              <a:rPr lang="fr-FR" i="1" dirty="0"/>
              <a:t>Lettres</a:t>
            </a:r>
            <a:r>
              <a:rPr lang="fr-FR" dirty="0"/>
              <a:t>) « fleure quelque chose d'étranger et de gaulois » (une caractéristique que </a:t>
            </a:r>
            <a:r>
              <a:rPr lang="fr-FR" dirty="0" err="1"/>
              <a:t>Crinitus</a:t>
            </a:r>
            <a:r>
              <a:rPr lang="fr-FR" dirty="0"/>
              <a:t> lie au déclin culturel général accompagnant la chute de l'Empire romain). </a:t>
            </a:r>
            <a:r>
              <a:rPr lang="fr-FR" dirty="0" err="1"/>
              <a:t>Crinitus</a:t>
            </a:r>
            <a:r>
              <a:rPr lang="fr-FR" dirty="0"/>
              <a:t> poursuit : « Sidoine a donc recueilli beaucoup plus d'éloges pour ses poèmes et ses vers hendécasyllabes, car on y trouve beaucoup de talent et un niveau d'élégance qui n'est pas du tout commun. Il est également loué pour ces panégyriques qu'il dédia à </a:t>
            </a:r>
            <a:r>
              <a:rPr lang="fr-FR" dirty="0" err="1"/>
              <a:t>Anthémius</a:t>
            </a:r>
            <a:r>
              <a:rPr lang="fr-FR" dirty="0"/>
              <a:t> et Majorien, des hommes très célèbres de rang consulaire. »</a:t>
            </a:r>
          </a:p>
        </p:txBody>
      </p:sp>
    </p:spTree>
    <p:extLst>
      <p:ext uri="{BB962C8B-B14F-4D97-AF65-F5344CB8AC3E}">
        <p14:creationId xmlns:p14="http://schemas.microsoft.com/office/powerpoint/2010/main" val="359473825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fr-FR" dirty="0" smtClean="0"/>
              <a:t>Petrus </a:t>
            </a:r>
            <a:r>
              <a:rPr lang="fr-FR" dirty="0" err="1" smtClean="0"/>
              <a:t>crinitus</a:t>
            </a:r>
            <a:r>
              <a:rPr lang="fr-FR" dirty="0" smtClean="0"/>
              <a:t/>
            </a:r>
            <a:br>
              <a:rPr lang="fr-FR" dirty="0" smtClean="0"/>
            </a:br>
            <a:r>
              <a:rPr lang="fr-FR" dirty="0" smtClean="0"/>
              <a:t>Les poètes</a:t>
            </a:r>
            <a:endParaRPr lang="fr-FR" dirty="0"/>
          </a:p>
        </p:txBody>
      </p:sp>
      <p:sp>
        <p:nvSpPr>
          <p:cNvPr id="3" name="Content Placeholder 2"/>
          <p:cNvSpPr>
            <a:spLocks noGrp="1"/>
          </p:cNvSpPr>
          <p:nvPr>
            <p:ph idx="1"/>
          </p:nvPr>
        </p:nvSpPr>
        <p:spPr>
          <a:xfrm>
            <a:off x="581192" y="1715956"/>
            <a:ext cx="11029615" cy="4667259"/>
          </a:xfrm>
        </p:spPr>
        <p:txBody>
          <a:bodyPr>
            <a:normAutofit/>
          </a:bodyPr>
          <a:lstStyle/>
          <a:p>
            <a:pPr algn="just"/>
            <a:r>
              <a:rPr lang="fr-FR" dirty="0" smtClean="0"/>
              <a:t>But de l’ouvrage : offrir non </a:t>
            </a:r>
            <a:r>
              <a:rPr lang="fr-FR" dirty="0"/>
              <a:t>pas un catalogue exhaustif de tout ce qu'un auteur a écrit, mais plutôt une sorte de vue d'ensemble des principaux talents de l'auteur considéré, avec l'évocation occasionnelle d'une œuvre exemplaire pour appuyer les points avancés. </a:t>
            </a:r>
            <a:endParaRPr lang="fr-FR" dirty="0" smtClean="0"/>
          </a:p>
          <a:p>
            <a:pPr algn="just"/>
            <a:r>
              <a:rPr lang="fr-FR" dirty="0" smtClean="0"/>
              <a:t>Œuvre de </a:t>
            </a:r>
            <a:r>
              <a:rPr lang="fr-FR" dirty="0" err="1"/>
              <a:t>Sicco</a:t>
            </a:r>
            <a:r>
              <a:rPr lang="fr-FR" dirty="0"/>
              <a:t> </a:t>
            </a:r>
            <a:r>
              <a:rPr lang="fr-FR" dirty="0" smtClean="0"/>
              <a:t>= une </a:t>
            </a:r>
            <a:r>
              <a:rPr lang="fr-FR" dirty="0"/>
              <a:t>vie de collecte, d’édition et de compilation, le tout à l’époque du </a:t>
            </a:r>
            <a:r>
              <a:rPr lang="fr-FR" dirty="0" smtClean="0"/>
              <a:t>manuscrit, </a:t>
            </a:r>
            <a:r>
              <a:rPr lang="fr-FR" dirty="0"/>
              <a:t>une œuvre révisée à maintes </a:t>
            </a:r>
            <a:r>
              <a:rPr lang="fr-FR" dirty="0" smtClean="0"/>
              <a:t>reprises.</a:t>
            </a:r>
          </a:p>
          <a:p>
            <a:pPr algn="just"/>
            <a:r>
              <a:rPr lang="fr-FR" dirty="0" err="1" smtClean="0"/>
              <a:t>Crinitus</a:t>
            </a:r>
            <a:r>
              <a:rPr lang="fr-FR" dirty="0" smtClean="0"/>
              <a:t> écrit </a:t>
            </a:r>
            <a:r>
              <a:rPr lang="fr-FR" dirty="0"/>
              <a:t>après que les plus grands efforts de collecte du XVe siècle ont déjà été </a:t>
            </a:r>
            <a:r>
              <a:rPr lang="fr-FR" dirty="0" smtClean="0"/>
              <a:t>accomplis, possible travail directement </a:t>
            </a:r>
            <a:r>
              <a:rPr lang="fr-FR" dirty="0"/>
              <a:t>avec des imprimeurs, et à un moment où les ouvrages de référence de toutes sortes font l'objet de théories et de rédactions. </a:t>
            </a:r>
            <a:endParaRPr lang="fr-FR" dirty="0" smtClean="0"/>
          </a:p>
          <a:p>
            <a:pPr algn="just"/>
            <a:r>
              <a:rPr lang="fr-FR" dirty="0" smtClean="0"/>
              <a:t>Chez </a:t>
            </a:r>
            <a:r>
              <a:rPr lang="fr-FR" dirty="0" err="1"/>
              <a:t>Crinitus</a:t>
            </a:r>
            <a:r>
              <a:rPr lang="fr-FR" dirty="0"/>
              <a:t> </a:t>
            </a:r>
            <a:r>
              <a:rPr lang="fr-FR" dirty="0" smtClean="0"/>
              <a:t>&gt; </a:t>
            </a:r>
            <a:r>
              <a:rPr lang="fr-FR" dirty="0"/>
              <a:t>manifestation spécifique d'un changement générationnel.</a:t>
            </a:r>
          </a:p>
        </p:txBody>
      </p:sp>
    </p:spTree>
    <p:extLst>
      <p:ext uri="{BB962C8B-B14F-4D97-AF65-F5344CB8AC3E}">
        <p14:creationId xmlns:p14="http://schemas.microsoft.com/office/powerpoint/2010/main" val="203275134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fr-FR" dirty="0" smtClean="0"/>
              <a:t>Petrus </a:t>
            </a:r>
            <a:r>
              <a:rPr lang="fr-FR" dirty="0" err="1" smtClean="0"/>
              <a:t>crinitus</a:t>
            </a:r>
            <a:r>
              <a:rPr lang="fr-FR" dirty="0" smtClean="0"/>
              <a:t/>
            </a:r>
            <a:br>
              <a:rPr lang="fr-FR" dirty="0" smtClean="0"/>
            </a:br>
            <a:r>
              <a:rPr lang="fr-FR" dirty="0" smtClean="0"/>
              <a:t>Les poètes</a:t>
            </a:r>
            <a:endParaRPr lang="fr-FR" dirty="0"/>
          </a:p>
        </p:txBody>
      </p:sp>
      <p:sp>
        <p:nvSpPr>
          <p:cNvPr id="3" name="Content Placeholder 2"/>
          <p:cNvSpPr>
            <a:spLocks noGrp="1"/>
          </p:cNvSpPr>
          <p:nvPr>
            <p:ph idx="1"/>
          </p:nvPr>
        </p:nvSpPr>
        <p:spPr>
          <a:xfrm>
            <a:off x="581192" y="1973525"/>
            <a:ext cx="11029615" cy="4409690"/>
          </a:xfrm>
        </p:spPr>
        <p:txBody>
          <a:bodyPr>
            <a:normAutofit/>
          </a:bodyPr>
          <a:lstStyle/>
          <a:p>
            <a:pPr algn="just"/>
            <a:r>
              <a:rPr lang="fr-FR" dirty="0" smtClean="0"/>
              <a:t>Autre </a:t>
            </a:r>
            <a:r>
              <a:rPr lang="fr-FR" dirty="0"/>
              <a:t>façon de comprendre les </a:t>
            </a:r>
            <a:r>
              <a:rPr lang="fr-FR" dirty="0" smtClean="0"/>
              <a:t>objectifs et </a:t>
            </a:r>
            <a:r>
              <a:rPr lang="fr-FR" dirty="0"/>
              <a:t>les méthodes de recherche </a:t>
            </a:r>
            <a:r>
              <a:rPr lang="fr-FR" dirty="0" smtClean="0"/>
              <a:t>: aborder </a:t>
            </a:r>
            <a:r>
              <a:rPr lang="fr-FR" dirty="0"/>
              <a:t>son œuvre à travers les manuscrits qui documentent ses travaux de jeunesse. </a:t>
            </a:r>
            <a:endParaRPr lang="fr-FR" dirty="0" smtClean="0"/>
          </a:p>
          <a:p>
            <a:pPr algn="just"/>
            <a:r>
              <a:rPr lang="fr-FR" dirty="0" smtClean="0"/>
              <a:t>Dans </a:t>
            </a:r>
            <a:r>
              <a:rPr lang="fr-FR" dirty="0"/>
              <a:t>la préface du </a:t>
            </a:r>
            <a:r>
              <a:rPr lang="fr-FR" i="1" dirty="0"/>
              <a:t>De </a:t>
            </a:r>
            <a:r>
              <a:rPr lang="fr-FR" i="1" dirty="0" err="1"/>
              <a:t>poetis</a:t>
            </a:r>
            <a:r>
              <a:rPr lang="fr-FR" i="1" dirty="0"/>
              <a:t> </a:t>
            </a:r>
            <a:r>
              <a:rPr lang="fr-FR" i="1" dirty="0" err="1" smtClean="0"/>
              <a:t>latinis</a:t>
            </a:r>
            <a:r>
              <a:rPr lang="fr-FR" dirty="0" smtClean="0"/>
              <a:t>, écrit que </a:t>
            </a:r>
            <a:r>
              <a:rPr lang="fr-FR" dirty="0"/>
              <a:t>l'œuvre de Pontano et </a:t>
            </a:r>
            <a:r>
              <a:rPr lang="fr-FR" dirty="0" err="1"/>
              <a:t>Marullus</a:t>
            </a:r>
            <a:r>
              <a:rPr lang="fr-FR" dirty="0"/>
              <a:t> prouve que la poésie latine moderne prend un meilleur </a:t>
            </a:r>
            <a:r>
              <a:rPr lang="fr-FR" dirty="0" smtClean="0"/>
              <a:t>élan.</a:t>
            </a:r>
          </a:p>
          <a:p>
            <a:pPr algn="just"/>
            <a:r>
              <a:rPr lang="fr-FR" dirty="0" smtClean="0"/>
              <a:t>Un manuscrit de </a:t>
            </a:r>
            <a:r>
              <a:rPr lang="fr-FR" dirty="0"/>
              <a:t>la Bibliothèque Laurentienne </a:t>
            </a:r>
            <a:r>
              <a:rPr lang="fr-FR" dirty="0" smtClean="0"/>
              <a:t>prouve </a:t>
            </a:r>
            <a:r>
              <a:rPr lang="fr-FR" dirty="0"/>
              <a:t>que </a:t>
            </a:r>
            <a:r>
              <a:rPr lang="fr-FR" dirty="0" err="1"/>
              <a:t>Crinitus</a:t>
            </a:r>
            <a:r>
              <a:rPr lang="fr-FR" dirty="0"/>
              <a:t> a rassemblé et étudié des parties de l'</a:t>
            </a:r>
            <a:r>
              <a:rPr lang="fr-FR" i="1" dirty="0" err="1"/>
              <a:t>Urania</a:t>
            </a:r>
            <a:r>
              <a:rPr lang="fr-FR" dirty="0"/>
              <a:t> de </a:t>
            </a:r>
            <a:r>
              <a:rPr lang="fr-FR" dirty="0" smtClean="0"/>
              <a:t>Pontano et certain </a:t>
            </a:r>
            <a:r>
              <a:rPr lang="fr-FR" dirty="0"/>
              <a:t>nombre d'autres </a:t>
            </a:r>
            <a:r>
              <a:rPr lang="fr-FR" dirty="0" smtClean="0"/>
              <a:t>textes.</a:t>
            </a:r>
          </a:p>
          <a:p>
            <a:pPr algn="just"/>
            <a:r>
              <a:rPr lang="fr-FR" dirty="0" smtClean="0"/>
              <a:t>L'habitude</a:t>
            </a:r>
            <a:r>
              <a:rPr lang="fr-FR" dirty="0"/>
              <a:t>, chez Politien et les membres de son cercle (une habitude à laquelle </a:t>
            </a:r>
            <a:r>
              <a:rPr lang="fr-FR" dirty="0" err="1"/>
              <a:t>Crinitus</a:t>
            </a:r>
            <a:r>
              <a:rPr lang="fr-FR" dirty="0"/>
              <a:t> adhérait), était d'annoter les textes qu'ils étudiaient par une « souscription » indiquant la date, le lieu et les circonstances dans lesquelles ils avaient achevé leur étude. </a:t>
            </a:r>
            <a:r>
              <a:rPr lang="fr-FR" dirty="0" smtClean="0"/>
              <a:t>Dans ce manuscrit, </a:t>
            </a:r>
            <a:r>
              <a:rPr lang="fr-FR" dirty="0"/>
              <a:t>dix souscriptions </a:t>
            </a:r>
            <a:r>
              <a:rPr lang="fr-FR" dirty="0" smtClean="0"/>
              <a:t>distinctes indiquent que </a:t>
            </a:r>
            <a:r>
              <a:rPr lang="fr-FR" dirty="0" err="1"/>
              <a:t>Crinitus</a:t>
            </a:r>
            <a:r>
              <a:rPr lang="fr-FR" dirty="0"/>
              <a:t> a travaillé sur les textes contenus dans le manuscrit de la fin de 1496 jusqu'en août 1499. </a:t>
            </a:r>
            <a:endParaRPr lang="fr-FR" dirty="0" smtClean="0"/>
          </a:p>
          <a:p>
            <a:pPr algn="just"/>
            <a:r>
              <a:rPr lang="fr-FR" dirty="0" smtClean="0"/>
              <a:t>Donc, donner </a:t>
            </a:r>
            <a:r>
              <a:rPr lang="fr-FR" dirty="0"/>
              <a:t>un </a:t>
            </a:r>
            <a:r>
              <a:rPr lang="fr-FR" dirty="0" smtClean="0"/>
              <a:t>sens et une organisation </a:t>
            </a:r>
            <a:r>
              <a:rPr lang="fr-FR" dirty="0"/>
              <a:t>à </a:t>
            </a:r>
            <a:r>
              <a:rPr lang="fr-FR" dirty="0" smtClean="0"/>
              <a:t>un </a:t>
            </a:r>
            <a:r>
              <a:rPr lang="fr-FR" dirty="0"/>
              <a:t>immense héritage, dans le monde graphique </a:t>
            </a:r>
            <a:r>
              <a:rPr lang="fr-FR" dirty="0" err="1"/>
              <a:t>pré-moderne</a:t>
            </a:r>
            <a:r>
              <a:rPr lang="fr-FR" dirty="0"/>
              <a:t> </a:t>
            </a:r>
            <a:r>
              <a:rPr lang="fr-FR" dirty="0" smtClean="0"/>
              <a:t>désordonné.</a:t>
            </a:r>
            <a:endParaRPr lang="fr-FR" dirty="0"/>
          </a:p>
        </p:txBody>
      </p:sp>
    </p:spTree>
    <p:extLst>
      <p:ext uri="{BB962C8B-B14F-4D97-AF65-F5344CB8AC3E}">
        <p14:creationId xmlns:p14="http://schemas.microsoft.com/office/powerpoint/2010/main" val="245339360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fr-FR" dirty="0" err="1" smtClean="0"/>
              <a:t>Lilio</a:t>
            </a:r>
            <a:r>
              <a:rPr lang="fr-FR" dirty="0" smtClean="0"/>
              <a:t> Gregorio </a:t>
            </a:r>
            <a:r>
              <a:rPr lang="fr-FR" dirty="0" err="1" smtClean="0"/>
              <a:t>Giraldi</a:t>
            </a:r>
            <a:endParaRPr lang="fr-FR" dirty="0"/>
          </a:p>
        </p:txBody>
      </p:sp>
      <p:sp>
        <p:nvSpPr>
          <p:cNvPr id="5" name="Text Placeholder 4"/>
          <p:cNvSpPr>
            <a:spLocks noGrp="1"/>
          </p:cNvSpPr>
          <p:nvPr>
            <p:ph type="body" idx="1"/>
          </p:nvPr>
        </p:nvSpPr>
        <p:spPr/>
        <p:txBody>
          <a:bodyPr/>
          <a:lstStyle/>
          <a:p>
            <a:r>
              <a:rPr lang="fr-FR" dirty="0" smtClean="0"/>
              <a:t>De Historia </a:t>
            </a:r>
            <a:r>
              <a:rPr lang="fr-FR" dirty="0" err="1" smtClean="0"/>
              <a:t>poetarum</a:t>
            </a:r>
            <a:r>
              <a:rPr lang="fr-FR" dirty="0" smtClean="0"/>
              <a:t> </a:t>
            </a:r>
            <a:r>
              <a:rPr lang="fr-FR" dirty="0" err="1" smtClean="0"/>
              <a:t>tam</a:t>
            </a:r>
            <a:r>
              <a:rPr lang="fr-FR" dirty="0" smtClean="0"/>
              <a:t> </a:t>
            </a:r>
            <a:r>
              <a:rPr lang="fr-FR" dirty="0" err="1" smtClean="0"/>
              <a:t>Graecorum</a:t>
            </a:r>
            <a:r>
              <a:rPr lang="fr-FR" dirty="0" smtClean="0"/>
              <a:t> </a:t>
            </a:r>
            <a:r>
              <a:rPr lang="fr-FR" dirty="0" err="1" smtClean="0"/>
              <a:t>quam</a:t>
            </a:r>
            <a:r>
              <a:rPr lang="fr-FR" dirty="0" smtClean="0"/>
              <a:t> </a:t>
            </a:r>
            <a:r>
              <a:rPr lang="fr-FR" dirty="0" err="1" smtClean="0"/>
              <a:t>latinorum</a:t>
            </a:r>
            <a:r>
              <a:rPr lang="fr-FR" dirty="0" smtClean="0"/>
              <a:t> </a:t>
            </a:r>
            <a:r>
              <a:rPr lang="fr-FR" dirty="0" err="1" smtClean="0"/>
              <a:t>dialogi</a:t>
            </a:r>
            <a:r>
              <a:rPr lang="fr-FR" dirty="0" smtClean="0"/>
              <a:t> </a:t>
            </a:r>
            <a:r>
              <a:rPr lang="fr-FR" dirty="0" err="1" smtClean="0"/>
              <a:t>decem</a:t>
            </a:r>
            <a:endParaRPr lang="fr-FR" dirty="0"/>
          </a:p>
        </p:txBody>
      </p:sp>
    </p:spTree>
    <p:extLst>
      <p:ext uri="{BB962C8B-B14F-4D97-AF65-F5344CB8AC3E}">
        <p14:creationId xmlns:p14="http://schemas.microsoft.com/office/powerpoint/2010/main" val="1867643864"/>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pPr algn="ctr"/>
            <a:r>
              <a:rPr lang="fr-FR" dirty="0" err="1" smtClean="0"/>
              <a:t>Lilio</a:t>
            </a:r>
            <a:r>
              <a:rPr lang="fr-FR" dirty="0" smtClean="0"/>
              <a:t> Gregorio </a:t>
            </a:r>
            <a:r>
              <a:rPr lang="fr-FR" dirty="0" err="1" smtClean="0"/>
              <a:t>giraldi</a:t>
            </a:r>
            <a:endParaRPr lang="fr-FR" dirty="0"/>
          </a:p>
        </p:txBody>
      </p:sp>
      <p:sp>
        <p:nvSpPr>
          <p:cNvPr id="5" name="Content Placeholder 4"/>
          <p:cNvSpPr>
            <a:spLocks noGrp="1"/>
          </p:cNvSpPr>
          <p:nvPr>
            <p:ph idx="1"/>
          </p:nvPr>
        </p:nvSpPr>
        <p:spPr/>
        <p:txBody>
          <a:bodyPr>
            <a:normAutofit/>
          </a:bodyPr>
          <a:lstStyle/>
          <a:p>
            <a:pPr algn="just"/>
            <a:r>
              <a:rPr lang="fr-FR" sz="2400" dirty="0" smtClean="0">
                <a:latin typeface="+mj-lt"/>
              </a:rPr>
              <a:t>1479-1552</a:t>
            </a:r>
          </a:p>
          <a:p>
            <a:pPr algn="just"/>
            <a:r>
              <a:rPr lang="fr-FR" sz="2400" dirty="0" smtClean="0">
                <a:latin typeface="+mj-lt"/>
              </a:rPr>
              <a:t>Ferrare, Italie</a:t>
            </a:r>
          </a:p>
          <a:p>
            <a:pPr algn="just"/>
            <a:r>
              <a:rPr lang="fr-FR" sz="2400" dirty="0" smtClean="0">
                <a:latin typeface="+mj-lt"/>
              </a:rPr>
              <a:t>Poète, érudit, mythographe et </a:t>
            </a:r>
            <a:r>
              <a:rPr lang="fr-FR" sz="2400" dirty="0" err="1" smtClean="0">
                <a:latin typeface="+mj-lt"/>
              </a:rPr>
              <a:t>pronotaire</a:t>
            </a:r>
            <a:r>
              <a:rPr lang="fr-FR" sz="2400" dirty="0" smtClean="0">
                <a:latin typeface="+mj-lt"/>
              </a:rPr>
              <a:t> apostolique (</a:t>
            </a:r>
            <a:r>
              <a:rPr lang="fr-FR" sz="2400" dirty="0">
                <a:latin typeface="+mj-lt"/>
              </a:rPr>
              <a:t>titre décerné à divers prélats non épiscopaux, d'une dignité supérieure à celle de notaire </a:t>
            </a:r>
            <a:r>
              <a:rPr lang="fr-FR" sz="2400" dirty="0" smtClean="0">
                <a:latin typeface="+mj-lt"/>
              </a:rPr>
              <a:t>apostolique)</a:t>
            </a:r>
            <a:endParaRPr lang="fr-FR" sz="2400" dirty="0">
              <a:latin typeface="+mj-lt"/>
            </a:endParaRPr>
          </a:p>
        </p:txBody>
      </p:sp>
    </p:spTree>
    <p:extLst>
      <p:ext uri="{BB962C8B-B14F-4D97-AF65-F5344CB8AC3E}">
        <p14:creationId xmlns:p14="http://schemas.microsoft.com/office/powerpoint/2010/main" val="10986129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pPr algn="ctr"/>
            <a:r>
              <a:rPr lang="fr-FR" dirty="0" err="1" smtClean="0"/>
              <a:t>Lilio</a:t>
            </a:r>
            <a:r>
              <a:rPr lang="fr-FR" dirty="0" smtClean="0"/>
              <a:t> Gregorio </a:t>
            </a:r>
            <a:r>
              <a:rPr lang="fr-FR" dirty="0" err="1" smtClean="0"/>
              <a:t>giraldi</a:t>
            </a:r>
            <a:endParaRPr lang="fr-FR" dirty="0"/>
          </a:p>
        </p:txBody>
      </p:sp>
      <p:sp>
        <p:nvSpPr>
          <p:cNvPr id="5" name="Content Placeholder 4"/>
          <p:cNvSpPr>
            <a:spLocks noGrp="1"/>
          </p:cNvSpPr>
          <p:nvPr>
            <p:ph idx="1"/>
          </p:nvPr>
        </p:nvSpPr>
        <p:spPr>
          <a:xfrm>
            <a:off x="581192" y="2180496"/>
            <a:ext cx="11029615" cy="4220304"/>
          </a:xfrm>
        </p:spPr>
        <p:txBody>
          <a:bodyPr>
            <a:normAutofit/>
          </a:bodyPr>
          <a:lstStyle/>
          <a:p>
            <a:pPr algn="just"/>
            <a:r>
              <a:rPr lang="fr-FR" sz="2400" dirty="0">
                <a:latin typeface="+mj-lt"/>
              </a:rPr>
              <a:t>Jeunesse et formation : Études de lettres grecques, latines et de droit à Ferrare. Rencontre des figures majeures comme Giovanni Pontano à </a:t>
            </a:r>
            <a:r>
              <a:rPr lang="fr-FR" sz="2400" dirty="0" smtClean="0">
                <a:latin typeface="+mj-lt"/>
              </a:rPr>
              <a:t>Naples.</a:t>
            </a:r>
          </a:p>
          <a:p>
            <a:pPr algn="just"/>
            <a:r>
              <a:rPr lang="fr-FR" sz="2400" dirty="0" smtClean="0">
                <a:latin typeface="+mj-lt"/>
              </a:rPr>
              <a:t>Carrière </a:t>
            </a:r>
            <a:r>
              <a:rPr lang="fr-FR" sz="2400" dirty="0">
                <a:latin typeface="+mj-lt"/>
              </a:rPr>
              <a:t>romaine : Précepteur d'</a:t>
            </a:r>
            <a:r>
              <a:rPr lang="fr-FR" sz="2400" dirty="0" err="1">
                <a:latin typeface="+mj-lt"/>
              </a:rPr>
              <a:t>Ercole</a:t>
            </a:r>
            <a:r>
              <a:rPr lang="fr-FR" sz="2400" dirty="0">
                <a:latin typeface="+mj-lt"/>
              </a:rPr>
              <a:t> </a:t>
            </a:r>
            <a:r>
              <a:rPr lang="fr-FR" sz="2400" dirty="0" err="1">
                <a:latin typeface="+mj-lt"/>
              </a:rPr>
              <a:t>Rangoni</a:t>
            </a:r>
            <a:r>
              <a:rPr lang="fr-FR" sz="2400" dirty="0">
                <a:latin typeface="+mj-lt"/>
              </a:rPr>
              <a:t>, il s'installe au Vatican sous le patronage de Léon X. </a:t>
            </a:r>
            <a:endParaRPr lang="fr-FR" sz="2400" dirty="0" smtClean="0">
              <a:latin typeface="+mj-lt"/>
            </a:endParaRPr>
          </a:p>
          <a:p>
            <a:pPr algn="just"/>
            <a:r>
              <a:rPr lang="fr-FR" sz="2400" dirty="0" smtClean="0">
                <a:latin typeface="+mj-lt"/>
              </a:rPr>
              <a:t>Le </a:t>
            </a:r>
            <a:r>
              <a:rPr lang="fr-FR" sz="2400" dirty="0">
                <a:latin typeface="+mj-lt"/>
              </a:rPr>
              <a:t>traumatisme de 1527 : Lors du sac de </a:t>
            </a:r>
            <a:r>
              <a:rPr lang="fr-FR" sz="2400" dirty="0" smtClean="0">
                <a:latin typeface="+mj-lt"/>
              </a:rPr>
              <a:t>Rome (septième guerre d’Italie qui oppose la France et ses alliés à Charles Quint, Rome est mise à sac par les troupes mutinées de Charles Quint), </a:t>
            </a:r>
            <a:r>
              <a:rPr lang="fr-FR" sz="2400" dirty="0">
                <a:latin typeface="+mj-lt"/>
              </a:rPr>
              <a:t>il perd sa bibliothèque et ses biens. Il fuit vers Bologne puis </a:t>
            </a:r>
            <a:r>
              <a:rPr lang="fr-FR" sz="2400" dirty="0" err="1">
                <a:latin typeface="+mj-lt"/>
              </a:rPr>
              <a:t>Mirandola</a:t>
            </a:r>
            <a:r>
              <a:rPr lang="fr-FR" sz="2400" dirty="0">
                <a:latin typeface="+mj-lt"/>
              </a:rPr>
              <a:t>. </a:t>
            </a:r>
            <a:endParaRPr lang="fr-FR" sz="2400" dirty="0" smtClean="0">
              <a:latin typeface="+mj-lt"/>
            </a:endParaRPr>
          </a:p>
          <a:p>
            <a:pPr algn="just"/>
            <a:r>
              <a:rPr lang="fr-FR" sz="2400" dirty="0" smtClean="0">
                <a:latin typeface="+mj-lt"/>
              </a:rPr>
              <a:t>Retour </a:t>
            </a:r>
            <a:r>
              <a:rPr lang="fr-FR" sz="2400" dirty="0">
                <a:latin typeface="+mj-lt"/>
              </a:rPr>
              <a:t>à Ferrare : Accueilli par la duchesse Renée de France, il finit sa vie à Ferrare, devenant très riche malgré la légende (citée par Montaigne) qui le disait pauvre.</a:t>
            </a:r>
          </a:p>
        </p:txBody>
      </p:sp>
    </p:spTree>
    <p:extLst>
      <p:ext uri="{BB962C8B-B14F-4D97-AF65-F5344CB8AC3E}">
        <p14:creationId xmlns:p14="http://schemas.microsoft.com/office/powerpoint/2010/main" val="3869677912"/>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pPr algn="ctr"/>
            <a:r>
              <a:rPr lang="fr-FR" dirty="0" err="1" smtClean="0"/>
              <a:t>Lilio</a:t>
            </a:r>
            <a:r>
              <a:rPr lang="fr-FR" dirty="0" smtClean="0"/>
              <a:t> Gregorio </a:t>
            </a:r>
            <a:r>
              <a:rPr lang="fr-FR" dirty="0" err="1" smtClean="0"/>
              <a:t>giraldi</a:t>
            </a:r>
            <a:endParaRPr lang="fr-FR" dirty="0"/>
          </a:p>
        </p:txBody>
      </p:sp>
      <p:sp>
        <p:nvSpPr>
          <p:cNvPr id="5" name="Content Placeholder 4"/>
          <p:cNvSpPr>
            <a:spLocks noGrp="1"/>
          </p:cNvSpPr>
          <p:nvPr>
            <p:ph idx="1"/>
          </p:nvPr>
        </p:nvSpPr>
        <p:spPr>
          <a:xfrm>
            <a:off x="581192" y="2180496"/>
            <a:ext cx="11029615" cy="4220304"/>
          </a:xfrm>
        </p:spPr>
        <p:txBody>
          <a:bodyPr>
            <a:normAutofit/>
          </a:bodyPr>
          <a:lstStyle/>
          <a:p>
            <a:pPr algn="just"/>
            <a:r>
              <a:rPr lang="fr-FR" sz="2400" dirty="0" smtClean="0">
                <a:latin typeface="+mj-lt"/>
              </a:rPr>
              <a:t>Œuvre encyclopédique, entre autres :</a:t>
            </a:r>
          </a:p>
          <a:p>
            <a:pPr algn="just"/>
            <a:r>
              <a:rPr lang="fr-FR" sz="2400" dirty="0" smtClean="0">
                <a:latin typeface="+mj-lt"/>
              </a:rPr>
              <a:t>Mythologie </a:t>
            </a:r>
            <a:r>
              <a:rPr lang="fr-FR" sz="2400" dirty="0">
                <a:latin typeface="+mj-lt"/>
              </a:rPr>
              <a:t>: De </a:t>
            </a:r>
            <a:r>
              <a:rPr lang="fr-FR" sz="2400" dirty="0" err="1">
                <a:latin typeface="+mj-lt"/>
              </a:rPr>
              <a:t>deis</a:t>
            </a:r>
            <a:r>
              <a:rPr lang="fr-FR" sz="2400" dirty="0">
                <a:latin typeface="+mj-lt"/>
              </a:rPr>
              <a:t> </a:t>
            </a:r>
            <a:r>
              <a:rPr lang="fr-FR" sz="2400" dirty="0" err="1">
                <a:latin typeface="+mj-lt"/>
              </a:rPr>
              <a:t>gentium</a:t>
            </a:r>
            <a:r>
              <a:rPr lang="fr-FR" sz="2400" dirty="0">
                <a:latin typeface="+mj-lt"/>
              </a:rPr>
              <a:t> (17 livres), une somme monumentale sur les dieux païens, référence après </a:t>
            </a:r>
            <a:r>
              <a:rPr lang="fr-FR" sz="2400" dirty="0" smtClean="0">
                <a:latin typeface="+mj-lt"/>
              </a:rPr>
              <a:t>Boccace ; </a:t>
            </a:r>
            <a:r>
              <a:rPr lang="fr-FR" sz="2400" dirty="0" err="1" smtClean="0">
                <a:latin typeface="+mj-lt"/>
              </a:rPr>
              <a:t>Herculis</a:t>
            </a:r>
            <a:r>
              <a:rPr lang="fr-FR" sz="2400" dirty="0" smtClean="0">
                <a:latin typeface="+mj-lt"/>
              </a:rPr>
              <a:t> </a:t>
            </a:r>
            <a:r>
              <a:rPr lang="fr-FR" sz="2400" dirty="0" err="1" smtClean="0">
                <a:latin typeface="+mj-lt"/>
              </a:rPr>
              <a:t>uita</a:t>
            </a:r>
            <a:r>
              <a:rPr lang="fr-FR" sz="2400" dirty="0" smtClean="0">
                <a:latin typeface="+mj-lt"/>
              </a:rPr>
              <a:t>.</a:t>
            </a:r>
          </a:p>
          <a:p>
            <a:pPr algn="just"/>
            <a:r>
              <a:rPr lang="fr-FR" sz="2400" dirty="0" smtClean="0">
                <a:latin typeface="+mj-lt"/>
              </a:rPr>
              <a:t>Temps </a:t>
            </a:r>
            <a:r>
              <a:rPr lang="fr-FR" sz="2400" dirty="0">
                <a:latin typeface="+mj-lt"/>
              </a:rPr>
              <a:t>et Calendrier : De </a:t>
            </a:r>
            <a:r>
              <a:rPr lang="fr-FR" sz="2400" dirty="0" err="1">
                <a:latin typeface="+mj-lt"/>
              </a:rPr>
              <a:t>annis</a:t>
            </a:r>
            <a:r>
              <a:rPr lang="fr-FR" sz="2400" dirty="0">
                <a:latin typeface="+mj-lt"/>
              </a:rPr>
              <a:t> et </a:t>
            </a:r>
            <a:r>
              <a:rPr lang="fr-FR" sz="2400" dirty="0" err="1">
                <a:latin typeface="+mj-lt"/>
              </a:rPr>
              <a:t>mensibus</a:t>
            </a:r>
            <a:r>
              <a:rPr lang="fr-FR" sz="2400" dirty="0">
                <a:latin typeface="+mj-lt"/>
              </a:rPr>
              <a:t>, une étude sur la mesure du temps. </a:t>
            </a:r>
            <a:endParaRPr lang="fr-FR" sz="2400" dirty="0" smtClean="0">
              <a:latin typeface="+mj-lt"/>
            </a:endParaRPr>
          </a:p>
          <a:p>
            <a:pPr algn="just"/>
            <a:r>
              <a:rPr lang="fr-FR" sz="2400" dirty="0" smtClean="0">
                <a:latin typeface="+mj-lt"/>
              </a:rPr>
              <a:t>Sujets </a:t>
            </a:r>
            <a:r>
              <a:rPr lang="fr-FR" sz="2400" dirty="0">
                <a:latin typeface="+mj-lt"/>
              </a:rPr>
              <a:t>variés : </a:t>
            </a:r>
            <a:r>
              <a:rPr lang="fr-FR" sz="2400" dirty="0" err="1">
                <a:latin typeface="+mj-lt"/>
              </a:rPr>
              <a:t>Dialogismi</a:t>
            </a:r>
            <a:r>
              <a:rPr lang="fr-FR" sz="2400" dirty="0">
                <a:latin typeface="+mj-lt"/>
              </a:rPr>
              <a:t> XXX traitant de la chasse aux oiseaux, de la numérologie ou encore des spectres. </a:t>
            </a:r>
            <a:endParaRPr lang="fr-FR" sz="2400" dirty="0" smtClean="0">
              <a:latin typeface="+mj-lt"/>
            </a:endParaRPr>
          </a:p>
          <a:p>
            <a:pPr algn="just"/>
            <a:r>
              <a:rPr lang="fr-FR" sz="2400" dirty="0" smtClean="0">
                <a:latin typeface="+mj-lt"/>
              </a:rPr>
              <a:t>L'histoire </a:t>
            </a:r>
            <a:r>
              <a:rPr lang="fr-FR" sz="2400" dirty="0">
                <a:latin typeface="+mj-lt"/>
              </a:rPr>
              <a:t>littéraire : Son cycle majeur sur la poésie grecque, latine et </a:t>
            </a:r>
            <a:r>
              <a:rPr lang="fr-FR" sz="2400" dirty="0" smtClean="0">
                <a:latin typeface="+mj-lt"/>
              </a:rPr>
              <a:t>contemporaine : </a:t>
            </a:r>
            <a:r>
              <a:rPr lang="pt-BR" sz="2400" i="1" dirty="0"/>
              <a:t>De historia poetarum tam Græcorum quam Latinorum dialogi </a:t>
            </a:r>
            <a:r>
              <a:rPr lang="pt-BR" sz="2400" i="1" dirty="0" smtClean="0"/>
              <a:t>decem</a:t>
            </a:r>
            <a:r>
              <a:rPr lang="pt-BR" sz="2400" dirty="0"/>
              <a:t> </a:t>
            </a:r>
            <a:r>
              <a:rPr lang="pt-BR" sz="2400" dirty="0" smtClean="0"/>
              <a:t>et </a:t>
            </a:r>
            <a:r>
              <a:rPr lang="pt-BR" sz="2400" i="1" dirty="0"/>
              <a:t>De poetis nostrorum temporum dialogi </a:t>
            </a:r>
            <a:r>
              <a:rPr lang="pt-BR" sz="2400" i="1" dirty="0" smtClean="0"/>
              <a:t>duo</a:t>
            </a:r>
            <a:r>
              <a:rPr lang="fr-FR" sz="2400" dirty="0" smtClean="0">
                <a:latin typeface="+mj-lt"/>
              </a:rPr>
              <a:t>.</a:t>
            </a:r>
            <a:endParaRPr lang="fr-FR" sz="2400" dirty="0">
              <a:latin typeface="+mj-lt"/>
            </a:endParaRPr>
          </a:p>
        </p:txBody>
      </p:sp>
    </p:spTree>
    <p:extLst>
      <p:ext uri="{BB962C8B-B14F-4D97-AF65-F5344CB8AC3E}">
        <p14:creationId xmlns:p14="http://schemas.microsoft.com/office/powerpoint/2010/main" val="3996374747"/>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pPr algn="ctr"/>
            <a:r>
              <a:rPr lang="fr-FR" dirty="0" err="1" smtClean="0"/>
              <a:t>Lilio</a:t>
            </a:r>
            <a:r>
              <a:rPr lang="fr-FR" dirty="0" smtClean="0"/>
              <a:t> Gregorio </a:t>
            </a:r>
            <a:r>
              <a:rPr lang="fr-FR" dirty="0" err="1" smtClean="0"/>
              <a:t>giraldi</a:t>
            </a:r>
            <a:endParaRPr lang="fr-FR" dirty="0"/>
          </a:p>
        </p:txBody>
      </p:sp>
      <p:sp>
        <p:nvSpPr>
          <p:cNvPr id="5" name="Content Placeholder 4"/>
          <p:cNvSpPr>
            <a:spLocks noGrp="1"/>
          </p:cNvSpPr>
          <p:nvPr>
            <p:ph idx="1"/>
          </p:nvPr>
        </p:nvSpPr>
        <p:spPr>
          <a:xfrm>
            <a:off x="581192" y="2180496"/>
            <a:ext cx="11029615" cy="4220304"/>
          </a:xfrm>
        </p:spPr>
        <p:txBody>
          <a:bodyPr>
            <a:normAutofit lnSpcReduction="10000"/>
          </a:bodyPr>
          <a:lstStyle/>
          <a:p>
            <a:pPr algn="just"/>
            <a:r>
              <a:rPr lang="fr-FR" sz="2400" dirty="0">
                <a:latin typeface="+mj-lt"/>
              </a:rPr>
              <a:t>De historia </a:t>
            </a:r>
            <a:r>
              <a:rPr lang="fr-FR" sz="2400" dirty="0" err="1">
                <a:latin typeface="+mj-lt"/>
              </a:rPr>
              <a:t>poetarum</a:t>
            </a:r>
            <a:r>
              <a:rPr lang="fr-FR" sz="2400" dirty="0">
                <a:latin typeface="+mj-lt"/>
              </a:rPr>
              <a:t> </a:t>
            </a:r>
            <a:r>
              <a:rPr lang="fr-FR" sz="2400" dirty="0" err="1">
                <a:latin typeface="+mj-lt"/>
              </a:rPr>
              <a:t>tam</a:t>
            </a:r>
            <a:r>
              <a:rPr lang="fr-FR" sz="2400" dirty="0">
                <a:latin typeface="+mj-lt"/>
              </a:rPr>
              <a:t> </a:t>
            </a:r>
            <a:r>
              <a:rPr lang="fr-FR" sz="2400" dirty="0" err="1">
                <a:latin typeface="+mj-lt"/>
              </a:rPr>
              <a:t>Graecorum</a:t>
            </a:r>
            <a:r>
              <a:rPr lang="fr-FR" sz="2400" dirty="0">
                <a:latin typeface="+mj-lt"/>
              </a:rPr>
              <a:t> </a:t>
            </a:r>
            <a:r>
              <a:rPr lang="fr-FR" sz="2400" dirty="0" err="1">
                <a:latin typeface="+mj-lt"/>
              </a:rPr>
              <a:t>quam</a:t>
            </a:r>
            <a:r>
              <a:rPr lang="fr-FR" sz="2400" dirty="0">
                <a:latin typeface="+mj-lt"/>
              </a:rPr>
              <a:t> </a:t>
            </a:r>
            <a:r>
              <a:rPr lang="fr-FR" sz="2400" dirty="0" err="1">
                <a:latin typeface="+mj-lt"/>
              </a:rPr>
              <a:t>Latinorum</a:t>
            </a:r>
            <a:r>
              <a:rPr lang="fr-FR" sz="2400" dirty="0">
                <a:latin typeface="+mj-lt"/>
              </a:rPr>
              <a:t>  "Dix dialogues sur l'histoire des poètes tant grecs que </a:t>
            </a:r>
            <a:r>
              <a:rPr lang="fr-FR" sz="2400" dirty="0" smtClean="0">
                <a:latin typeface="+mj-lt"/>
              </a:rPr>
              <a:t>latins« </a:t>
            </a:r>
          </a:p>
          <a:p>
            <a:pPr algn="just"/>
            <a:r>
              <a:rPr lang="fr-FR" sz="2400" dirty="0" smtClean="0">
                <a:latin typeface="+mj-lt"/>
              </a:rPr>
              <a:t>Contexte </a:t>
            </a:r>
            <a:r>
              <a:rPr lang="fr-FR" sz="2400" dirty="0">
                <a:latin typeface="+mj-lt"/>
              </a:rPr>
              <a:t>: Commencé à </a:t>
            </a:r>
            <a:r>
              <a:rPr lang="fr-FR" sz="2400" dirty="0" err="1">
                <a:latin typeface="+mj-lt"/>
              </a:rPr>
              <a:t>Carpi</a:t>
            </a:r>
            <a:r>
              <a:rPr lang="fr-FR" sz="2400" dirty="0">
                <a:latin typeface="+mj-lt"/>
              </a:rPr>
              <a:t> (vers 1502-1505) sous la protection d'Alberto III </a:t>
            </a:r>
            <a:r>
              <a:rPr lang="fr-FR" sz="2400" dirty="0" err="1">
                <a:latin typeface="+mj-lt"/>
              </a:rPr>
              <a:t>Pio</a:t>
            </a:r>
            <a:r>
              <a:rPr lang="fr-FR" sz="2400" dirty="0" smtClean="0">
                <a:latin typeface="+mj-lt"/>
              </a:rPr>
              <a:t>.</a:t>
            </a:r>
          </a:p>
          <a:p>
            <a:pPr algn="just"/>
            <a:r>
              <a:rPr lang="fr-FR" sz="2400" dirty="0" smtClean="0">
                <a:latin typeface="+mj-lt"/>
              </a:rPr>
              <a:t>L'ambition </a:t>
            </a:r>
            <a:r>
              <a:rPr lang="fr-FR" sz="2400" dirty="0">
                <a:latin typeface="+mj-lt"/>
              </a:rPr>
              <a:t>: Offrir une vue d'ensemble systématique de la poésie antique, classée non pas par ordre alphabétique, mais thématique et </a:t>
            </a:r>
            <a:r>
              <a:rPr lang="fr-FR" sz="2400" dirty="0" smtClean="0">
                <a:latin typeface="+mj-lt"/>
              </a:rPr>
              <a:t>chronologique. </a:t>
            </a:r>
            <a:r>
              <a:rPr lang="fr-FR" sz="2400" dirty="0" smtClean="0"/>
              <a:t>Publié </a:t>
            </a:r>
            <a:r>
              <a:rPr lang="fr-FR" sz="2400" dirty="0"/>
              <a:t>pour la première fois à Bâle en 1545 chez l'imprimeur Michael Isengrin. Le titre complet précise que l'ouvrage exprime la vie et les écrits des poètes de manière à faciliter l'étude pour les lecteurs ("</a:t>
            </a:r>
            <a:r>
              <a:rPr lang="fr-FR" sz="2400" i="1" dirty="0"/>
              <a:t>ut </a:t>
            </a:r>
            <a:r>
              <a:rPr lang="fr-FR" sz="2400" i="1" dirty="0" err="1"/>
              <a:t>ea</a:t>
            </a:r>
            <a:r>
              <a:rPr lang="fr-FR" sz="2400" i="1" dirty="0"/>
              <a:t> </a:t>
            </a:r>
            <a:r>
              <a:rPr lang="fr-FR" sz="2400" i="1" dirty="0" err="1"/>
              <a:t>perdiscere</a:t>
            </a:r>
            <a:r>
              <a:rPr lang="fr-FR" sz="2400" i="1" dirty="0"/>
              <a:t> </a:t>
            </a:r>
            <a:r>
              <a:rPr lang="fr-FR" sz="2400" i="1" dirty="0" err="1"/>
              <a:t>cupientibus</a:t>
            </a:r>
            <a:r>
              <a:rPr lang="fr-FR" sz="2400" i="1" dirty="0"/>
              <a:t>, minimum </a:t>
            </a:r>
            <a:r>
              <a:rPr lang="fr-FR" sz="2400" i="1" dirty="0" err="1"/>
              <a:t>iam</a:t>
            </a:r>
            <a:r>
              <a:rPr lang="fr-FR" sz="2400" i="1" dirty="0"/>
              <a:t> </a:t>
            </a:r>
            <a:r>
              <a:rPr lang="fr-FR" sz="2400" i="1" dirty="0" err="1"/>
              <a:t>laboris</a:t>
            </a:r>
            <a:r>
              <a:rPr lang="fr-FR" sz="2400" i="1" dirty="0"/>
              <a:t> esse </a:t>
            </a:r>
            <a:r>
              <a:rPr lang="fr-FR" sz="2400" i="1" dirty="0" err="1"/>
              <a:t>queat</a:t>
            </a:r>
            <a:r>
              <a:rPr lang="fr-FR" sz="2400" dirty="0"/>
              <a:t>").</a:t>
            </a:r>
            <a:endParaRPr lang="fr-FR" sz="2400" dirty="0" smtClean="0">
              <a:latin typeface="+mj-lt"/>
            </a:endParaRPr>
          </a:p>
          <a:p>
            <a:pPr algn="just"/>
            <a:r>
              <a:rPr lang="fr-FR" sz="2400" dirty="0" smtClean="0">
                <a:latin typeface="+mj-lt"/>
              </a:rPr>
              <a:t>Structure </a:t>
            </a:r>
            <a:r>
              <a:rPr lang="fr-FR" sz="2400" dirty="0">
                <a:latin typeface="+mj-lt"/>
              </a:rPr>
              <a:t>: 10 dialogues (entretiens fictifs entre érudits) explorant les origines de la poésie jusqu'aux auteurs de l'Antiquité tardive.</a:t>
            </a:r>
          </a:p>
        </p:txBody>
      </p:sp>
    </p:spTree>
    <p:extLst>
      <p:ext uri="{BB962C8B-B14F-4D97-AF65-F5344CB8AC3E}">
        <p14:creationId xmlns:p14="http://schemas.microsoft.com/office/powerpoint/2010/main" val="3981815019"/>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pPr algn="ctr"/>
            <a:r>
              <a:rPr lang="fr-FR" dirty="0" err="1" smtClean="0"/>
              <a:t>Lilio</a:t>
            </a:r>
            <a:r>
              <a:rPr lang="fr-FR" dirty="0" smtClean="0"/>
              <a:t> Gregorio </a:t>
            </a:r>
            <a:r>
              <a:rPr lang="fr-FR" dirty="0" err="1" smtClean="0"/>
              <a:t>giraldi</a:t>
            </a:r>
            <a:endParaRPr lang="fr-FR" dirty="0"/>
          </a:p>
        </p:txBody>
      </p:sp>
      <p:sp>
        <p:nvSpPr>
          <p:cNvPr id="5" name="Content Placeholder 4"/>
          <p:cNvSpPr>
            <a:spLocks noGrp="1"/>
          </p:cNvSpPr>
          <p:nvPr>
            <p:ph idx="1"/>
          </p:nvPr>
        </p:nvSpPr>
        <p:spPr>
          <a:xfrm>
            <a:off x="581192" y="2180496"/>
            <a:ext cx="11029615" cy="4220304"/>
          </a:xfrm>
        </p:spPr>
        <p:txBody>
          <a:bodyPr>
            <a:normAutofit lnSpcReduction="10000"/>
          </a:bodyPr>
          <a:lstStyle/>
          <a:p>
            <a:pPr algn="just"/>
            <a:r>
              <a:rPr lang="fr-FR" sz="2400" dirty="0" smtClean="0">
                <a:latin typeface="+mj-lt"/>
              </a:rPr>
              <a:t>Méthodologie : </a:t>
            </a:r>
          </a:p>
          <a:p>
            <a:pPr algn="just"/>
            <a:r>
              <a:rPr lang="fr-FR" sz="2400" dirty="0" smtClean="0">
                <a:latin typeface="+mj-lt"/>
              </a:rPr>
              <a:t>Érudition </a:t>
            </a:r>
            <a:r>
              <a:rPr lang="fr-FR" sz="2400" dirty="0">
                <a:latin typeface="+mj-lt"/>
              </a:rPr>
              <a:t>philologique : </a:t>
            </a:r>
            <a:r>
              <a:rPr lang="fr-FR" sz="2400" dirty="0" err="1">
                <a:latin typeface="+mj-lt"/>
              </a:rPr>
              <a:t>Giraldi</a:t>
            </a:r>
            <a:r>
              <a:rPr lang="fr-FR" sz="2400" dirty="0">
                <a:latin typeface="+mj-lt"/>
              </a:rPr>
              <a:t> s'appuie sur une connaissance profonde des textes originaux (souvent redécouverts à la Renaissance</a:t>
            </a:r>
            <a:r>
              <a:rPr lang="fr-FR" sz="2400" dirty="0" smtClean="0">
                <a:latin typeface="+mj-lt"/>
              </a:rPr>
              <a:t>).</a:t>
            </a:r>
          </a:p>
          <a:p>
            <a:pPr algn="just"/>
            <a:r>
              <a:rPr lang="fr-FR" sz="2400" dirty="0" smtClean="0">
                <a:latin typeface="+mj-lt"/>
              </a:rPr>
              <a:t>Approche </a:t>
            </a:r>
            <a:r>
              <a:rPr lang="fr-FR" sz="2400" dirty="0">
                <a:latin typeface="+mj-lt"/>
              </a:rPr>
              <a:t>critique : Il ne se contente pas de lister les noms ; il analyse le style et l'importance historique des </a:t>
            </a:r>
            <a:r>
              <a:rPr lang="fr-FR" sz="2400" dirty="0" smtClean="0">
                <a:latin typeface="+mj-lt"/>
              </a:rPr>
              <a:t>auteurs.</a:t>
            </a:r>
          </a:p>
          <a:p>
            <a:pPr algn="just"/>
            <a:r>
              <a:rPr lang="fr-FR" sz="2400" dirty="0" smtClean="0">
                <a:latin typeface="+mj-lt"/>
              </a:rPr>
              <a:t>Le </a:t>
            </a:r>
            <a:r>
              <a:rPr lang="fr-FR" sz="2400" dirty="0">
                <a:latin typeface="+mj-lt"/>
              </a:rPr>
              <a:t>genre du dialogue : Utilise la forme platonicienne/cicéronienne pour rendre l'histoire littéraire vivante et débattue</a:t>
            </a:r>
            <a:r>
              <a:rPr lang="fr-FR" sz="2400" dirty="0" smtClean="0">
                <a:latin typeface="+mj-lt"/>
              </a:rPr>
              <a:t>. </a:t>
            </a:r>
            <a:r>
              <a:rPr lang="fr-FR" sz="2400" dirty="0"/>
              <a:t>Travaux de Claudia </a:t>
            </a:r>
            <a:r>
              <a:rPr lang="fr-FR" sz="2400" dirty="0" err="1"/>
              <a:t>Pandolfi</a:t>
            </a:r>
            <a:r>
              <a:rPr lang="fr-FR" sz="2400" dirty="0"/>
              <a:t> (1999) &amp; John N. Grant (2011) : Les introductions de leurs éditions </a:t>
            </a:r>
            <a:r>
              <a:rPr lang="fr-FR" sz="2400" dirty="0" smtClean="0"/>
              <a:t>critiques détaillent </a:t>
            </a:r>
            <a:r>
              <a:rPr lang="fr-FR" sz="2400" dirty="0"/>
              <a:t>la méthode philologique de </a:t>
            </a:r>
            <a:r>
              <a:rPr lang="fr-FR" sz="2400" dirty="0" err="1"/>
              <a:t>Giraldi</a:t>
            </a:r>
            <a:r>
              <a:rPr lang="fr-FR" sz="2400" dirty="0"/>
              <a:t>. Ils expliquent comment il confronte les sources grecques et latines et utilise le dialogue humaniste (forme inspirée de Cicéron et Platon) pour débattre de la qualité esthétique des textes.</a:t>
            </a:r>
            <a:endParaRPr lang="fr-FR" sz="2400" dirty="0">
              <a:latin typeface="+mj-lt"/>
            </a:endParaRPr>
          </a:p>
        </p:txBody>
      </p:sp>
    </p:spTree>
    <p:extLst>
      <p:ext uri="{BB962C8B-B14F-4D97-AF65-F5344CB8AC3E}">
        <p14:creationId xmlns:p14="http://schemas.microsoft.com/office/powerpoint/2010/main" val="1111448807"/>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pPr algn="ctr"/>
            <a:r>
              <a:rPr lang="fr-FR" dirty="0" err="1" smtClean="0"/>
              <a:t>Lilio</a:t>
            </a:r>
            <a:r>
              <a:rPr lang="fr-FR" dirty="0" smtClean="0"/>
              <a:t> Gregorio </a:t>
            </a:r>
            <a:r>
              <a:rPr lang="fr-FR" dirty="0" err="1" smtClean="0"/>
              <a:t>giraldi</a:t>
            </a:r>
            <a:endParaRPr lang="fr-FR" dirty="0"/>
          </a:p>
        </p:txBody>
      </p:sp>
      <p:sp>
        <p:nvSpPr>
          <p:cNvPr id="5" name="Content Placeholder 4"/>
          <p:cNvSpPr>
            <a:spLocks noGrp="1"/>
          </p:cNvSpPr>
          <p:nvPr>
            <p:ph idx="1"/>
          </p:nvPr>
        </p:nvSpPr>
        <p:spPr>
          <a:xfrm>
            <a:off x="581192" y="2180496"/>
            <a:ext cx="11029615" cy="4220304"/>
          </a:xfrm>
        </p:spPr>
        <p:txBody>
          <a:bodyPr>
            <a:normAutofit/>
          </a:bodyPr>
          <a:lstStyle/>
          <a:p>
            <a:pPr algn="just"/>
            <a:r>
              <a:rPr lang="fr-FR" sz="2400" dirty="0" smtClean="0">
                <a:latin typeface="+mj-lt"/>
              </a:rPr>
              <a:t>Postérité </a:t>
            </a:r>
            <a:r>
              <a:rPr lang="fr-FR" sz="2400" dirty="0">
                <a:latin typeface="+mj-lt"/>
              </a:rPr>
              <a:t>et </a:t>
            </a:r>
            <a:r>
              <a:rPr lang="fr-FR" sz="2400" dirty="0" smtClean="0">
                <a:latin typeface="+mj-lt"/>
              </a:rPr>
              <a:t>Influence</a:t>
            </a:r>
          </a:p>
          <a:p>
            <a:pPr algn="just"/>
            <a:r>
              <a:rPr lang="fr-FR" sz="2400" dirty="0" smtClean="0">
                <a:latin typeface="+mj-lt"/>
              </a:rPr>
              <a:t>Un </a:t>
            </a:r>
            <a:r>
              <a:rPr lang="fr-FR" sz="2400" dirty="0">
                <a:latin typeface="+mj-lt"/>
              </a:rPr>
              <a:t>pont entre les âges : </a:t>
            </a:r>
            <a:r>
              <a:rPr lang="fr-FR" sz="2400" dirty="0" err="1">
                <a:latin typeface="+mj-lt"/>
              </a:rPr>
              <a:t>Giraldi</a:t>
            </a:r>
            <a:r>
              <a:rPr lang="fr-FR" sz="2400" dirty="0">
                <a:latin typeface="+mj-lt"/>
              </a:rPr>
              <a:t> a complété ce travail par le De </a:t>
            </a:r>
            <a:r>
              <a:rPr lang="fr-FR" sz="2400" dirty="0" err="1">
                <a:latin typeface="+mj-lt"/>
              </a:rPr>
              <a:t>poetis</a:t>
            </a:r>
            <a:r>
              <a:rPr lang="fr-FR" sz="2400" dirty="0">
                <a:latin typeface="+mj-lt"/>
              </a:rPr>
              <a:t> </a:t>
            </a:r>
            <a:r>
              <a:rPr lang="fr-FR" sz="2400" dirty="0" err="1">
                <a:latin typeface="+mj-lt"/>
              </a:rPr>
              <a:t>nostrorum</a:t>
            </a:r>
            <a:r>
              <a:rPr lang="fr-FR" sz="2400" dirty="0">
                <a:latin typeface="+mj-lt"/>
              </a:rPr>
              <a:t> </a:t>
            </a:r>
            <a:r>
              <a:rPr lang="fr-FR" sz="2400" dirty="0" err="1">
                <a:latin typeface="+mj-lt"/>
              </a:rPr>
              <a:t>temporum</a:t>
            </a:r>
            <a:r>
              <a:rPr lang="fr-FR" sz="2400" dirty="0">
                <a:latin typeface="+mj-lt"/>
              </a:rPr>
              <a:t> (Sur les poètes de notre temps), créant un lien entre l'Antiquité et la modernité.     </a:t>
            </a:r>
            <a:endParaRPr lang="fr-FR" sz="2400" dirty="0" smtClean="0">
              <a:latin typeface="+mj-lt"/>
            </a:endParaRPr>
          </a:p>
          <a:p>
            <a:pPr algn="just"/>
            <a:r>
              <a:rPr lang="fr-FR" sz="2400" dirty="0" smtClean="0">
                <a:latin typeface="+mj-lt"/>
              </a:rPr>
              <a:t>Référence </a:t>
            </a:r>
            <a:r>
              <a:rPr lang="fr-FR" sz="2400" dirty="0">
                <a:latin typeface="+mj-lt"/>
              </a:rPr>
              <a:t>européenne : Ses œuvres ont été rééditées à Bâle (1580) et Leyde (1696), prouvant son influence durable sur les universités </a:t>
            </a:r>
            <a:r>
              <a:rPr lang="fr-FR" sz="2400" dirty="0" smtClean="0">
                <a:latin typeface="+mj-lt"/>
              </a:rPr>
              <a:t>européennes.</a:t>
            </a:r>
          </a:p>
          <a:p>
            <a:pPr algn="just"/>
            <a:r>
              <a:rPr lang="fr-FR" sz="2400" dirty="0" smtClean="0">
                <a:latin typeface="+mj-lt"/>
              </a:rPr>
              <a:t>L'évhémérisme </a:t>
            </a:r>
            <a:r>
              <a:rPr lang="fr-FR" sz="2400" dirty="0">
                <a:latin typeface="+mj-lt"/>
              </a:rPr>
              <a:t>: Dans ses travaux, il défend l'idée que les dieux grecs étaient à l'origine des hommes divinisés, influençant la pensée rationaliste naissante.</a:t>
            </a:r>
          </a:p>
        </p:txBody>
      </p:sp>
    </p:spTree>
    <p:extLst>
      <p:ext uri="{BB962C8B-B14F-4D97-AF65-F5344CB8AC3E}">
        <p14:creationId xmlns:p14="http://schemas.microsoft.com/office/powerpoint/2010/main" val="2510387405"/>
      </p:ext>
    </p:extLst>
  </p:cSld>
  <p:clrMapOvr>
    <a:masterClrMapping/>
  </p:clrMapOvr>
</p:sld>
</file>

<file path=ppt/theme/theme1.xml><?xml version="1.0" encoding="utf-8"?>
<a:theme xmlns:a="http://schemas.openxmlformats.org/drawingml/2006/main" name="Dividend">
  <a:themeElements>
    <a:clrScheme name="Dividend">
      <a:dk1>
        <a:sysClr val="windowText" lastClr="000000"/>
      </a:dk1>
      <a:lt1>
        <a:sysClr val="window" lastClr="FFFFFF"/>
      </a:lt1>
      <a:dk2>
        <a:srgbClr val="3D3D3D"/>
      </a:dk2>
      <a:lt2>
        <a:srgbClr val="EBEBEB"/>
      </a:lt2>
      <a:accent1>
        <a:srgbClr val="4D1434"/>
      </a:accent1>
      <a:accent2>
        <a:srgbClr val="903163"/>
      </a:accent2>
      <a:accent3>
        <a:srgbClr val="B2324B"/>
      </a:accent3>
      <a:accent4>
        <a:srgbClr val="969FA7"/>
      </a:accent4>
      <a:accent5>
        <a:srgbClr val="66B1CE"/>
      </a:accent5>
      <a:accent6>
        <a:srgbClr val="40619D"/>
      </a:accent6>
      <a:hlink>
        <a:srgbClr val="828282"/>
      </a:hlink>
      <a:folHlink>
        <a:srgbClr val="A5A5A5"/>
      </a:folHlink>
    </a:clrScheme>
    <a:fontScheme name="Dividend">
      <a:majorFont>
        <a:latin typeface="Gill Sans MT" panose="020B0502020104020203"/>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Gill Sans MT" panose="020B0502020104020203"/>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Dividend">
      <a:fillStyleLst>
        <a:solidFill>
          <a:schemeClr val="phClr"/>
        </a:solidFill>
        <a:gradFill rotWithShape="1">
          <a:gsLst>
            <a:gs pos="0">
              <a:schemeClr val="phClr">
                <a:tint val="68000"/>
                <a:alpha val="90000"/>
                <a:lumMod val="100000"/>
              </a:schemeClr>
            </a:gs>
            <a:gs pos="100000">
              <a:schemeClr val="phClr">
                <a:tint val="90000"/>
                <a:lumMod val="95000"/>
              </a:schemeClr>
            </a:gs>
          </a:gsLst>
          <a:lin ang="5400000" scaled="1"/>
        </a:gradFill>
        <a:gradFill rotWithShape="1">
          <a:gsLst>
            <a:gs pos="0">
              <a:schemeClr val="phClr">
                <a:tint val="98000"/>
                <a:lumMod val="110000"/>
              </a:schemeClr>
            </a:gs>
            <a:gs pos="84000">
              <a:schemeClr val="phClr">
                <a:shade val="90000"/>
                <a:lumMod val="88000"/>
              </a:schemeClr>
            </a:gs>
          </a:gsLst>
          <a:lin ang="5400000" scaled="0"/>
        </a:gradFill>
      </a:fillStyleLst>
      <a:lnStyleLst>
        <a:ln w="12700" cap="rnd" cmpd="sng" algn="ctr">
          <a:solidFill>
            <a:schemeClr val="phClr">
              <a:lumMod val="90000"/>
            </a:schemeClr>
          </a:solidFill>
          <a:prstDash val="solid"/>
        </a:ln>
        <a:ln w="22225"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55000"/>
              </a:srgbClr>
            </a:outerShdw>
          </a:effectLst>
        </a:effectStyle>
        <a:effectStyle>
          <a:effectLst>
            <a:outerShdw blurRad="88900" dist="38100" dir="5040000" rotWithShape="0">
              <a:srgbClr val="000000">
                <a:alpha val="60000"/>
              </a:srgbClr>
            </a:outerShdw>
          </a:effectLst>
          <a:scene3d>
            <a:camera prst="orthographicFront">
              <a:rot lat="0" lon="0" rev="0"/>
            </a:camera>
            <a:lightRig rig="threePt" dir="tl">
              <a:rot lat="0" lon="0" rev="1200000"/>
            </a:lightRig>
          </a:scene3d>
          <a:sp3d>
            <a:bevelT w="38100" h="50800"/>
          </a:sp3d>
        </a:effectStyle>
      </a:effectStyleLst>
      <a:bgFillStyleLst>
        <a:solidFill>
          <a:schemeClr val="phClr"/>
        </a:solidFill>
        <a:gradFill rotWithShape="1">
          <a:gsLst>
            <a:gs pos="0">
              <a:schemeClr val="phClr">
                <a:tint val="90000"/>
                <a:lumMod val="110000"/>
              </a:schemeClr>
            </a:gs>
            <a:gs pos="88000">
              <a:schemeClr val="phClr">
                <a:shade val="94000"/>
                <a:satMod val="110000"/>
                <a:lumMod val="88000"/>
              </a:schemeClr>
            </a:gs>
          </a:gsLst>
          <a:lin ang="5400000" scaled="0"/>
        </a:gradFill>
        <a:gradFill rotWithShape="1">
          <a:gsLst>
            <a:gs pos="0">
              <a:schemeClr val="phClr">
                <a:tint val="90000"/>
                <a:lumMod val="110000"/>
              </a:schemeClr>
            </a:gs>
            <a:gs pos="100000">
              <a:schemeClr val="phClr">
                <a:shade val="98000"/>
                <a:satMod val="110000"/>
                <a:lumMod val="8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Dividend" id="{9697A71B-4AB7-4A1A-BD5B-BB2D22835B57}" vid="{C21699FF-00E4-43C8-BBCC-D7E5536C3717}"/>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Dividend</Template>
  <TotalTime>1338</TotalTime>
  <Words>3648</Words>
  <Application>Microsoft Office PowerPoint</Application>
  <PresentationFormat>Widescreen</PresentationFormat>
  <Paragraphs>138</Paragraphs>
  <Slides>29</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29</vt:i4>
      </vt:variant>
    </vt:vector>
  </HeadingPairs>
  <TitlesOfParts>
    <vt:vector size="33" baseType="lpstr">
      <vt:lpstr>Calibri</vt:lpstr>
      <vt:lpstr>Gill Sans MT</vt:lpstr>
      <vt:lpstr>Wingdings 2</vt:lpstr>
      <vt:lpstr>Dividend</vt:lpstr>
      <vt:lpstr>Réception de l’antiquité </vt:lpstr>
      <vt:lpstr>Petrus crinitus</vt:lpstr>
      <vt:lpstr>Petrus crinitus Contexte</vt:lpstr>
      <vt:lpstr>Petrus crinitus Repères</vt:lpstr>
      <vt:lpstr>Petrus crinitus Lien avec Ange Politien</vt:lpstr>
      <vt:lpstr>Petrus crinitus ŒUVRES Encyclopédique</vt:lpstr>
      <vt:lpstr>Petrus crinitus De poetis latinis</vt:lpstr>
      <vt:lpstr>Petrus crinitus DE POETIS LATINIS</vt:lpstr>
      <vt:lpstr>Petrus crinitus De poetis latinis</vt:lpstr>
      <vt:lpstr>Petrus crinitus isidore et les QUATRE Périodes</vt:lpstr>
      <vt:lpstr>Petrus crinitus Débat sur la langue latine</vt:lpstr>
      <vt:lpstr>Petrus crinitus Souci de la chronologie</vt:lpstr>
      <vt:lpstr>Petrus crinitus Intérêt pour le fait religieux</vt:lpstr>
      <vt:lpstr>Petrus crinitus Littérature et politique</vt:lpstr>
      <vt:lpstr>Petrus crinitus Littérature et politique</vt:lpstr>
      <vt:lpstr>Petrus crinitus Littérature et politique</vt:lpstr>
      <vt:lpstr>Petrus crinitus Littérature et politique</vt:lpstr>
      <vt:lpstr>Petrus crinitus Les poètes</vt:lpstr>
      <vt:lpstr>Petrus crinitus Les poètes</vt:lpstr>
      <vt:lpstr>Petrus crinitus Les poètes</vt:lpstr>
      <vt:lpstr>Petrus crinitus Les poètes</vt:lpstr>
      <vt:lpstr>Petrus crinitus Les poètes</vt:lpstr>
      <vt:lpstr>Lilio Gregorio Giraldi</vt:lpstr>
      <vt:lpstr>Lilio Gregorio giraldi</vt:lpstr>
      <vt:lpstr>Lilio Gregorio giraldi</vt:lpstr>
      <vt:lpstr>Lilio Gregorio giraldi</vt:lpstr>
      <vt:lpstr>Lilio Gregorio giraldi</vt:lpstr>
      <vt:lpstr>Lilio Gregorio giraldi</vt:lpstr>
      <vt:lpstr>Lilio Gregorio giraldi</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Réception de l’antiquité</dc:title>
  <dc:creator>Anonyme</dc:creator>
  <cp:lastModifiedBy>Anonyme</cp:lastModifiedBy>
  <cp:revision>59</cp:revision>
  <dcterms:created xsi:type="dcterms:W3CDTF">2026-01-13T20:31:16Z</dcterms:created>
  <dcterms:modified xsi:type="dcterms:W3CDTF">2026-02-05T08:53:57Z</dcterms:modified>
</cp:coreProperties>
</file>
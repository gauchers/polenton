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notesMasterIdLst>
    <p:notesMasterId r:id="rId51"/>
  </p:notesMasterIdLst>
  <p:sldIdLst>
    <p:sldId id="256" r:id="rId2"/>
    <p:sldId id="324" r:id="rId3"/>
    <p:sldId id="325" r:id="rId4"/>
    <p:sldId id="326" r:id="rId5"/>
    <p:sldId id="327" r:id="rId6"/>
    <p:sldId id="328" r:id="rId7"/>
    <p:sldId id="329" r:id="rId8"/>
    <p:sldId id="330" r:id="rId9"/>
    <p:sldId id="331" r:id="rId10"/>
    <p:sldId id="332" r:id="rId11"/>
    <p:sldId id="333" r:id="rId12"/>
    <p:sldId id="334" r:id="rId13"/>
    <p:sldId id="335" r:id="rId14"/>
    <p:sldId id="336" r:id="rId15"/>
    <p:sldId id="337" r:id="rId16"/>
    <p:sldId id="322" r:id="rId17"/>
    <p:sldId id="317" r:id="rId18"/>
    <p:sldId id="318" r:id="rId19"/>
    <p:sldId id="319" r:id="rId20"/>
    <p:sldId id="360" r:id="rId21"/>
    <p:sldId id="361" r:id="rId22"/>
    <p:sldId id="320" r:id="rId23"/>
    <p:sldId id="321" r:id="rId24"/>
    <p:sldId id="362" r:id="rId25"/>
    <p:sldId id="364" r:id="rId26"/>
    <p:sldId id="365" r:id="rId27"/>
    <p:sldId id="366" r:id="rId28"/>
    <p:sldId id="338" r:id="rId29"/>
    <p:sldId id="339" r:id="rId30"/>
    <p:sldId id="340" r:id="rId31"/>
    <p:sldId id="341" r:id="rId32"/>
    <p:sldId id="342" r:id="rId33"/>
    <p:sldId id="343" r:id="rId34"/>
    <p:sldId id="344" r:id="rId35"/>
    <p:sldId id="345" r:id="rId36"/>
    <p:sldId id="346" r:id="rId37"/>
    <p:sldId id="347" r:id="rId38"/>
    <p:sldId id="348" r:id="rId39"/>
    <p:sldId id="349" r:id="rId40"/>
    <p:sldId id="350" r:id="rId41"/>
    <p:sldId id="351" r:id="rId42"/>
    <p:sldId id="352" r:id="rId43"/>
    <p:sldId id="353" r:id="rId44"/>
    <p:sldId id="354" r:id="rId45"/>
    <p:sldId id="355" r:id="rId46"/>
    <p:sldId id="356" r:id="rId47"/>
    <p:sldId id="357" r:id="rId48"/>
    <p:sldId id="358" r:id="rId49"/>
    <p:sldId id="359"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dirty="0"/>
              <a:t>Auteurs </a:t>
            </a:r>
            <a:r>
              <a:rPr lang="en-US" dirty="0" err="1" smtClean="0"/>
              <a:t>latins</a:t>
            </a:r>
            <a:r>
              <a:rPr lang="en-US" dirty="0" smtClean="0"/>
              <a:t> </a:t>
            </a:r>
            <a:r>
              <a:rPr lang="en-US" dirty="0" err="1" smtClean="0"/>
              <a:t>connus</a:t>
            </a:r>
            <a:r>
              <a:rPr lang="en-US" dirty="0" smtClean="0"/>
              <a:t> </a:t>
            </a:r>
            <a:r>
              <a:rPr lang="en-US" dirty="0"/>
              <a:t>(772)</a:t>
            </a:r>
          </a:p>
        </c:rich>
      </c:tx>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fr-FR"/>
        </a:p>
      </c:txPr>
    </c:title>
    <c:autoTitleDeleted val="0"/>
    <c:plotArea>
      <c:layout/>
      <c:pieChart>
        <c:varyColors val="1"/>
        <c:ser>
          <c:idx val="0"/>
          <c:order val="0"/>
          <c:tx>
            <c:strRef>
              <c:f>Sheet1!$B$1</c:f>
              <c:strCache>
                <c:ptCount val="1"/>
                <c:pt idx="0">
                  <c:v>Auteurs latins (772)</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95AF-4020-AD8E-D05DB09B7350}"/>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4-A28E-409B-AAAD-6C8654C6363B}"/>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95AF-4020-AD8E-D05DB09B7350}"/>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fr-FR"/>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15:layout/>
              </c:ext>
            </c:extLst>
          </c:dLbls>
          <c:cat>
            <c:strRef>
              <c:f>Sheet1!$A$2:$A$4</c:f>
              <c:strCache>
                <c:ptCount val="3"/>
                <c:pt idx="0">
                  <c:v>Perdus (276)</c:v>
                </c:pt>
                <c:pt idx="1">
                  <c:v>Fragmentaires (352)</c:v>
                </c:pt>
                <c:pt idx="2">
                  <c:v>Ayant légué au moins une œuvre complète (144)</c:v>
                </c:pt>
              </c:strCache>
            </c:strRef>
          </c:cat>
          <c:val>
            <c:numRef>
              <c:f>Sheet1!$B$2:$B$4</c:f>
              <c:numCache>
                <c:formatCode>General</c:formatCode>
                <c:ptCount val="3"/>
                <c:pt idx="0">
                  <c:v>276</c:v>
                </c:pt>
                <c:pt idx="1">
                  <c:v>352</c:v>
                </c:pt>
                <c:pt idx="2">
                  <c:v>144</c:v>
                </c:pt>
              </c:numCache>
            </c:numRef>
          </c:val>
          <c:extLst>
            <c:ext xmlns:c16="http://schemas.microsoft.com/office/drawing/2014/chart" uri="{C3380CC4-5D6E-409C-BE32-E72D297353CC}">
              <c16:uniqueId val="{00000000-A28E-409B-AAAD-6C8654C6363B}"/>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54443525391680225"/>
          <c:y val="0.37513261695824796"/>
          <c:w val="0.43932443725305187"/>
          <c:h val="0.45737292423900938"/>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1600" b="0" i="0" u="none" strike="noStrike" kern="1200" baseline="0">
              <a:solidFill>
                <a:schemeClr val="dk1">
                  <a:lumMod val="75000"/>
                  <a:lumOff val="25000"/>
                </a:schemeClr>
              </a:solidFill>
              <a:latin typeface="+mn-lt"/>
              <a:ea typeface="+mn-ea"/>
              <a:cs typeface="+mn-cs"/>
            </a:defRPr>
          </a:pPr>
          <a:endParaRPr lang="fr-FR"/>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40DDA3-DCEC-4D3C-BC10-27A038A97D15}" type="datetimeFigureOut">
              <a:rPr lang="fr-FR" smtClean="0"/>
              <a:t>22/01/2026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BCE823-D029-42D5-BEEB-4B90F8E77180}" type="slidenum">
              <a:rPr lang="fr-FR" smtClean="0"/>
              <a:t>‹#›</a:t>
            </a:fld>
            <a:endParaRPr lang="fr-FR"/>
          </a:p>
        </p:txBody>
      </p:sp>
    </p:spTree>
    <p:extLst>
      <p:ext uri="{BB962C8B-B14F-4D97-AF65-F5344CB8AC3E}">
        <p14:creationId xmlns:p14="http://schemas.microsoft.com/office/powerpoint/2010/main" val="1682322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9376B0A1-23F9-4558-AEF1-6B2B88A883A3}" type="slidenum">
              <a:t>4</a:t>
            </a:fld>
            <a:endParaRPr lang="fr-FR"/>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fr-FR"/>
          </a:p>
        </p:txBody>
      </p:sp>
    </p:spTree>
    <p:extLst>
      <p:ext uri="{BB962C8B-B14F-4D97-AF65-F5344CB8AC3E}">
        <p14:creationId xmlns:p14="http://schemas.microsoft.com/office/powerpoint/2010/main" val="4007368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9376B0A1-23F9-4558-AEF1-6B2B88A883A3}" type="slidenum">
              <a:t>5</a:t>
            </a:fld>
            <a:endParaRPr lang="fr-FR"/>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fr-FR"/>
          </a:p>
        </p:txBody>
      </p:sp>
    </p:spTree>
    <p:extLst>
      <p:ext uri="{BB962C8B-B14F-4D97-AF65-F5344CB8AC3E}">
        <p14:creationId xmlns:p14="http://schemas.microsoft.com/office/powerpoint/2010/main" val="1306073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60AAE1DC-BC7A-43E9-8CF9-3F5D722167EC}" type="slidenum">
              <a:t>6</a:t>
            </a:fld>
            <a:endParaRPr lang="fr-FR"/>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fr-FR"/>
          </a:p>
        </p:txBody>
      </p:sp>
    </p:spTree>
    <p:extLst>
      <p:ext uri="{BB962C8B-B14F-4D97-AF65-F5344CB8AC3E}">
        <p14:creationId xmlns:p14="http://schemas.microsoft.com/office/powerpoint/2010/main" val="4213077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51910628-DC6F-40C5-9762-4F7DA5161E28}" type="slidenum">
              <a:t>7</a:t>
            </a:fld>
            <a:endParaRPr lang="fr-FR"/>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fr-FR"/>
          </a:p>
        </p:txBody>
      </p:sp>
    </p:spTree>
    <p:extLst>
      <p:ext uri="{BB962C8B-B14F-4D97-AF65-F5344CB8AC3E}">
        <p14:creationId xmlns:p14="http://schemas.microsoft.com/office/powerpoint/2010/main" val="4285801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51910628-DC6F-40C5-9762-4F7DA5161E28}" type="slidenum">
              <a:t>8</a:t>
            </a:fld>
            <a:endParaRPr lang="fr-FR"/>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fr-FR"/>
          </a:p>
        </p:txBody>
      </p:sp>
    </p:spTree>
    <p:extLst>
      <p:ext uri="{BB962C8B-B14F-4D97-AF65-F5344CB8AC3E}">
        <p14:creationId xmlns:p14="http://schemas.microsoft.com/office/powerpoint/2010/main" val="3810517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51910628-DC6F-40C5-9762-4F7DA5161E28}" type="slidenum">
              <a:t>9</a:t>
            </a:fld>
            <a:endParaRPr lang="fr-FR"/>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fr-FR"/>
          </a:p>
        </p:txBody>
      </p:sp>
    </p:spTree>
    <p:extLst>
      <p:ext uri="{BB962C8B-B14F-4D97-AF65-F5344CB8AC3E}">
        <p14:creationId xmlns:p14="http://schemas.microsoft.com/office/powerpoint/2010/main" val="13048959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51910628-DC6F-40C5-9762-4F7DA5161E28}" type="slidenum">
              <a:t>10</a:t>
            </a:fld>
            <a:endParaRPr lang="fr-FR"/>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fr-FR"/>
          </a:p>
        </p:txBody>
      </p:sp>
    </p:spTree>
    <p:extLst>
      <p:ext uri="{BB962C8B-B14F-4D97-AF65-F5344CB8AC3E}">
        <p14:creationId xmlns:p14="http://schemas.microsoft.com/office/powerpoint/2010/main" val="26237938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51910628-DC6F-40C5-9762-4F7DA5161E28}" type="slidenum">
              <a:t>11</a:t>
            </a:fld>
            <a:endParaRPr lang="fr-FR"/>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fr-FR"/>
          </a:p>
        </p:txBody>
      </p:sp>
    </p:spTree>
    <p:extLst>
      <p:ext uri="{BB962C8B-B14F-4D97-AF65-F5344CB8AC3E}">
        <p14:creationId xmlns:p14="http://schemas.microsoft.com/office/powerpoint/2010/main" val="39158563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51910628-DC6F-40C5-9762-4F7DA5161E28}" type="slidenum">
              <a:t>12</a:t>
            </a:fld>
            <a:endParaRPr lang="fr-FR"/>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fr-FR"/>
          </a:p>
        </p:txBody>
      </p:sp>
    </p:spTree>
    <p:extLst>
      <p:ext uri="{BB962C8B-B14F-4D97-AF65-F5344CB8AC3E}">
        <p14:creationId xmlns:p14="http://schemas.microsoft.com/office/powerpoint/2010/main" val="21918870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51910628-DC6F-40C5-9762-4F7DA5161E28}" type="slidenum">
              <a:t>13</a:t>
            </a:fld>
            <a:endParaRPr lang="fr-FR"/>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fr-FR"/>
          </a:p>
        </p:txBody>
      </p:sp>
    </p:spTree>
    <p:extLst>
      <p:ext uri="{BB962C8B-B14F-4D97-AF65-F5344CB8AC3E}">
        <p14:creationId xmlns:p14="http://schemas.microsoft.com/office/powerpoint/2010/main" val="28993516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51910628-DC6F-40C5-9762-4F7DA5161E28}" type="slidenum">
              <a:t>14</a:t>
            </a:fld>
            <a:endParaRPr lang="fr-FR"/>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fr-FR"/>
          </a:p>
        </p:txBody>
      </p:sp>
    </p:spTree>
    <p:extLst>
      <p:ext uri="{BB962C8B-B14F-4D97-AF65-F5344CB8AC3E}">
        <p14:creationId xmlns:p14="http://schemas.microsoft.com/office/powerpoint/2010/main" val="26073642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0D7B645C-AA8A-47E6-BCDA-7B7C62390EE1}" type="slidenum">
              <a:t>15</a:t>
            </a:fld>
            <a:endParaRPr lang="fr-FR"/>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fr-FR"/>
          </a:p>
        </p:txBody>
      </p:sp>
    </p:spTree>
    <p:extLst>
      <p:ext uri="{BB962C8B-B14F-4D97-AF65-F5344CB8AC3E}">
        <p14:creationId xmlns:p14="http://schemas.microsoft.com/office/powerpoint/2010/main" val="1138997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390E70E-0C1F-4035-BC32-0CF1E8216255}" type="datetimeFigureOut">
              <a:rPr lang="fr-FR" smtClean="0"/>
              <a:t>22/01/2026</a:t>
            </a:fld>
            <a:endParaRPr lang="fr-F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fr-F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81E2B5AF-2CC4-42A0-AEE7-F37D224B8908}" type="slidenum">
              <a:rPr lang="fr-FR" smtClean="0"/>
              <a:t>‹#›</a:t>
            </a:fld>
            <a:endParaRPr lang="fr-FR"/>
          </a:p>
        </p:txBody>
      </p:sp>
    </p:spTree>
    <p:extLst>
      <p:ext uri="{BB962C8B-B14F-4D97-AF65-F5344CB8AC3E}">
        <p14:creationId xmlns:p14="http://schemas.microsoft.com/office/powerpoint/2010/main" val="1403338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90E70E-0C1F-4035-BC32-0CF1E8216255}" type="datetimeFigureOut">
              <a:rPr lang="fr-FR" smtClean="0"/>
              <a:t>22/01/2026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0558300" y="5956137"/>
            <a:ext cx="1052508" cy="365125"/>
          </a:xfrm>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3028668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9390E70E-0C1F-4035-BC32-0CF1E8216255}" type="datetimeFigureOut">
              <a:rPr lang="fr-FR" smtClean="0"/>
              <a:t>22/01/2026</a:t>
            </a:fld>
            <a:endParaRPr lang="fr-F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fr-F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81E2B5AF-2CC4-42A0-AEE7-F37D224B8908}" type="slidenum">
              <a:rPr lang="fr-FR" smtClean="0"/>
              <a:t>‹#›</a:t>
            </a:fld>
            <a:endParaRPr lang="fr-FR"/>
          </a:p>
        </p:txBody>
      </p:sp>
    </p:spTree>
    <p:extLst>
      <p:ext uri="{BB962C8B-B14F-4D97-AF65-F5344CB8AC3E}">
        <p14:creationId xmlns:p14="http://schemas.microsoft.com/office/powerpoint/2010/main" val="3853155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90E70E-0C1F-4035-BC32-0CF1E8216255}" type="datetimeFigureOut">
              <a:rPr lang="fr-FR" smtClean="0"/>
              <a:t>22/01/2026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4188196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390E70E-0C1F-4035-BC32-0CF1E8216255}" type="datetimeFigureOut">
              <a:rPr lang="fr-FR" smtClean="0"/>
              <a:t>22/01/2026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4215819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90E70E-0C1F-4035-BC32-0CF1E8216255}" type="datetimeFigureOut">
              <a:rPr lang="fr-FR" smtClean="0"/>
              <a:t>22/01/2026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3248652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90E70E-0C1F-4035-BC32-0CF1E8216255}" type="datetimeFigureOut">
              <a:rPr lang="fr-FR" smtClean="0"/>
              <a:t>22/01/2026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2551534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9390E70E-0C1F-4035-BC32-0CF1E8216255}" type="datetimeFigureOut">
              <a:rPr lang="fr-FR" smtClean="0"/>
              <a:t>22/01/2026</a:t>
            </a:fld>
            <a:endParaRPr lang="fr-F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fr-F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81E2B5AF-2CC4-42A0-AEE7-F37D224B8908}" type="slidenum">
              <a:rPr lang="fr-FR" smtClean="0"/>
              <a:t>‹#›</a:t>
            </a:fld>
            <a:endParaRPr lang="fr-FR"/>
          </a:p>
        </p:txBody>
      </p:sp>
    </p:spTree>
    <p:extLst>
      <p:ext uri="{BB962C8B-B14F-4D97-AF65-F5344CB8AC3E}">
        <p14:creationId xmlns:p14="http://schemas.microsoft.com/office/powerpoint/2010/main" val="1197400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390E70E-0C1F-4035-BC32-0CF1E8216255}" type="datetimeFigureOut">
              <a:rPr lang="fr-FR" smtClean="0"/>
              <a:t>22/01/2026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256081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90E70E-0C1F-4035-BC32-0CF1E8216255}" type="datetimeFigureOut">
              <a:rPr lang="fr-FR" smtClean="0"/>
              <a:t>22/01/2026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834378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9390E70E-0C1F-4035-BC32-0CF1E8216255}" type="datetimeFigureOut">
              <a:rPr lang="fr-FR" smtClean="0"/>
              <a:t>22/01/2026</a:t>
            </a:fld>
            <a:endParaRPr lang="fr-FR"/>
          </a:p>
        </p:txBody>
      </p:sp>
      <p:sp>
        <p:nvSpPr>
          <p:cNvPr id="5" name="Footer Placeholder 4"/>
          <p:cNvSpPr>
            <a:spLocks noGrp="1"/>
          </p:cNvSpPr>
          <p:nvPr>
            <p:ph type="ftr" sz="quarter" idx="11"/>
          </p:nvPr>
        </p:nvSpPr>
        <p:spPr>
          <a:xfrm>
            <a:off x="774923" y="5951811"/>
            <a:ext cx="7896279" cy="365125"/>
          </a:xfrm>
        </p:spPr>
        <p:txBody>
          <a:bodyPr/>
          <a:lstStyle/>
          <a:p>
            <a:endParaRPr lang="fr-F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81E2B5AF-2CC4-42A0-AEE7-F37D224B8908}" type="slidenum">
              <a:rPr lang="fr-FR" smtClean="0"/>
              <a:t>‹#›</a:t>
            </a:fld>
            <a:endParaRPr lang="fr-FR"/>
          </a:p>
        </p:txBody>
      </p:sp>
    </p:spTree>
    <p:extLst>
      <p:ext uri="{BB962C8B-B14F-4D97-AF65-F5344CB8AC3E}">
        <p14:creationId xmlns:p14="http://schemas.microsoft.com/office/powerpoint/2010/main" val="3588032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9390E70E-0C1F-4035-BC32-0CF1E8216255}" type="datetimeFigureOut">
              <a:rPr lang="fr-FR" smtClean="0"/>
              <a:t>22/01/2026</a:t>
            </a:fld>
            <a:endParaRPr lang="fr-F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fr-F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81E2B5AF-2CC4-42A0-AEE7-F37D224B8908}" type="slidenum">
              <a:rPr lang="fr-FR" smtClean="0"/>
              <a:t>‹#›</a:t>
            </a:fld>
            <a:endParaRPr lang="fr-F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640429374"/>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auchers.github.io/polento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r-FR" dirty="0" smtClean="0"/>
              <a:t>Réception de l’antiquité	</a:t>
            </a:r>
            <a:endParaRPr lang="fr-FR" dirty="0"/>
          </a:p>
        </p:txBody>
      </p:sp>
      <p:sp>
        <p:nvSpPr>
          <p:cNvPr id="3" name="Subtitle 2"/>
          <p:cNvSpPr>
            <a:spLocks noGrp="1"/>
          </p:cNvSpPr>
          <p:nvPr>
            <p:ph type="subTitle" idx="1"/>
          </p:nvPr>
        </p:nvSpPr>
        <p:spPr/>
        <p:txBody>
          <a:bodyPr>
            <a:normAutofit/>
          </a:bodyPr>
          <a:lstStyle/>
          <a:p>
            <a:r>
              <a:rPr lang="fr-FR" dirty="0" smtClean="0"/>
              <a:t>Université </a:t>
            </a:r>
            <a:r>
              <a:rPr lang="fr-FR" dirty="0" err="1" smtClean="0"/>
              <a:t>grenoble</a:t>
            </a:r>
            <a:r>
              <a:rPr lang="fr-FR" dirty="0" smtClean="0"/>
              <a:t> alpes – S2 2025/2026													Séance 2</a:t>
            </a:r>
            <a:br>
              <a:rPr lang="fr-FR" dirty="0" smtClean="0"/>
            </a:br>
            <a:r>
              <a:rPr lang="fr-FR" dirty="0" smtClean="0"/>
              <a:t>Sarah gaucher</a:t>
            </a:r>
          </a:p>
        </p:txBody>
      </p:sp>
    </p:spTree>
    <p:extLst>
      <p:ext uri="{BB962C8B-B14F-4D97-AF65-F5344CB8AC3E}">
        <p14:creationId xmlns:p14="http://schemas.microsoft.com/office/powerpoint/2010/main" val="33162652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fr-FR" dirty="0" smtClean="0"/>
              <a:t>ENVIRONNEMENT </a:t>
            </a:r>
            <a:r>
              <a:rPr lang="fr-FR" dirty="0" err="1" smtClean="0"/>
              <a:t>NUMérique</a:t>
            </a:r>
            <a:endParaRPr lang="fr-FR" dirty="0"/>
          </a:p>
        </p:txBody>
      </p:sp>
      <p:sp>
        <p:nvSpPr>
          <p:cNvPr id="5" name="Content Placeholder 4"/>
          <p:cNvSpPr>
            <a:spLocks noGrp="1"/>
          </p:cNvSpPr>
          <p:nvPr>
            <p:ph idx="1"/>
          </p:nvPr>
        </p:nvSpPr>
        <p:spPr>
          <a:xfrm>
            <a:off x="581192" y="1969478"/>
            <a:ext cx="11029615" cy="3889322"/>
          </a:xfrm>
        </p:spPr>
        <p:txBody>
          <a:bodyPr/>
          <a:lstStyle/>
          <a:p>
            <a:pPr marL="0" indent="0" algn="ctr">
              <a:buNone/>
            </a:pPr>
            <a:r>
              <a:rPr lang="fr-FR" sz="2200" dirty="0" smtClean="0">
                <a:hlinkClick r:id="rId2"/>
              </a:rPr>
              <a:t>https</a:t>
            </a:r>
            <a:r>
              <a:rPr lang="fr-FR" sz="2200" dirty="0">
                <a:hlinkClick r:id="rId2"/>
              </a:rPr>
              <a:t>://gauchers.github.io/polenton</a:t>
            </a:r>
            <a:r>
              <a:rPr lang="fr-FR" sz="2200" dirty="0" smtClean="0">
                <a:hlinkClick r:id="rId2"/>
              </a:rPr>
              <a:t>/</a:t>
            </a:r>
            <a:endParaRPr lang="fr-FR" sz="2200" dirty="0"/>
          </a:p>
          <a:p>
            <a:pPr algn="just"/>
            <a:r>
              <a:rPr lang="fr-FR" sz="2200" dirty="0" smtClean="0"/>
              <a:t>Objectif du cours 2 : </a:t>
            </a:r>
          </a:p>
          <a:p>
            <a:pPr lvl="1" algn="just"/>
            <a:r>
              <a:rPr lang="fr-FR" sz="2000" dirty="0"/>
              <a:t>S</a:t>
            </a:r>
            <a:r>
              <a:rPr lang="fr-FR" sz="2000" dirty="0" smtClean="0"/>
              <a:t>egmentation de l’introduction du livre II</a:t>
            </a:r>
          </a:p>
          <a:p>
            <a:pPr lvl="1" algn="just"/>
            <a:r>
              <a:rPr lang="fr-FR" sz="2000" dirty="0" smtClean="0"/>
              <a:t>Segmentation partielle de l’introduction (à finir pour le cours 3)</a:t>
            </a:r>
          </a:p>
          <a:p>
            <a:pPr lvl="1" algn="just"/>
            <a:r>
              <a:rPr lang="fr-FR" sz="2000" dirty="0" smtClean="0"/>
              <a:t>Introduction générale sur les débuts de la littérature latine</a:t>
            </a:r>
          </a:p>
          <a:p>
            <a:pPr lvl="1" algn="just"/>
            <a:r>
              <a:rPr lang="fr-FR" sz="2000" dirty="0" smtClean="0"/>
              <a:t>Présentation de </a:t>
            </a:r>
            <a:r>
              <a:rPr lang="fr-FR" sz="2000" dirty="0" err="1" smtClean="0"/>
              <a:t>Livius</a:t>
            </a:r>
            <a:r>
              <a:rPr lang="fr-FR" sz="2000" dirty="0" smtClean="0"/>
              <a:t> </a:t>
            </a:r>
            <a:r>
              <a:rPr lang="fr-FR" sz="2000" dirty="0" err="1" smtClean="0"/>
              <a:t>Andronicus</a:t>
            </a:r>
            <a:endParaRPr lang="fr-FR" sz="2000" dirty="0" smtClean="0"/>
          </a:p>
          <a:p>
            <a:pPr lvl="1" algn="just"/>
            <a:r>
              <a:rPr lang="fr-FR" sz="2000" dirty="0" smtClean="0"/>
              <a:t>Examen de la vie de </a:t>
            </a:r>
            <a:r>
              <a:rPr lang="fr-FR" sz="2000" dirty="0" err="1" smtClean="0"/>
              <a:t>Livius</a:t>
            </a:r>
            <a:r>
              <a:rPr lang="fr-FR" sz="2000" dirty="0" smtClean="0"/>
              <a:t> par </a:t>
            </a:r>
            <a:r>
              <a:rPr lang="fr-FR" sz="2000" dirty="0" err="1" smtClean="0"/>
              <a:t>Polenton</a:t>
            </a:r>
            <a:endParaRPr lang="fr-FR" sz="2000" dirty="0" smtClean="0"/>
          </a:p>
          <a:p>
            <a:pPr lvl="1" algn="just"/>
            <a:r>
              <a:rPr lang="fr-FR" sz="2000" dirty="0" smtClean="0"/>
              <a:t>Introduction à l’œuvre de </a:t>
            </a:r>
            <a:r>
              <a:rPr lang="fr-FR" sz="2000" dirty="0" err="1" smtClean="0"/>
              <a:t>Crinitus</a:t>
            </a:r>
            <a:endParaRPr lang="fr-FR" sz="2000" dirty="0" smtClean="0"/>
          </a:p>
          <a:p>
            <a:endParaRPr lang="fr-FR" dirty="0"/>
          </a:p>
        </p:txBody>
      </p:sp>
    </p:spTree>
    <p:extLst>
      <p:ext uri="{BB962C8B-B14F-4D97-AF65-F5344CB8AC3E}">
        <p14:creationId xmlns:p14="http://schemas.microsoft.com/office/powerpoint/2010/main" val="42779995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Quelques repères de littérature latine</a:t>
            </a:r>
            <a:endParaRPr lang="fr-FR" dirty="0"/>
          </a:p>
        </p:txBody>
      </p:sp>
      <p:sp>
        <p:nvSpPr>
          <p:cNvPr id="3" name="Text Placeholder 2"/>
          <p:cNvSpPr>
            <a:spLocks noGrp="1"/>
          </p:cNvSpPr>
          <p:nvPr>
            <p:ph type="body" idx="1"/>
          </p:nvPr>
        </p:nvSpPr>
        <p:spPr/>
        <p:txBody>
          <a:bodyPr/>
          <a:lstStyle/>
          <a:p>
            <a:endParaRPr lang="fr-FR"/>
          </a:p>
        </p:txBody>
      </p:sp>
    </p:spTree>
    <p:extLst>
      <p:ext uri="{BB962C8B-B14F-4D97-AF65-F5344CB8AC3E}">
        <p14:creationId xmlns:p14="http://schemas.microsoft.com/office/powerpoint/2010/main" val="6232198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vert="horz">
            <a:normAutofit fontScale="90000"/>
          </a:bodyPr>
          <a:lstStyle/>
          <a:p>
            <a:pPr lvl="0" algn="ctr"/>
            <a:r>
              <a:rPr lang="fr-FR" sz="3870" dirty="0"/>
              <a:t>Quelques </a:t>
            </a:r>
            <a:r>
              <a:rPr lang="fr-FR" sz="3870" dirty="0"/>
              <a:t>repères </a:t>
            </a:r>
            <a:r>
              <a:rPr lang="fr-FR" sz="3870" dirty="0"/>
              <a:t>chronologiques</a:t>
            </a:r>
            <a:br>
              <a:rPr lang="fr-FR" sz="3870" dirty="0"/>
            </a:br>
            <a:r>
              <a:rPr lang="fr-FR" sz="3870" dirty="0"/>
              <a:t>Repères politiques</a:t>
            </a:r>
            <a:endParaRPr lang="fr-FR" sz="3870" dirty="0"/>
          </a:p>
        </p:txBody>
      </p:sp>
      <p:sp>
        <p:nvSpPr>
          <p:cNvPr id="3" name="Text Placeholder 2"/>
          <p:cNvSpPr txBox="1">
            <a:spLocks noGrp="1"/>
          </p:cNvSpPr>
          <p:nvPr>
            <p:ph idx="1"/>
          </p:nvPr>
        </p:nvSpPr>
        <p:spPr>
          <a:xfrm>
            <a:off x="581387" y="1855631"/>
            <a:ext cx="11029228" cy="4789028"/>
          </a:xfrm>
        </p:spPr>
        <p:txBody>
          <a:bodyPr vert="horz">
            <a:normAutofit lnSpcReduction="10000"/>
          </a:bodyPr>
          <a:lstStyle/>
          <a:p>
            <a:pPr>
              <a:spcBef>
                <a:spcPts val="363"/>
              </a:spcBef>
              <a:spcAft>
                <a:spcPts val="363"/>
              </a:spcAft>
            </a:pPr>
            <a:r>
              <a:rPr lang="fr-FR" sz="1693" b="1" dirty="0">
                <a:latin typeface="+mj-lt"/>
              </a:rPr>
              <a:t>La </a:t>
            </a:r>
            <a:r>
              <a:rPr lang="fr-FR" sz="1693" b="1" dirty="0">
                <a:latin typeface="+mj-lt"/>
              </a:rPr>
              <a:t>période </a:t>
            </a:r>
            <a:r>
              <a:rPr lang="fr-FR" sz="1693" b="1" dirty="0">
                <a:latin typeface="+mj-lt"/>
              </a:rPr>
              <a:t>royale</a:t>
            </a:r>
            <a:r>
              <a:rPr lang="fr-FR" sz="1693" b="1" dirty="0">
                <a:latin typeface="+mj-lt"/>
              </a:rPr>
              <a:t> </a:t>
            </a:r>
            <a:r>
              <a:rPr lang="fr-FR" sz="1693" b="1" dirty="0">
                <a:latin typeface="+mj-lt"/>
              </a:rPr>
              <a:t>(-</a:t>
            </a:r>
            <a:r>
              <a:rPr lang="fr-FR" sz="1693" b="1" dirty="0">
                <a:latin typeface="+mj-lt"/>
              </a:rPr>
              <a:t>753/-509</a:t>
            </a:r>
            <a:r>
              <a:rPr lang="fr-FR" sz="1693" b="1" dirty="0">
                <a:latin typeface="+mj-lt"/>
              </a:rPr>
              <a:t>)</a:t>
            </a:r>
          </a:p>
          <a:p>
            <a:pPr lvl="3">
              <a:spcBef>
                <a:spcPts val="363"/>
              </a:spcBef>
              <a:spcAft>
                <a:spcPts val="363"/>
              </a:spcAft>
            </a:pPr>
            <a:r>
              <a:rPr lang="fr-FR" sz="1693" dirty="0"/>
              <a:t>- 753 : fondation de </a:t>
            </a:r>
            <a:r>
              <a:rPr lang="fr-FR" sz="1693" dirty="0"/>
              <a:t>Rome</a:t>
            </a:r>
            <a:endParaRPr lang="fr-FR" sz="1693" dirty="0"/>
          </a:p>
          <a:p>
            <a:pPr lvl="3">
              <a:spcBef>
                <a:spcPts val="363"/>
              </a:spcBef>
              <a:spcAft>
                <a:spcPts val="363"/>
              </a:spcAft>
            </a:pPr>
            <a:r>
              <a:rPr lang="fr-FR" sz="1693" dirty="0"/>
              <a:t>Les </a:t>
            </a:r>
            <a:r>
              <a:rPr lang="fr-FR" sz="1693" dirty="0"/>
              <a:t>sept rois de la tradition :</a:t>
            </a:r>
            <a:r>
              <a:rPr lang="fr-FR" sz="1693" i="1" dirty="0"/>
              <a:t> Romulus, Numa </a:t>
            </a:r>
            <a:r>
              <a:rPr lang="fr-FR" sz="1693" i="1" dirty="0" err="1"/>
              <a:t>Pompilius</a:t>
            </a:r>
            <a:r>
              <a:rPr lang="fr-FR" sz="1693" i="1" dirty="0"/>
              <a:t>, </a:t>
            </a:r>
            <a:r>
              <a:rPr lang="fr-FR" sz="1693" i="1" dirty="0" err="1"/>
              <a:t>Tullus</a:t>
            </a:r>
            <a:r>
              <a:rPr lang="fr-FR" sz="1693" i="1" dirty="0"/>
              <a:t> </a:t>
            </a:r>
            <a:r>
              <a:rPr lang="fr-FR" sz="1693" i="1" dirty="0" err="1"/>
              <a:t>Hostilius</a:t>
            </a:r>
            <a:r>
              <a:rPr lang="fr-FR" sz="1693" i="1" dirty="0"/>
              <a:t>, </a:t>
            </a:r>
            <a:r>
              <a:rPr lang="fr-FR" sz="1693" i="1" dirty="0" err="1"/>
              <a:t>Ancus</a:t>
            </a:r>
            <a:r>
              <a:rPr lang="fr-FR" sz="1693" i="1" dirty="0"/>
              <a:t> </a:t>
            </a:r>
            <a:r>
              <a:rPr lang="fr-FR" sz="1693" i="1" dirty="0" err="1"/>
              <a:t>Martius</a:t>
            </a:r>
            <a:r>
              <a:rPr lang="fr-FR" sz="1693" i="1" dirty="0"/>
              <a:t>, Tarquin l’Ancien, Servius </a:t>
            </a:r>
            <a:r>
              <a:rPr lang="fr-FR" sz="1693" i="1" dirty="0" err="1"/>
              <a:t>Tullius</a:t>
            </a:r>
            <a:r>
              <a:rPr lang="fr-FR" sz="1693" i="1" dirty="0"/>
              <a:t>, Tarquin le Superbe</a:t>
            </a:r>
            <a:endParaRPr lang="fr-FR" sz="1693" dirty="0">
              <a:latin typeface="+mj-lt"/>
            </a:endParaRPr>
          </a:p>
          <a:p>
            <a:pPr>
              <a:spcBef>
                <a:spcPts val="363"/>
              </a:spcBef>
              <a:spcAft>
                <a:spcPts val="363"/>
              </a:spcAft>
            </a:pPr>
            <a:r>
              <a:rPr lang="fr-FR" sz="1693" b="1" dirty="0"/>
              <a:t>La </a:t>
            </a:r>
            <a:r>
              <a:rPr lang="fr-FR" sz="1693" b="1" dirty="0"/>
              <a:t>République</a:t>
            </a:r>
            <a:r>
              <a:rPr lang="fr-FR" sz="1693" b="1" dirty="0"/>
              <a:t> </a:t>
            </a:r>
            <a:r>
              <a:rPr lang="fr-FR" sz="1693" b="1" dirty="0"/>
              <a:t>(- </a:t>
            </a:r>
            <a:r>
              <a:rPr lang="fr-FR" sz="1693" b="1" dirty="0"/>
              <a:t>509/ -</a:t>
            </a:r>
            <a:r>
              <a:rPr lang="fr-FR" sz="1693" b="1" dirty="0"/>
              <a:t>27)</a:t>
            </a:r>
          </a:p>
          <a:p>
            <a:pPr lvl="3">
              <a:spcBef>
                <a:spcPts val="363"/>
              </a:spcBef>
              <a:spcAft>
                <a:spcPts val="363"/>
              </a:spcAft>
            </a:pPr>
            <a:r>
              <a:rPr lang="fr-FR" sz="1693" dirty="0"/>
              <a:t>- 509 : naissance de la République </a:t>
            </a:r>
            <a:endParaRPr lang="fr-FR" sz="1693" dirty="0"/>
          </a:p>
          <a:p>
            <a:pPr lvl="3">
              <a:spcBef>
                <a:spcPts val="363"/>
              </a:spcBef>
              <a:spcAft>
                <a:spcPts val="363"/>
              </a:spcAft>
            </a:pPr>
            <a:r>
              <a:rPr lang="fr-FR" sz="1693" dirty="0"/>
              <a:t>- 390 : </a:t>
            </a:r>
            <a:r>
              <a:rPr lang="fr-FR" sz="1693" dirty="0"/>
              <a:t> prise </a:t>
            </a:r>
            <a:r>
              <a:rPr lang="fr-FR" sz="1693" dirty="0"/>
              <a:t>de Rome par les Gaulois </a:t>
            </a:r>
          </a:p>
          <a:p>
            <a:pPr lvl="3">
              <a:spcBef>
                <a:spcPts val="363"/>
              </a:spcBef>
              <a:spcAft>
                <a:spcPts val="363"/>
              </a:spcAft>
            </a:pPr>
            <a:r>
              <a:rPr lang="fr-FR" sz="1693" dirty="0"/>
              <a:t>-264/-146 : guerres puniques</a:t>
            </a:r>
          </a:p>
          <a:p>
            <a:pPr lvl="3">
              <a:spcBef>
                <a:spcPts val="363"/>
              </a:spcBef>
              <a:spcAft>
                <a:spcPts val="363"/>
              </a:spcAft>
            </a:pPr>
            <a:r>
              <a:rPr lang="fr-FR" sz="1693" dirty="0"/>
              <a:t>-88/-80</a:t>
            </a:r>
            <a:r>
              <a:rPr lang="fr-FR" sz="1693" dirty="0"/>
              <a:t> : première guerre civile (Marius/Sylla</a:t>
            </a:r>
            <a:r>
              <a:rPr lang="fr-FR" sz="1693" dirty="0"/>
              <a:t>)</a:t>
            </a:r>
          </a:p>
          <a:p>
            <a:pPr lvl="3">
              <a:spcBef>
                <a:spcPts val="363"/>
              </a:spcBef>
              <a:spcAft>
                <a:spcPts val="363"/>
              </a:spcAft>
            </a:pPr>
            <a:r>
              <a:rPr lang="fr-FR" sz="1693" dirty="0"/>
              <a:t>-49/-45</a:t>
            </a:r>
            <a:r>
              <a:rPr lang="fr-FR" sz="1693" dirty="0"/>
              <a:t> : guerre civile (</a:t>
            </a:r>
            <a:r>
              <a:rPr lang="fr-FR" sz="1693" dirty="0"/>
              <a:t>César/Pompée)</a:t>
            </a:r>
          </a:p>
          <a:p>
            <a:pPr lvl="3">
              <a:spcBef>
                <a:spcPts val="363"/>
              </a:spcBef>
              <a:spcAft>
                <a:spcPts val="363"/>
              </a:spcAft>
            </a:pPr>
            <a:r>
              <a:rPr lang="fr-FR" sz="1693" dirty="0"/>
              <a:t>-31</a:t>
            </a:r>
            <a:r>
              <a:rPr lang="fr-FR" sz="1693" dirty="0"/>
              <a:t> : victoire d’Octavien sur Antoine et Cléopâtre à </a:t>
            </a:r>
            <a:r>
              <a:rPr lang="fr-FR" sz="1693" dirty="0"/>
              <a:t>Actium puis -27 : début officiel du principat</a:t>
            </a:r>
          </a:p>
          <a:p>
            <a:pPr>
              <a:spcBef>
                <a:spcPts val="363"/>
              </a:spcBef>
              <a:spcAft>
                <a:spcPts val="363"/>
              </a:spcAft>
            </a:pPr>
            <a:r>
              <a:rPr lang="fr-FR" sz="1693" b="1" dirty="0"/>
              <a:t>L’Empire (-</a:t>
            </a:r>
            <a:r>
              <a:rPr lang="fr-FR" sz="1693" b="1" dirty="0"/>
              <a:t>27/ + 476</a:t>
            </a:r>
            <a:r>
              <a:rPr lang="fr-FR" sz="1693" b="1" dirty="0"/>
              <a:t>)</a:t>
            </a:r>
          </a:p>
          <a:p>
            <a:pPr lvl="3"/>
            <a:r>
              <a:rPr lang="fr-FR" sz="1693" dirty="0"/>
              <a:t>-27/68 : les </a:t>
            </a:r>
            <a:r>
              <a:rPr lang="fr-FR" sz="1693" dirty="0"/>
              <a:t>Julio-Claudiens </a:t>
            </a:r>
          </a:p>
          <a:p>
            <a:pPr lvl="3"/>
            <a:r>
              <a:rPr lang="fr-FR" sz="1693" dirty="0"/>
              <a:t>69-96 : les Flaviens</a:t>
            </a:r>
            <a:r>
              <a:rPr lang="fr-FR" sz="1693" dirty="0">
                <a:highlight>
                  <a:scrgbClr r="0" g="0" b="0">
                    <a:alpha val="0"/>
                  </a:scrgbClr>
                </a:highlight>
                <a:latin typeface="+mj-lt"/>
              </a:rPr>
              <a:t>…</a:t>
            </a:r>
            <a:endParaRPr lang="fr-FR" sz="1693" dirty="0"/>
          </a:p>
        </p:txBody>
      </p:sp>
    </p:spTree>
    <p:extLst>
      <p:ext uri="{BB962C8B-B14F-4D97-AF65-F5344CB8AC3E}">
        <p14:creationId xmlns:p14="http://schemas.microsoft.com/office/powerpoint/2010/main" val="24253486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vert="horz">
            <a:normAutofit fontScale="90000"/>
          </a:bodyPr>
          <a:lstStyle/>
          <a:p>
            <a:pPr lvl="0" algn="ctr"/>
            <a:r>
              <a:rPr lang="fr-FR" sz="3870" dirty="0"/>
              <a:t>Quelques </a:t>
            </a:r>
            <a:r>
              <a:rPr lang="fr-FR" sz="3870" dirty="0"/>
              <a:t>repères </a:t>
            </a:r>
            <a:r>
              <a:rPr lang="fr-FR" sz="3870" dirty="0"/>
              <a:t>chronologiques</a:t>
            </a:r>
            <a:br>
              <a:rPr lang="fr-FR" sz="3870" dirty="0"/>
            </a:br>
            <a:r>
              <a:rPr lang="fr-FR" sz="3870" dirty="0"/>
              <a:t>Repères politiques</a:t>
            </a:r>
            <a:endParaRPr lang="fr-FR" sz="3870" dirty="0"/>
          </a:p>
        </p:txBody>
      </p:sp>
      <p:sp>
        <p:nvSpPr>
          <p:cNvPr id="3" name="Text Placeholder 2"/>
          <p:cNvSpPr txBox="1">
            <a:spLocks noGrp="1"/>
          </p:cNvSpPr>
          <p:nvPr>
            <p:ph idx="1"/>
          </p:nvPr>
        </p:nvSpPr>
        <p:spPr>
          <a:xfrm>
            <a:off x="581387" y="1855631"/>
            <a:ext cx="11029228" cy="4789028"/>
          </a:xfrm>
        </p:spPr>
        <p:txBody>
          <a:bodyPr vert="horz">
            <a:normAutofit lnSpcReduction="10000"/>
          </a:bodyPr>
          <a:lstStyle/>
          <a:p>
            <a:pPr>
              <a:spcBef>
                <a:spcPts val="363"/>
              </a:spcBef>
              <a:spcAft>
                <a:spcPts val="363"/>
              </a:spcAft>
            </a:pPr>
            <a:r>
              <a:rPr lang="fr-FR" sz="1693" b="1" dirty="0">
                <a:latin typeface="+mj-lt"/>
              </a:rPr>
              <a:t>La </a:t>
            </a:r>
            <a:r>
              <a:rPr lang="fr-FR" sz="1693" b="1" dirty="0">
                <a:latin typeface="+mj-lt"/>
              </a:rPr>
              <a:t>période </a:t>
            </a:r>
            <a:r>
              <a:rPr lang="fr-FR" sz="1693" b="1" dirty="0">
                <a:latin typeface="+mj-lt"/>
              </a:rPr>
              <a:t>royale</a:t>
            </a:r>
            <a:r>
              <a:rPr lang="fr-FR" sz="1693" b="1" dirty="0">
                <a:latin typeface="+mj-lt"/>
              </a:rPr>
              <a:t> </a:t>
            </a:r>
            <a:r>
              <a:rPr lang="fr-FR" sz="1693" b="1" dirty="0">
                <a:latin typeface="+mj-lt"/>
              </a:rPr>
              <a:t>(-</a:t>
            </a:r>
            <a:r>
              <a:rPr lang="fr-FR" sz="1693" b="1" dirty="0">
                <a:latin typeface="+mj-lt"/>
              </a:rPr>
              <a:t>753/-509</a:t>
            </a:r>
            <a:r>
              <a:rPr lang="fr-FR" sz="1693" b="1" dirty="0">
                <a:latin typeface="+mj-lt"/>
              </a:rPr>
              <a:t>)</a:t>
            </a:r>
          </a:p>
          <a:p>
            <a:pPr lvl="3">
              <a:spcBef>
                <a:spcPts val="363"/>
              </a:spcBef>
              <a:spcAft>
                <a:spcPts val="363"/>
              </a:spcAft>
            </a:pPr>
            <a:r>
              <a:rPr lang="fr-FR" sz="1693" dirty="0"/>
              <a:t>- 753 : fondation de </a:t>
            </a:r>
            <a:r>
              <a:rPr lang="fr-FR" sz="1693" dirty="0"/>
              <a:t>Rome</a:t>
            </a:r>
            <a:endParaRPr lang="fr-FR" sz="1693" dirty="0"/>
          </a:p>
          <a:p>
            <a:pPr lvl="3">
              <a:spcBef>
                <a:spcPts val="363"/>
              </a:spcBef>
              <a:spcAft>
                <a:spcPts val="363"/>
              </a:spcAft>
            </a:pPr>
            <a:r>
              <a:rPr lang="fr-FR" sz="1693" dirty="0"/>
              <a:t>Les </a:t>
            </a:r>
            <a:r>
              <a:rPr lang="fr-FR" sz="1693" dirty="0"/>
              <a:t>sept rois de la tradition :</a:t>
            </a:r>
            <a:r>
              <a:rPr lang="fr-FR" sz="1693" i="1" dirty="0"/>
              <a:t> Romulus, Numa </a:t>
            </a:r>
            <a:r>
              <a:rPr lang="fr-FR" sz="1693" i="1" dirty="0" err="1"/>
              <a:t>Pompilius</a:t>
            </a:r>
            <a:r>
              <a:rPr lang="fr-FR" sz="1693" i="1" dirty="0"/>
              <a:t>, </a:t>
            </a:r>
            <a:r>
              <a:rPr lang="fr-FR" sz="1693" i="1" dirty="0" err="1"/>
              <a:t>Tullus</a:t>
            </a:r>
            <a:r>
              <a:rPr lang="fr-FR" sz="1693" i="1" dirty="0"/>
              <a:t> </a:t>
            </a:r>
            <a:r>
              <a:rPr lang="fr-FR" sz="1693" i="1" dirty="0" err="1"/>
              <a:t>Hostilius</a:t>
            </a:r>
            <a:r>
              <a:rPr lang="fr-FR" sz="1693" i="1" dirty="0"/>
              <a:t>, </a:t>
            </a:r>
            <a:r>
              <a:rPr lang="fr-FR" sz="1693" i="1" dirty="0" err="1"/>
              <a:t>Ancus</a:t>
            </a:r>
            <a:r>
              <a:rPr lang="fr-FR" sz="1693" i="1" dirty="0"/>
              <a:t> </a:t>
            </a:r>
            <a:r>
              <a:rPr lang="fr-FR" sz="1693" i="1" dirty="0" err="1"/>
              <a:t>Martius</a:t>
            </a:r>
            <a:r>
              <a:rPr lang="fr-FR" sz="1693" i="1" dirty="0"/>
              <a:t>, Tarquin l’Ancien, Servius </a:t>
            </a:r>
            <a:r>
              <a:rPr lang="fr-FR" sz="1693" i="1" dirty="0" err="1"/>
              <a:t>Tullius</a:t>
            </a:r>
            <a:r>
              <a:rPr lang="fr-FR" sz="1693" i="1" dirty="0"/>
              <a:t>, Tarquin le Superbe</a:t>
            </a:r>
            <a:endParaRPr lang="fr-FR" sz="1693" dirty="0">
              <a:latin typeface="+mj-lt"/>
            </a:endParaRPr>
          </a:p>
          <a:p>
            <a:pPr>
              <a:spcBef>
                <a:spcPts val="363"/>
              </a:spcBef>
              <a:spcAft>
                <a:spcPts val="363"/>
              </a:spcAft>
            </a:pPr>
            <a:r>
              <a:rPr lang="fr-FR" sz="1693" b="1" dirty="0"/>
              <a:t>La </a:t>
            </a:r>
            <a:r>
              <a:rPr lang="fr-FR" sz="1693" b="1" dirty="0"/>
              <a:t>République</a:t>
            </a:r>
            <a:r>
              <a:rPr lang="fr-FR" sz="1693" b="1" dirty="0"/>
              <a:t> </a:t>
            </a:r>
            <a:r>
              <a:rPr lang="fr-FR" sz="1693" b="1" dirty="0"/>
              <a:t>(- </a:t>
            </a:r>
            <a:r>
              <a:rPr lang="fr-FR" sz="1693" b="1" dirty="0"/>
              <a:t>509/ -</a:t>
            </a:r>
            <a:r>
              <a:rPr lang="fr-FR" sz="1693" b="1" dirty="0"/>
              <a:t>27)</a:t>
            </a:r>
          </a:p>
          <a:p>
            <a:pPr lvl="3">
              <a:spcBef>
                <a:spcPts val="363"/>
              </a:spcBef>
              <a:spcAft>
                <a:spcPts val="363"/>
              </a:spcAft>
            </a:pPr>
            <a:r>
              <a:rPr lang="fr-FR" sz="1693" dirty="0"/>
              <a:t>- 509 : naissance de la République </a:t>
            </a:r>
            <a:endParaRPr lang="fr-FR" sz="1693" dirty="0"/>
          </a:p>
          <a:p>
            <a:pPr lvl="3">
              <a:spcBef>
                <a:spcPts val="363"/>
              </a:spcBef>
              <a:spcAft>
                <a:spcPts val="363"/>
              </a:spcAft>
            </a:pPr>
            <a:r>
              <a:rPr lang="fr-FR" sz="1693" dirty="0"/>
              <a:t>- 390 : </a:t>
            </a:r>
            <a:r>
              <a:rPr lang="fr-FR" sz="1693" dirty="0"/>
              <a:t> prise </a:t>
            </a:r>
            <a:r>
              <a:rPr lang="fr-FR" sz="1693" dirty="0"/>
              <a:t>de Rome par les Gaulois </a:t>
            </a:r>
          </a:p>
          <a:p>
            <a:pPr lvl="3">
              <a:spcBef>
                <a:spcPts val="363"/>
              </a:spcBef>
              <a:spcAft>
                <a:spcPts val="363"/>
              </a:spcAft>
            </a:pPr>
            <a:r>
              <a:rPr lang="fr-FR" sz="1693" dirty="0"/>
              <a:t>-264/-146 : guerres puniques</a:t>
            </a:r>
          </a:p>
          <a:p>
            <a:pPr lvl="3">
              <a:spcBef>
                <a:spcPts val="363"/>
              </a:spcBef>
              <a:spcAft>
                <a:spcPts val="363"/>
              </a:spcAft>
            </a:pPr>
            <a:r>
              <a:rPr lang="fr-FR" sz="1693" dirty="0"/>
              <a:t>-88/-80</a:t>
            </a:r>
            <a:r>
              <a:rPr lang="fr-FR" sz="1693" dirty="0"/>
              <a:t> : première guerre civile (Marius/Sylla</a:t>
            </a:r>
            <a:r>
              <a:rPr lang="fr-FR" sz="1693" dirty="0"/>
              <a:t>)</a:t>
            </a:r>
          </a:p>
          <a:p>
            <a:pPr lvl="3">
              <a:spcBef>
                <a:spcPts val="363"/>
              </a:spcBef>
              <a:spcAft>
                <a:spcPts val="363"/>
              </a:spcAft>
            </a:pPr>
            <a:r>
              <a:rPr lang="fr-FR" sz="1693" dirty="0"/>
              <a:t>-49/-45</a:t>
            </a:r>
            <a:r>
              <a:rPr lang="fr-FR" sz="1693" dirty="0"/>
              <a:t> : guerre civile (</a:t>
            </a:r>
            <a:r>
              <a:rPr lang="fr-FR" sz="1693" dirty="0"/>
              <a:t>César/Pompée)</a:t>
            </a:r>
          </a:p>
          <a:p>
            <a:pPr lvl="3">
              <a:spcBef>
                <a:spcPts val="363"/>
              </a:spcBef>
              <a:spcAft>
                <a:spcPts val="363"/>
              </a:spcAft>
            </a:pPr>
            <a:r>
              <a:rPr lang="fr-FR" sz="1693" dirty="0"/>
              <a:t>-31</a:t>
            </a:r>
            <a:r>
              <a:rPr lang="fr-FR" sz="1693" dirty="0"/>
              <a:t> : victoire d’Octavien sur Antoine et Cléopâtre à </a:t>
            </a:r>
            <a:r>
              <a:rPr lang="fr-FR" sz="1693" dirty="0"/>
              <a:t>Actium puis -27 : début officiel du principat</a:t>
            </a:r>
          </a:p>
          <a:p>
            <a:pPr>
              <a:spcBef>
                <a:spcPts val="363"/>
              </a:spcBef>
              <a:spcAft>
                <a:spcPts val="363"/>
              </a:spcAft>
            </a:pPr>
            <a:r>
              <a:rPr lang="fr-FR" sz="1693" b="1" dirty="0"/>
              <a:t>L’Empire (-</a:t>
            </a:r>
            <a:r>
              <a:rPr lang="fr-FR" sz="1693" b="1" dirty="0"/>
              <a:t>27/ + 476</a:t>
            </a:r>
            <a:r>
              <a:rPr lang="fr-FR" sz="1693" b="1" dirty="0"/>
              <a:t>)</a:t>
            </a:r>
          </a:p>
          <a:p>
            <a:pPr lvl="3"/>
            <a:r>
              <a:rPr lang="fr-FR" sz="1693" dirty="0"/>
              <a:t>-27/68 : les </a:t>
            </a:r>
            <a:r>
              <a:rPr lang="fr-FR" sz="1693" dirty="0"/>
              <a:t>Julio-Claudiens </a:t>
            </a:r>
          </a:p>
          <a:p>
            <a:pPr lvl="3"/>
            <a:r>
              <a:rPr lang="fr-FR" sz="1693" dirty="0"/>
              <a:t>69-96 : les Flaviens</a:t>
            </a:r>
            <a:r>
              <a:rPr lang="fr-FR" sz="1693" dirty="0">
                <a:highlight>
                  <a:scrgbClr r="0" g="0" b="0">
                    <a:alpha val="0"/>
                  </a:scrgbClr>
                </a:highlight>
                <a:latin typeface="+mj-lt"/>
              </a:rPr>
              <a:t>…</a:t>
            </a:r>
            <a:endParaRPr lang="fr-FR" sz="1693" dirty="0"/>
          </a:p>
        </p:txBody>
      </p:sp>
    </p:spTree>
    <p:extLst>
      <p:ext uri="{BB962C8B-B14F-4D97-AF65-F5344CB8AC3E}">
        <p14:creationId xmlns:p14="http://schemas.microsoft.com/office/powerpoint/2010/main" val="15295983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pPr algn="ctr"/>
            <a:r>
              <a:rPr lang="fr-FR" dirty="0" smtClean="0"/>
              <a:t>SOURCES ÉCRITES ET Littérature</a:t>
            </a:r>
            <a:endParaRPr lang="fr-FR" dirty="0"/>
          </a:p>
        </p:txBody>
      </p:sp>
      <p:sp>
        <p:nvSpPr>
          <p:cNvPr id="2" name="Text Placeholder 1"/>
          <p:cNvSpPr txBox="1">
            <a:spLocks noGrp="1"/>
          </p:cNvSpPr>
          <p:nvPr>
            <p:ph idx="1"/>
          </p:nvPr>
        </p:nvSpPr>
        <p:spPr>
          <a:xfrm>
            <a:off x="581387" y="1846259"/>
            <a:ext cx="11029228" cy="4629706"/>
          </a:xfrm>
        </p:spPr>
        <p:txBody>
          <a:bodyPr vert="horz">
            <a:noAutofit/>
          </a:bodyPr>
          <a:lstStyle/>
          <a:p>
            <a:pPr lvl="1" hangingPunct="0">
              <a:spcBef>
                <a:spcPts val="363"/>
              </a:spcBef>
              <a:spcAft>
                <a:spcPts val="363"/>
              </a:spcAft>
              <a:buSzPct val="75000"/>
            </a:pPr>
            <a:r>
              <a:rPr lang="fr-FR" sz="2177" dirty="0">
                <a:highlight>
                  <a:scrgbClr r="0" g="0" b="0">
                    <a:alpha val="0"/>
                  </a:scrgbClr>
                </a:highlight>
                <a:latin typeface="+mj-lt"/>
              </a:rPr>
              <a:t>Alphabet </a:t>
            </a:r>
            <a:r>
              <a:rPr lang="fr-FR" sz="2177" dirty="0">
                <a:highlight>
                  <a:scrgbClr r="0" g="0" b="0">
                    <a:alpha val="0"/>
                  </a:scrgbClr>
                </a:highlight>
                <a:latin typeface="+mj-lt"/>
              </a:rPr>
              <a:t>étrusque utilisé jusqu’à la fixation de l’alphabet latin vers </a:t>
            </a:r>
            <a:r>
              <a:rPr lang="fr-FR" sz="2177" dirty="0">
                <a:highlight>
                  <a:scrgbClr r="0" g="0" b="0">
                    <a:alpha val="0"/>
                  </a:scrgbClr>
                </a:highlight>
                <a:latin typeface="+mj-lt"/>
              </a:rPr>
              <a:t>le IIIe siècle (inspiration grecque et </a:t>
            </a:r>
            <a:r>
              <a:rPr lang="fr-FR" sz="2177" dirty="0">
                <a:highlight>
                  <a:scrgbClr r="0" g="0" b="0">
                    <a:alpha val="0"/>
                  </a:scrgbClr>
                </a:highlight>
                <a:latin typeface="+mj-lt"/>
              </a:rPr>
              <a:t>étrusque)</a:t>
            </a:r>
            <a:endParaRPr lang="fr-FR" sz="2177" dirty="0">
              <a:highlight>
                <a:scrgbClr r="0" g="0" b="0">
                  <a:alpha val="0"/>
                </a:scrgbClr>
              </a:highlight>
              <a:latin typeface="+mj-lt"/>
            </a:endParaRPr>
          </a:p>
          <a:p>
            <a:pPr lvl="1" hangingPunct="0">
              <a:spcBef>
                <a:spcPts val="363"/>
              </a:spcBef>
              <a:spcAft>
                <a:spcPts val="363"/>
              </a:spcAft>
              <a:buSzPct val="75000"/>
            </a:pPr>
            <a:r>
              <a:rPr lang="fr-FR" sz="2177" dirty="0">
                <a:highlight>
                  <a:scrgbClr r="0" g="0" b="0">
                    <a:alpha val="0"/>
                  </a:scrgbClr>
                </a:highlight>
                <a:latin typeface="+mj-lt"/>
              </a:rPr>
              <a:t>Sources historiques : </a:t>
            </a:r>
          </a:p>
          <a:p>
            <a:pPr lvl="3" hangingPunct="0">
              <a:spcBef>
                <a:spcPts val="363"/>
              </a:spcBef>
              <a:spcAft>
                <a:spcPts val="363"/>
              </a:spcAft>
              <a:buSzPct val="75000"/>
            </a:pPr>
            <a:r>
              <a:rPr lang="fr-FR" sz="1777" dirty="0">
                <a:highlight>
                  <a:scrgbClr r="0" g="0" b="0">
                    <a:alpha val="0"/>
                  </a:scrgbClr>
                </a:highlight>
                <a:latin typeface="+mj-lt"/>
              </a:rPr>
              <a:t>Épigraphie </a:t>
            </a:r>
            <a:r>
              <a:rPr lang="fr-FR" sz="1777" dirty="0">
                <a:highlight>
                  <a:scrgbClr r="0" g="0" b="0">
                    <a:alpha val="0"/>
                  </a:scrgbClr>
                </a:highlight>
                <a:latin typeface="+mj-lt"/>
              </a:rPr>
              <a:t>(à partir du VIIe siècle) </a:t>
            </a:r>
            <a:endParaRPr lang="fr-FR" sz="1777" dirty="0">
              <a:highlight>
                <a:scrgbClr r="0" g="0" b="0">
                  <a:alpha val="0"/>
                </a:scrgbClr>
              </a:highlight>
              <a:latin typeface="+mj-lt"/>
            </a:endParaRPr>
          </a:p>
          <a:p>
            <a:pPr lvl="3" hangingPunct="0">
              <a:spcBef>
                <a:spcPts val="363"/>
              </a:spcBef>
              <a:spcAft>
                <a:spcPts val="363"/>
              </a:spcAft>
              <a:buSzPct val="75000"/>
            </a:pPr>
            <a:r>
              <a:rPr lang="fr-FR" sz="1777" dirty="0">
                <a:highlight>
                  <a:scrgbClr r="0" g="0" b="0">
                    <a:alpha val="0"/>
                  </a:scrgbClr>
                </a:highlight>
                <a:latin typeface="+mj-lt"/>
              </a:rPr>
              <a:t>Graffiti</a:t>
            </a:r>
          </a:p>
          <a:p>
            <a:pPr lvl="3" hangingPunct="0">
              <a:spcBef>
                <a:spcPts val="363"/>
              </a:spcBef>
              <a:spcAft>
                <a:spcPts val="363"/>
              </a:spcAft>
              <a:buSzPct val="75000"/>
            </a:pPr>
            <a:r>
              <a:rPr lang="fr-FR" sz="1777" dirty="0">
                <a:highlight>
                  <a:scrgbClr r="0" g="0" b="0">
                    <a:alpha val="0"/>
                  </a:scrgbClr>
                </a:highlight>
                <a:latin typeface="+mj-lt"/>
              </a:rPr>
              <a:t>Documents </a:t>
            </a:r>
            <a:r>
              <a:rPr lang="fr-FR" sz="1777" dirty="0">
                <a:highlight>
                  <a:scrgbClr r="0" g="0" b="0">
                    <a:alpha val="0"/>
                  </a:scrgbClr>
                </a:highlight>
                <a:latin typeface="+mj-lt"/>
              </a:rPr>
              <a:t>de la vie courante (souvent perdus ou </a:t>
            </a:r>
            <a:r>
              <a:rPr lang="fr-FR" sz="1777" dirty="0">
                <a:highlight>
                  <a:scrgbClr r="0" g="0" b="0">
                    <a:alpha val="0"/>
                  </a:scrgbClr>
                </a:highlight>
                <a:latin typeface="+mj-lt"/>
              </a:rPr>
              <a:t>fragmentaires)</a:t>
            </a:r>
          </a:p>
          <a:p>
            <a:pPr lvl="3" hangingPunct="0">
              <a:spcBef>
                <a:spcPts val="363"/>
              </a:spcBef>
              <a:spcAft>
                <a:spcPts val="363"/>
              </a:spcAft>
              <a:buSzPct val="75000"/>
            </a:pPr>
            <a:r>
              <a:rPr lang="fr-FR" sz="1777" dirty="0">
                <a:highlight>
                  <a:scrgbClr r="0" g="0" b="0">
                    <a:alpha val="0"/>
                  </a:scrgbClr>
                </a:highlight>
                <a:latin typeface="+mj-lt"/>
              </a:rPr>
              <a:t>Calendrier </a:t>
            </a:r>
            <a:r>
              <a:rPr lang="fr-FR" sz="1777" dirty="0">
                <a:highlight>
                  <a:scrgbClr r="0" g="0" b="0">
                    <a:alpha val="0"/>
                  </a:scrgbClr>
                </a:highlight>
                <a:latin typeface="+mj-lt"/>
              </a:rPr>
              <a:t>(fêtes religieuses, jours de </a:t>
            </a:r>
            <a:r>
              <a:rPr lang="fr-FR" sz="1777" dirty="0">
                <a:highlight>
                  <a:scrgbClr r="0" g="0" b="0">
                    <a:alpha val="0"/>
                  </a:scrgbClr>
                </a:highlight>
                <a:latin typeface="+mj-lt"/>
              </a:rPr>
              <a:t>tribunal)</a:t>
            </a:r>
          </a:p>
          <a:p>
            <a:pPr lvl="3" hangingPunct="0">
              <a:spcBef>
                <a:spcPts val="363"/>
              </a:spcBef>
              <a:spcAft>
                <a:spcPts val="363"/>
              </a:spcAft>
              <a:buSzPct val="75000"/>
            </a:pPr>
            <a:r>
              <a:rPr lang="fr-FR" sz="1777" dirty="0">
                <a:highlight>
                  <a:scrgbClr r="0" g="0" b="0">
                    <a:alpha val="0"/>
                  </a:scrgbClr>
                </a:highlight>
                <a:latin typeface="+mj-lt"/>
              </a:rPr>
              <a:t>Magistrats </a:t>
            </a:r>
            <a:r>
              <a:rPr lang="fr-FR" sz="1777" dirty="0">
                <a:highlight>
                  <a:scrgbClr r="0" g="0" b="0">
                    <a:alpha val="0"/>
                  </a:scrgbClr>
                </a:highlight>
                <a:latin typeface="+mj-lt"/>
              </a:rPr>
              <a:t>de la </a:t>
            </a:r>
            <a:r>
              <a:rPr lang="fr-FR" sz="1777" dirty="0">
                <a:highlight>
                  <a:scrgbClr r="0" g="0" b="0">
                    <a:alpha val="0"/>
                  </a:scrgbClr>
                </a:highlight>
                <a:latin typeface="+mj-lt"/>
              </a:rPr>
              <a:t>république</a:t>
            </a:r>
          </a:p>
          <a:p>
            <a:pPr lvl="3" hangingPunct="0">
              <a:spcBef>
                <a:spcPts val="363"/>
              </a:spcBef>
              <a:spcAft>
                <a:spcPts val="363"/>
              </a:spcAft>
              <a:buSzPct val="75000"/>
            </a:pPr>
            <a:r>
              <a:rPr lang="fr-FR" sz="1777" dirty="0">
                <a:highlight>
                  <a:scrgbClr r="0" g="0" b="0">
                    <a:alpha val="0"/>
                  </a:scrgbClr>
                </a:highlight>
                <a:latin typeface="+mj-lt"/>
              </a:rPr>
              <a:t>Annales</a:t>
            </a:r>
            <a:r>
              <a:rPr lang="fr-FR" sz="1777" dirty="0">
                <a:highlight>
                  <a:scrgbClr r="0" g="0" b="0">
                    <a:alpha val="0"/>
                  </a:scrgbClr>
                </a:highlight>
                <a:latin typeface="+mj-lt"/>
              </a:rPr>
              <a:t> : récit par </a:t>
            </a:r>
            <a:r>
              <a:rPr lang="fr-FR" sz="1777" dirty="0">
                <a:highlight>
                  <a:scrgbClr r="0" g="0" b="0">
                    <a:alpha val="0"/>
                  </a:scrgbClr>
                </a:highlight>
                <a:latin typeface="+mj-lt"/>
              </a:rPr>
              <a:t>année</a:t>
            </a:r>
          </a:p>
          <a:p>
            <a:pPr lvl="3" hangingPunct="0">
              <a:spcBef>
                <a:spcPts val="363"/>
              </a:spcBef>
              <a:spcAft>
                <a:spcPts val="363"/>
              </a:spcAft>
              <a:buSzPct val="75000"/>
            </a:pPr>
            <a:r>
              <a:rPr lang="fr-FR" sz="1777" dirty="0">
                <a:highlight>
                  <a:scrgbClr r="0" g="0" b="0">
                    <a:alpha val="0"/>
                  </a:scrgbClr>
                </a:highlight>
                <a:latin typeface="+mj-lt"/>
              </a:rPr>
              <a:t>Actes </a:t>
            </a:r>
            <a:r>
              <a:rPr lang="fr-FR" sz="1777" dirty="0">
                <a:highlight>
                  <a:scrgbClr r="0" g="0" b="0">
                    <a:alpha val="0"/>
                  </a:scrgbClr>
                </a:highlight>
                <a:latin typeface="+mj-lt"/>
              </a:rPr>
              <a:t>de mariage, transmission de </a:t>
            </a:r>
            <a:r>
              <a:rPr lang="fr-FR" sz="1777" dirty="0">
                <a:highlight>
                  <a:scrgbClr r="0" g="0" b="0">
                    <a:alpha val="0"/>
                  </a:scrgbClr>
                </a:highlight>
                <a:latin typeface="+mj-lt"/>
              </a:rPr>
              <a:t>biens</a:t>
            </a:r>
          </a:p>
          <a:p>
            <a:pPr lvl="3" hangingPunct="0">
              <a:spcBef>
                <a:spcPts val="363"/>
              </a:spcBef>
              <a:spcAft>
                <a:spcPts val="363"/>
              </a:spcAft>
              <a:buSzPct val="75000"/>
            </a:pPr>
            <a:r>
              <a:rPr lang="fr-FR" sz="1777" dirty="0">
                <a:highlight>
                  <a:scrgbClr r="0" g="0" b="0">
                    <a:alpha val="0"/>
                  </a:scrgbClr>
                </a:highlight>
                <a:latin typeface="+mj-lt"/>
              </a:rPr>
              <a:t>Listes </a:t>
            </a:r>
            <a:r>
              <a:rPr lang="fr-FR" sz="1777" dirty="0">
                <a:highlight>
                  <a:scrgbClr r="0" g="0" b="0">
                    <a:alpha val="0"/>
                  </a:scrgbClr>
                </a:highlight>
                <a:latin typeface="+mj-lt"/>
              </a:rPr>
              <a:t>de </a:t>
            </a:r>
            <a:r>
              <a:rPr lang="fr-FR" sz="1777" dirty="0">
                <a:highlight>
                  <a:scrgbClr r="0" g="0" b="0">
                    <a:alpha val="0"/>
                  </a:scrgbClr>
                </a:highlight>
                <a:latin typeface="+mj-lt"/>
              </a:rPr>
              <a:t>produits</a:t>
            </a:r>
          </a:p>
          <a:p>
            <a:pPr lvl="3" hangingPunct="0">
              <a:spcBef>
                <a:spcPts val="363"/>
              </a:spcBef>
              <a:spcAft>
                <a:spcPts val="363"/>
              </a:spcAft>
              <a:buSzPct val="75000"/>
            </a:pPr>
            <a:r>
              <a:rPr lang="fr-FR" sz="1777" dirty="0">
                <a:highlight>
                  <a:scrgbClr r="0" g="0" b="0">
                    <a:alpha val="0"/>
                  </a:scrgbClr>
                </a:highlight>
                <a:latin typeface="+mj-lt"/>
              </a:rPr>
              <a:t>Actes législatifs (premières lois écrites : lois des Douze Tables -451/-449)</a:t>
            </a:r>
            <a:endParaRPr lang="fr-FR" sz="1935" dirty="0">
              <a:highlight>
                <a:scrgbClr r="0" g="0" b="0">
                  <a:alpha val="0"/>
                </a:scrgbClr>
              </a:highlight>
            </a:endParaRPr>
          </a:p>
          <a:p>
            <a:pPr marL="1007932" lvl="3" indent="0" hangingPunct="0">
              <a:spcBef>
                <a:spcPts val="363"/>
              </a:spcBef>
              <a:spcAft>
                <a:spcPts val="363"/>
              </a:spcAft>
              <a:buSzPct val="75000"/>
              <a:buNone/>
            </a:pPr>
            <a:endParaRPr lang="fr-FR" sz="1777" dirty="0">
              <a:highlight>
                <a:scrgbClr r="0" g="0" b="0">
                  <a:alpha val="0"/>
                </a:scrgbClr>
              </a:highlight>
              <a:latin typeface="+mj-lt"/>
            </a:endParaRPr>
          </a:p>
        </p:txBody>
      </p:sp>
      <p:sp>
        <p:nvSpPr>
          <p:cNvPr id="4" name="TextBox 3"/>
          <p:cNvSpPr txBox="1"/>
          <p:nvPr/>
        </p:nvSpPr>
        <p:spPr>
          <a:xfrm>
            <a:off x="5660236" y="5660023"/>
            <a:ext cx="3918477" cy="430959"/>
          </a:xfrm>
          <a:prstGeom prst="rect">
            <a:avLst/>
          </a:prstGeom>
          <a:noFill/>
          <a:ln>
            <a:noFill/>
          </a:ln>
        </p:spPr>
        <p:txBody>
          <a:bodyPr vert="horz" wrap="square" lIns="108847" tIns="54423" rIns="108847" bIns="54423" anchorCtr="0" compatLnSpc="0">
            <a:spAutoFit/>
          </a:bodyPr>
          <a:lstStyle/>
          <a:p>
            <a:pPr hangingPunct="0"/>
            <a:endParaRPr lang="fr-FR" sz="2177" dirty="0">
              <a:latin typeface="Liberation Sans" pitchFamily="18"/>
              <a:ea typeface="Noto Sans CJK SC" pitchFamily="2"/>
              <a:cs typeface="Lohit Devanagari" pitchFamily="2"/>
            </a:endParaRPr>
          </a:p>
        </p:txBody>
      </p:sp>
    </p:spTree>
    <p:extLst>
      <p:ext uri="{BB962C8B-B14F-4D97-AF65-F5344CB8AC3E}">
        <p14:creationId xmlns:p14="http://schemas.microsoft.com/office/powerpoint/2010/main" val="20149123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fr-FR" dirty="0" smtClean="0"/>
              <a:t>Prémices de culture littéraire </a:t>
            </a:r>
            <a:br>
              <a:rPr lang="fr-FR" dirty="0" smtClean="0"/>
            </a:br>
            <a:r>
              <a:rPr lang="fr-FR" dirty="0" smtClean="0"/>
              <a:t>Tradition orale</a:t>
            </a:r>
            <a:endParaRPr lang="fr-FR" dirty="0"/>
          </a:p>
        </p:txBody>
      </p:sp>
      <p:sp>
        <p:nvSpPr>
          <p:cNvPr id="2" name="Text Placeholder 1"/>
          <p:cNvSpPr txBox="1">
            <a:spLocks noGrp="1"/>
          </p:cNvSpPr>
          <p:nvPr>
            <p:ph idx="1"/>
          </p:nvPr>
        </p:nvSpPr>
        <p:spPr>
          <a:xfrm>
            <a:off x="581387" y="1338913"/>
            <a:ext cx="11029228" cy="5155797"/>
          </a:xfrm>
        </p:spPr>
        <p:txBody>
          <a:bodyPr vert="horz">
            <a:normAutofit/>
          </a:bodyPr>
          <a:lstStyle/>
          <a:p>
            <a:pPr>
              <a:buSzPct val="45000"/>
            </a:pPr>
            <a:r>
              <a:rPr lang="fr-FR" sz="2177" b="1" dirty="0"/>
              <a:t>Chants</a:t>
            </a:r>
          </a:p>
          <a:p>
            <a:pPr lvl="2">
              <a:buSzPct val="45000"/>
            </a:pPr>
            <a:r>
              <a:rPr lang="fr-FR" sz="2177" dirty="0"/>
              <a:t>religieux </a:t>
            </a:r>
            <a:r>
              <a:rPr lang="fr-FR" sz="2177" dirty="0"/>
              <a:t>(</a:t>
            </a:r>
            <a:r>
              <a:rPr lang="fr-FR" sz="2177" i="1" dirty="0"/>
              <a:t>carmina</a:t>
            </a:r>
            <a:r>
              <a:rPr lang="fr-FR" sz="2177" dirty="0"/>
              <a:t>)</a:t>
            </a:r>
          </a:p>
          <a:p>
            <a:pPr lvl="2">
              <a:buSzPct val="45000"/>
            </a:pPr>
            <a:r>
              <a:rPr lang="fr-FR" sz="2177" dirty="0"/>
              <a:t>nuptiaux </a:t>
            </a:r>
            <a:r>
              <a:rPr lang="fr-FR" sz="2177" dirty="0"/>
              <a:t>(Chant d’hyménée ; </a:t>
            </a:r>
            <a:r>
              <a:rPr lang="fr-FR" sz="2177" dirty="0"/>
              <a:t>épithalames)</a:t>
            </a:r>
          </a:p>
          <a:p>
            <a:pPr lvl="2">
              <a:buSzPct val="45000"/>
            </a:pPr>
            <a:r>
              <a:rPr lang="fr-FR" sz="2177" dirty="0"/>
              <a:t>de </a:t>
            </a:r>
            <a:r>
              <a:rPr lang="fr-FR" sz="2177" dirty="0"/>
              <a:t>table (</a:t>
            </a:r>
            <a:r>
              <a:rPr lang="fr-FR" sz="2177" i="1" dirty="0"/>
              <a:t>carmina </a:t>
            </a:r>
            <a:r>
              <a:rPr lang="fr-FR" sz="2177" i="1" dirty="0" err="1"/>
              <a:t>conuiualia</a:t>
            </a:r>
            <a:r>
              <a:rPr lang="fr-FR" sz="2177" i="1" dirty="0"/>
              <a:t>)</a:t>
            </a:r>
          </a:p>
          <a:p>
            <a:pPr lvl="2">
              <a:buSzPct val="45000"/>
            </a:pPr>
            <a:r>
              <a:rPr lang="fr-FR" sz="2177" dirty="0"/>
              <a:t>funèbres </a:t>
            </a:r>
            <a:r>
              <a:rPr lang="fr-FR" sz="2177" i="1" dirty="0"/>
              <a:t>(</a:t>
            </a:r>
            <a:r>
              <a:rPr lang="fr-FR" sz="2177" i="1" dirty="0" err="1"/>
              <a:t>neniae</a:t>
            </a:r>
            <a:r>
              <a:rPr lang="fr-FR" sz="2177" i="1" dirty="0"/>
              <a:t>)</a:t>
            </a:r>
          </a:p>
          <a:p>
            <a:pPr>
              <a:buSzPct val="45000"/>
            </a:pPr>
            <a:r>
              <a:rPr lang="fr-FR" sz="2177" b="1" dirty="0"/>
              <a:t>Vers satiriques : vers fescennins</a:t>
            </a:r>
          </a:p>
          <a:p>
            <a:pPr>
              <a:buSzPct val="45000"/>
            </a:pPr>
            <a:r>
              <a:rPr lang="fr-FR" sz="2177" b="1" dirty="0"/>
              <a:t>Éloges </a:t>
            </a:r>
            <a:r>
              <a:rPr lang="fr-FR" sz="2177" b="1" dirty="0"/>
              <a:t>funèbres publics </a:t>
            </a:r>
            <a:r>
              <a:rPr lang="fr-FR" sz="2177" dirty="0"/>
              <a:t>(</a:t>
            </a:r>
            <a:r>
              <a:rPr lang="fr-FR" sz="2177" i="1" dirty="0" err="1"/>
              <a:t>laudationes</a:t>
            </a:r>
            <a:r>
              <a:rPr lang="fr-FR" sz="2177" i="1" dirty="0"/>
              <a:t>)</a:t>
            </a:r>
          </a:p>
          <a:p>
            <a:pPr>
              <a:buSzPct val="45000"/>
            </a:pPr>
            <a:r>
              <a:rPr lang="fr-FR" sz="2177" b="1" dirty="0"/>
              <a:t>Discours </a:t>
            </a:r>
            <a:r>
              <a:rPr lang="fr-FR" sz="2177" b="1" dirty="0"/>
              <a:t>(judiciaires, délibératifs…)</a:t>
            </a:r>
            <a:endParaRPr lang="fr-FR" sz="2177" b="1" dirty="0"/>
          </a:p>
        </p:txBody>
      </p:sp>
    </p:spTree>
    <p:extLst>
      <p:ext uri="{BB962C8B-B14F-4D97-AF65-F5344CB8AC3E}">
        <p14:creationId xmlns:p14="http://schemas.microsoft.com/office/powerpoint/2010/main" val="990738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fr-FR" dirty="0" smtClean="0"/>
              <a:t>Prémices de culture littéraire </a:t>
            </a:r>
            <a:br>
              <a:rPr lang="fr-FR" dirty="0" smtClean="0"/>
            </a:br>
            <a:r>
              <a:rPr lang="fr-FR" dirty="0" smtClean="0"/>
              <a:t>Exemple – Les carmina </a:t>
            </a:r>
            <a:r>
              <a:rPr lang="fr-FR" dirty="0" err="1" smtClean="0"/>
              <a:t>convivalia</a:t>
            </a:r>
            <a:endParaRPr lang="fr-FR" dirty="0"/>
          </a:p>
        </p:txBody>
      </p:sp>
      <p:sp>
        <p:nvSpPr>
          <p:cNvPr id="2" name="Text Placeholder 1"/>
          <p:cNvSpPr txBox="1">
            <a:spLocks noGrp="1"/>
          </p:cNvSpPr>
          <p:nvPr>
            <p:ph idx="1"/>
          </p:nvPr>
        </p:nvSpPr>
        <p:spPr>
          <a:xfrm>
            <a:off x="581387" y="2180496"/>
            <a:ext cx="11029228" cy="4314214"/>
          </a:xfrm>
        </p:spPr>
        <p:txBody>
          <a:bodyPr vert="horz">
            <a:normAutofit/>
          </a:bodyPr>
          <a:lstStyle/>
          <a:p>
            <a:pPr algn="just"/>
            <a:r>
              <a:rPr lang="fr-FR" sz="2177" b="1" dirty="0"/>
              <a:t>Témoignage </a:t>
            </a:r>
            <a:r>
              <a:rPr lang="fr-FR" sz="2177" b="1" dirty="0"/>
              <a:t>1 : </a:t>
            </a:r>
            <a:r>
              <a:rPr lang="fr-FR" sz="2177" b="1" dirty="0"/>
              <a:t>Cicéron, </a:t>
            </a:r>
            <a:r>
              <a:rPr lang="fr-FR" sz="2177" b="1" i="1" dirty="0" err="1"/>
              <a:t>Tusc</a:t>
            </a:r>
            <a:r>
              <a:rPr lang="fr-FR" sz="2177" b="1" dirty="0"/>
              <a:t>. </a:t>
            </a:r>
            <a:r>
              <a:rPr lang="fr-FR" sz="2177" b="1" dirty="0"/>
              <a:t>IV</a:t>
            </a:r>
            <a:r>
              <a:rPr lang="fr-FR" sz="2177" b="1" dirty="0"/>
              <a:t>, 2, 3</a:t>
            </a:r>
          </a:p>
          <a:p>
            <a:pPr marL="0" indent="0" algn="just">
              <a:buNone/>
            </a:pPr>
            <a:r>
              <a:rPr lang="fr-FR" sz="2177" dirty="0"/>
              <a:t>«</a:t>
            </a:r>
            <a:r>
              <a:rPr lang="fr-FR" sz="2177" dirty="0"/>
              <a:t> Aux origines, Caton, très éminent écrivain, nous dit qu'aux banquets de nos aïeux il y avait un usage : ceux qui étaient assis devaient chanter, chacun à leur tour, accompagnés par la flûte, les nobles entreprises et les vertus des grands hommes. Ceci est la preuve évidente que la musique et la poésie existaient déjà à cette époque. </a:t>
            </a:r>
            <a:r>
              <a:rPr lang="fr-FR" sz="2177" dirty="0"/>
              <a:t>»</a:t>
            </a:r>
            <a:endParaRPr lang="fr-FR" sz="2177" dirty="0"/>
          </a:p>
          <a:p>
            <a:pPr algn="just"/>
            <a:endParaRPr lang="fr-FR" sz="2177" dirty="0"/>
          </a:p>
          <a:p>
            <a:pPr algn="just"/>
            <a:r>
              <a:rPr lang="fr-FR" sz="2177" b="1" dirty="0"/>
              <a:t>Témoignage </a:t>
            </a:r>
            <a:r>
              <a:rPr lang="fr-FR" sz="2177" b="1" dirty="0"/>
              <a:t>2 </a:t>
            </a:r>
            <a:r>
              <a:rPr lang="fr-FR" sz="2177" b="1" dirty="0"/>
              <a:t>: </a:t>
            </a:r>
            <a:r>
              <a:rPr lang="fr-FR" sz="2177" b="1" dirty="0"/>
              <a:t>Varron, </a:t>
            </a:r>
            <a:r>
              <a:rPr lang="fr-FR" sz="2177" b="1" i="1" dirty="0"/>
              <a:t>De </a:t>
            </a:r>
            <a:r>
              <a:rPr lang="fr-FR" sz="2177" b="1" i="1" dirty="0" err="1"/>
              <a:t>vita</a:t>
            </a:r>
            <a:r>
              <a:rPr lang="fr-FR" sz="2177" b="1" i="1" dirty="0"/>
              <a:t> populi Romani</a:t>
            </a:r>
            <a:r>
              <a:rPr lang="fr-FR" sz="2177" b="1" dirty="0"/>
              <a:t>, 77, 2</a:t>
            </a:r>
            <a:endParaRPr lang="fr-FR" sz="2177" b="1" dirty="0"/>
          </a:p>
          <a:p>
            <a:pPr marL="0" indent="0" algn="just">
              <a:buNone/>
            </a:pPr>
            <a:r>
              <a:rPr lang="fr-FR" sz="2177" dirty="0"/>
              <a:t>«</a:t>
            </a:r>
            <a:r>
              <a:rPr lang="fr-FR" sz="2177" dirty="0"/>
              <a:t> Pendant les banquets, des enfants d'honorables lignées chantaient des chants antiques en l'honneur de nos aïeux, soit simplement </a:t>
            </a:r>
            <a:r>
              <a:rPr lang="fr-FR" sz="2177" i="1" dirty="0"/>
              <a:t>a capella</a:t>
            </a:r>
            <a:r>
              <a:rPr lang="fr-FR" sz="2177" dirty="0"/>
              <a:t>, soit avec l'accompagnement de la flûte. </a:t>
            </a:r>
            <a:r>
              <a:rPr lang="fr-FR" sz="2177" dirty="0"/>
              <a:t>»</a:t>
            </a:r>
            <a:endParaRPr lang="fr-FR" sz="2177" dirty="0"/>
          </a:p>
        </p:txBody>
      </p:sp>
    </p:spTree>
    <p:extLst>
      <p:ext uri="{BB962C8B-B14F-4D97-AF65-F5344CB8AC3E}">
        <p14:creationId xmlns:p14="http://schemas.microsoft.com/office/powerpoint/2010/main" val="19032076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fr-FR" dirty="0" smtClean="0"/>
              <a:t>Prémices de culture littéraire </a:t>
            </a:r>
            <a:br>
              <a:rPr lang="fr-FR" dirty="0" smtClean="0"/>
            </a:br>
            <a:r>
              <a:rPr lang="fr-FR" dirty="0" smtClean="0"/>
              <a:t>Exemple – Les carmina </a:t>
            </a:r>
            <a:r>
              <a:rPr lang="fr-FR" dirty="0" err="1" smtClean="0"/>
              <a:t>convivalia</a:t>
            </a:r>
            <a:endParaRPr lang="fr-FR" dirty="0"/>
          </a:p>
        </p:txBody>
      </p:sp>
      <p:sp>
        <p:nvSpPr>
          <p:cNvPr id="2" name="Text Placeholder 1"/>
          <p:cNvSpPr txBox="1">
            <a:spLocks noGrp="1"/>
          </p:cNvSpPr>
          <p:nvPr>
            <p:ph idx="1"/>
          </p:nvPr>
        </p:nvSpPr>
        <p:spPr>
          <a:xfrm>
            <a:off x="581387" y="1865003"/>
            <a:ext cx="11029228" cy="4629707"/>
          </a:xfrm>
        </p:spPr>
        <p:txBody>
          <a:bodyPr vert="horz">
            <a:normAutofit/>
          </a:bodyPr>
          <a:lstStyle/>
          <a:p>
            <a:pPr algn="just"/>
            <a:r>
              <a:rPr lang="fr-FR" sz="2177" b="1" dirty="0"/>
              <a:t>Témoignage </a:t>
            </a:r>
            <a:r>
              <a:rPr lang="fr-FR" sz="2177" b="1" dirty="0"/>
              <a:t>1 : </a:t>
            </a:r>
            <a:r>
              <a:rPr lang="fr-FR" sz="2177" b="1" dirty="0"/>
              <a:t>Cicéron, </a:t>
            </a:r>
            <a:r>
              <a:rPr lang="fr-FR" sz="2177" b="1" i="1" dirty="0" err="1"/>
              <a:t>Tusc</a:t>
            </a:r>
            <a:r>
              <a:rPr lang="fr-FR" sz="2177" b="1" dirty="0"/>
              <a:t>. </a:t>
            </a:r>
            <a:r>
              <a:rPr lang="fr-FR" sz="2177" b="1" dirty="0"/>
              <a:t>IV</a:t>
            </a:r>
            <a:r>
              <a:rPr lang="fr-FR" sz="2177" b="1" dirty="0"/>
              <a:t>, 2, 3</a:t>
            </a:r>
          </a:p>
          <a:p>
            <a:pPr marL="0" indent="0" algn="just">
              <a:buNone/>
            </a:pPr>
            <a:r>
              <a:rPr lang="fr-FR" sz="2177" dirty="0"/>
              <a:t>«</a:t>
            </a:r>
            <a:r>
              <a:rPr lang="fr-FR" sz="2177" dirty="0"/>
              <a:t> Aux origines, Caton, très éminent écrivain, nous dit qu'aux banquets de nos aïeux il y avait un usage : ceux qui étaient assis devaient chanter, chacun à leur tour, accompagnés par la flûte, les nobles entreprises et les vertus des grands hommes. Ceci est la preuve évidente que la musique et la poésie existaient déjà à cette époque. </a:t>
            </a:r>
            <a:r>
              <a:rPr lang="fr-FR" sz="2177" dirty="0"/>
              <a:t>»</a:t>
            </a:r>
            <a:endParaRPr lang="fr-FR" sz="2177" dirty="0"/>
          </a:p>
          <a:p>
            <a:pPr algn="just"/>
            <a:r>
              <a:rPr lang="fr-FR" sz="2177" b="1" dirty="0"/>
              <a:t>Témoignage </a:t>
            </a:r>
            <a:r>
              <a:rPr lang="fr-FR" sz="2177" b="1" dirty="0"/>
              <a:t>2 </a:t>
            </a:r>
            <a:r>
              <a:rPr lang="fr-FR" sz="2177" b="1" dirty="0"/>
              <a:t>: </a:t>
            </a:r>
            <a:r>
              <a:rPr lang="fr-FR" sz="2177" b="1" dirty="0"/>
              <a:t>Varron, </a:t>
            </a:r>
            <a:r>
              <a:rPr lang="fr-FR" sz="2177" b="1" i="1" dirty="0"/>
              <a:t>De </a:t>
            </a:r>
            <a:r>
              <a:rPr lang="fr-FR" sz="2177" b="1" i="1" dirty="0" err="1"/>
              <a:t>vita</a:t>
            </a:r>
            <a:r>
              <a:rPr lang="fr-FR" sz="2177" b="1" i="1" dirty="0"/>
              <a:t> populi Romani</a:t>
            </a:r>
            <a:r>
              <a:rPr lang="fr-FR" sz="2177" b="1" dirty="0"/>
              <a:t>, 77, 2</a:t>
            </a:r>
            <a:endParaRPr lang="fr-FR" sz="2177" b="1" dirty="0"/>
          </a:p>
          <a:p>
            <a:pPr marL="0" indent="0" algn="just">
              <a:buNone/>
            </a:pPr>
            <a:r>
              <a:rPr lang="fr-FR" sz="2177" dirty="0"/>
              <a:t>«</a:t>
            </a:r>
            <a:r>
              <a:rPr lang="fr-FR" sz="2177" dirty="0"/>
              <a:t> Pendant les banquets, des enfants d'honorables lignées chantaient des chants antiques en l'honneur de nos aïeux, soit simplement </a:t>
            </a:r>
            <a:r>
              <a:rPr lang="fr-FR" sz="2177" i="1" dirty="0"/>
              <a:t>a capella</a:t>
            </a:r>
            <a:r>
              <a:rPr lang="fr-FR" sz="2177" dirty="0"/>
              <a:t>, soit avec l'accompagnement de la flûte. </a:t>
            </a:r>
            <a:r>
              <a:rPr lang="fr-FR" sz="2177" dirty="0"/>
              <a:t>»</a:t>
            </a:r>
          </a:p>
          <a:p>
            <a:pPr marL="0" indent="0" algn="ctr">
              <a:buNone/>
            </a:pPr>
            <a:endParaRPr lang="fr-FR" sz="2177" b="1" dirty="0"/>
          </a:p>
          <a:p>
            <a:pPr marL="0" indent="0" algn="ctr">
              <a:buNone/>
            </a:pPr>
            <a:r>
              <a:rPr lang="fr-FR" sz="2177" b="1" dirty="0"/>
              <a:t>Deux vers conservés ? Des exemples à prendre avec prudence !</a:t>
            </a:r>
            <a:endParaRPr lang="fr-FR" sz="2177" b="1" dirty="0"/>
          </a:p>
        </p:txBody>
      </p:sp>
    </p:spTree>
    <p:extLst>
      <p:ext uri="{BB962C8B-B14F-4D97-AF65-F5344CB8AC3E}">
        <p14:creationId xmlns:p14="http://schemas.microsoft.com/office/powerpoint/2010/main" val="8491006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81386" y="555131"/>
            <a:ext cx="11029230" cy="1309872"/>
          </a:xfrm>
        </p:spPr>
        <p:txBody>
          <a:bodyPr>
            <a:noAutofit/>
          </a:bodyPr>
          <a:lstStyle/>
          <a:p>
            <a:pPr algn="ctr"/>
            <a:r>
              <a:rPr lang="fr-FR" sz="2806" dirty="0"/>
              <a:t>Les débuts de la littérature</a:t>
            </a:r>
            <a:br>
              <a:rPr lang="fr-FR" sz="2806" dirty="0"/>
            </a:br>
            <a:endParaRPr lang="fr-FR" sz="2806" dirty="0"/>
          </a:p>
        </p:txBody>
      </p:sp>
      <p:sp>
        <p:nvSpPr>
          <p:cNvPr id="2" name="Text Placeholder 1"/>
          <p:cNvSpPr txBox="1">
            <a:spLocks noGrp="1"/>
          </p:cNvSpPr>
          <p:nvPr>
            <p:ph idx="1"/>
          </p:nvPr>
        </p:nvSpPr>
        <p:spPr>
          <a:xfrm>
            <a:off x="581387" y="1865003"/>
            <a:ext cx="11029228" cy="4629707"/>
          </a:xfrm>
        </p:spPr>
        <p:txBody>
          <a:bodyPr vert="horz">
            <a:normAutofit/>
          </a:bodyPr>
          <a:lstStyle/>
          <a:p>
            <a:pPr algn="just"/>
            <a:r>
              <a:rPr lang="fr-FR" sz="2177" b="1" dirty="0"/>
              <a:t>Date retenue : </a:t>
            </a:r>
            <a:r>
              <a:rPr lang="fr-FR" sz="2177" dirty="0"/>
              <a:t>Les </a:t>
            </a:r>
            <a:r>
              <a:rPr lang="fr-FR" sz="2177" i="1" dirty="0" err="1"/>
              <a:t>Ludi</a:t>
            </a:r>
            <a:r>
              <a:rPr lang="fr-FR" sz="2177" dirty="0"/>
              <a:t> </a:t>
            </a:r>
            <a:r>
              <a:rPr lang="fr-FR" sz="2177" i="1" dirty="0"/>
              <a:t>Romani </a:t>
            </a:r>
            <a:r>
              <a:rPr lang="fr-FR" sz="2177" dirty="0"/>
              <a:t>« les jeux romains » de -240 (</a:t>
            </a:r>
            <a:r>
              <a:rPr lang="fr-FR" sz="2177" dirty="0"/>
              <a:t>Cicéron, </a:t>
            </a:r>
            <a:r>
              <a:rPr lang="fr-FR" sz="2177" i="1" dirty="0"/>
              <a:t>Brut.,</a:t>
            </a:r>
            <a:r>
              <a:rPr lang="fr-FR" sz="2177" dirty="0"/>
              <a:t> </a:t>
            </a:r>
            <a:r>
              <a:rPr lang="fr-FR" sz="2177" dirty="0"/>
              <a:t>72)</a:t>
            </a:r>
          </a:p>
          <a:p>
            <a:pPr lvl="0">
              <a:buSzPct val="45000"/>
              <a:buFont typeface="StarSymbol"/>
              <a:buChar char="●"/>
            </a:pPr>
            <a:r>
              <a:rPr lang="fr-FR" sz="2177" b="1" dirty="0" err="1"/>
              <a:t>Evènement</a:t>
            </a:r>
            <a:r>
              <a:rPr lang="fr-FR" sz="2177" b="1" dirty="0"/>
              <a:t> :</a:t>
            </a:r>
            <a:r>
              <a:rPr lang="fr-FR" sz="2177" dirty="0"/>
              <a:t> </a:t>
            </a:r>
            <a:r>
              <a:rPr lang="fr-FR" sz="2177" dirty="0" err="1"/>
              <a:t>Livius</a:t>
            </a:r>
            <a:r>
              <a:rPr lang="fr-FR" sz="2177" dirty="0"/>
              <a:t> </a:t>
            </a:r>
            <a:r>
              <a:rPr lang="fr-FR" sz="2177" dirty="0" err="1"/>
              <a:t>Andronicus</a:t>
            </a:r>
            <a:r>
              <a:rPr lang="fr-FR" sz="2177" dirty="0"/>
              <a:t>, pièce de théâtre (</a:t>
            </a:r>
            <a:r>
              <a:rPr lang="fr-FR" sz="2177" i="1" dirty="0"/>
              <a:t>fabula)</a:t>
            </a:r>
            <a:r>
              <a:rPr lang="fr-FR" sz="2177" dirty="0"/>
              <a:t> sur le modèle grec (textes écrits et appris, non improvisés). Originaire de Tarente (colonie grecque de Campanie). A aussi écrit des tragédies et des épopées (ne reste que fragments</a:t>
            </a:r>
            <a:r>
              <a:rPr lang="fr-FR" sz="2177" dirty="0"/>
              <a:t>). </a:t>
            </a:r>
            <a:endParaRPr lang="fr-FR" sz="2177" dirty="0"/>
          </a:p>
          <a:p>
            <a:pPr algn="just"/>
            <a:r>
              <a:rPr lang="fr-FR" sz="2177" b="1" dirty="0"/>
              <a:t>Genre fondateur : </a:t>
            </a:r>
            <a:r>
              <a:rPr lang="fr-FR" sz="2177" dirty="0"/>
              <a:t>théâtre (vs Grèce où c’est l’épopée)</a:t>
            </a:r>
            <a:endParaRPr lang="fr-FR" sz="2177" dirty="0"/>
          </a:p>
        </p:txBody>
      </p:sp>
    </p:spTree>
    <p:extLst>
      <p:ext uri="{BB962C8B-B14F-4D97-AF65-F5344CB8AC3E}">
        <p14:creationId xmlns:p14="http://schemas.microsoft.com/office/powerpoint/2010/main" val="10913340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81386" y="1077766"/>
            <a:ext cx="11029230" cy="609495"/>
          </a:xfrm>
        </p:spPr>
        <p:txBody>
          <a:bodyPr>
            <a:noAutofit/>
          </a:bodyPr>
          <a:lstStyle/>
          <a:p>
            <a:pPr algn="ctr"/>
            <a:r>
              <a:rPr lang="fr-FR" sz="2177" dirty="0"/>
              <a:t>Littérature latine</a:t>
            </a:r>
            <a:br>
              <a:rPr lang="fr-FR" sz="2177" dirty="0"/>
            </a:br>
            <a:r>
              <a:rPr lang="fr-FR" sz="2177" dirty="0"/>
              <a:t>vs</a:t>
            </a:r>
            <a:br>
              <a:rPr lang="fr-FR" sz="2177" dirty="0"/>
            </a:br>
            <a:r>
              <a:rPr lang="fr-FR" sz="2177" dirty="0"/>
              <a:t>littérature en langue latine</a:t>
            </a:r>
            <a:endParaRPr lang="fr-FR" sz="2177" dirty="0"/>
          </a:p>
        </p:txBody>
      </p:sp>
      <p:sp>
        <p:nvSpPr>
          <p:cNvPr id="2" name="Text Placeholder 1"/>
          <p:cNvSpPr txBox="1">
            <a:spLocks noGrp="1"/>
          </p:cNvSpPr>
          <p:nvPr>
            <p:ph idx="1"/>
          </p:nvPr>
        </p:nvSpPr>
        <p:spPr>
          <a:xfrm>
            <a:off x="581387" y="1865003"/>
            <a:ext cx="11029228" cy="4629707"/>
          </a:xfrm>
        </p:spPr>
        <p:txBody>
          <a:bodyPr vert="horz">
            <a:normAutofit/>
          </a:bodyPr>
          <a:lstStyle/>
          <a:p>
            <a:r>
              <a:rPr lang="fr-FR" sz="1935" dirty="0"/>
              <a:t>-241/-78 : Période archaïque</a:t>
            </a:r>
          </a:p>
          <a:p>
            <a:r>
              <a:rPr lang="fr-FR" sz="1935" dirty="0"/>
              <a:t>-78/14 : Période classique</a:t>
            </a:r>
          </a:p>
          <a:p>
            <a:pPr lvl="2"/>
            <a:r>
              <a:rPr lang="fr-FR" sz="1935" dirty="0"/>
              <a:t>-78/-31 : Période cicéronienne</a:t>
            </a:r>
          </a:p>
          <a:p>
            <a:pPr lvl="2"/>
            <a:r>
              <a:rPr lang="fr-FR" sz="1935" dirty="0"/>
              <a:t>-30/14 : Période augustéenne</a:t>
            </a:r>
          </a:p>
          <a:p>
            <a:r>
              <a:rPr lang="fr-FR" sz="1935" dirty="0"/>
              <a:t>14/550 (législation de Justinien) : Période impériale ou </a:t>
            </a:r>
            <a:r>
              <a:rPr lang="fr-FR" sz="1935" dirty="0" err="1"/>
              <a:t>post-classique</a:t>
            </a:r>
            <a:endParaRPr lang="fr-FR" sz="1935" dirty="0"/>
          </a:p>
          <a:p>
            <a:r>
              <a:rPr lang="fr-FR" sz="1935" dirty="0"/>
              <a:t>2</a:t>
            </a:r>
            <a:r>
              <a:rPr lang="fr-FR" sz="1935" baseline="30000" dirty="0"/>
              <a:t>e</a:t>
            </a:r>
            <a:r>
              <a:rPr lang="fr-FR" sz="1935" dirty="0"/>
              <a:t>/6</a:t>
            </a:r>
            <a:r>
              <a:rPr lang="fr-FR" sz="1935" baseline="30000" dirty="0"/>
              <a:t>e</a:t>
            </a:r>
            <a:r>
              <a:rPr lang="fr-FR" sz="1935" dirty="0"/>
              <a:t> siècles : Littérature </a:t>
            </a:r>
            <a:r>
              <a:rPr lang="fr-FR" sz="1935" dirty="0" err="1"/>
              <a:t>chrétienneLittérature</a:t>
            </a:r>
            <a:r>
              <a:rPr lang="fr-FR" sz="1935" dirty="0"/>
              <a:t> </a:t>
            </a:r>
            <a:r>
              <a:rPr lang="fr-FR" sz="1935" dirty="0"/>
              <a:t>latine </a:t>
            </a:r>
            <a:r>
              <a:rPr lang="fr-FR" sz="1935" dirty="0"/>
              <a:t>médiévale </a:t>
            </a:r>
            <a:endParaRPr lang="fr-FR" sz="1935" dirty="0"/>
          </a:p>
          <a:p>
            <a:r>
              <a:rPr lang="fr-FR" sz="1935" dirty="0"/>
              <a:t>Littérature </a:t>
            </a:r>
            <a:r>
              <a:rPr lang="fr-FR" sz="1935" dirty="0"/>
              <a:t>latine </a:t>
            </a:r>
            <a:r>
              <a:rPr lang="fr-FR" sz="1935" dirty="0"/>
              <a:t>humaniste</a:t>
            </a:r>
            <a:endParaRPr lang="fr-FR" sz="1935" dirty="0"/>
          </a:p>
          <a:p>
            <a:r>
              <a:rPr lang="fr-FR" sz="1935" dirty="0"/>
              <a:t>Littérature </a:t>
            </a:r>
            <a:r>
              <a:rPr lang="fr-FR" sz="1935" dirty="0"/>
              <a:t>latine moderne et </a:t>
            </a:r>
            <a:r>
              <a:rPr lang="fr-FR" sz="1935" dirty="0"/>
              <a:t>contemporaine : Jusqu’à nos jours</a:t>
            </a:r>
            <a:endParaRPr lang="fr-FR" sz="2177" dirty="0"/>
          </a:p>
        </p:txBody>
      </p:sp>
    </p:spTree>
    <p:extLst>
      <p:ext uri="{BB962C8B-B14F-4D97-AF65-F5344CB8AC3E}">
        <p14:creationId xmlns:p14="http://schemas.microsoft.com/office/powerpoint/2010/main" val="33879546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81386" y="468044"/>
            <a:ext cx="11029230" cy="1045043"/>
          </a:xfrm>
        </p:spPr>
        <p:txBody>
          <a:bodyPr>
            <a:noAutofit/>
          </a:bodyPr>
          <a:lstStyle/>
          <a:p>
            <a:pPr algn="ctr"/>
            <a:r>
              <a:rPr lang="fr-FR" sz="3870" dirty="0"/>
              <a:t>Néo-Latin</a:t>
            </a:r>
            <a:endParaRPr lang="fr-FR" sz="3870" dirty="0"/>
          </a:p>
        </p:txBody>
      </p:sp>
      <p:pic>
        <p:nvPicPr>
          <p:cNvPr id="2" name="Content Placeholder 1"/>
          <p:cNvPicPr>
            <a:picLocks noGrp="1" noChangeAspect="1"/>
          </p:cNvPicPr>
          <p:nvPr>
            <p:ph idx="1"/>
          </p:nvPr>
        </p:nvPicPr>
        <p:blipFill>
          <a:blip r:embed="rId3"/>
          <a:stretch>
            <a:fillRect/>
          </a:stretch>
        </p:blipFill>
        <p:spPr>
          <a:xfrm>
            <a:off x="3222131" y="1948522"/>
            <a:ext cx="5137612" cy="4718940"/>
          </a:xfrm>
          <a:prstGeom prst="rect">
            <a:avLst/>
          </a:prstGeom>
        </p:spPr>
      </p:pic>
      <p:sp>
        <p:nvSpPr>
          <p:cNvPr id="4" name="Content Placeholder 3"/>
          <p:cNvSpPr>
            <a:spLocks noGrp="1"/>
          </p:cNvSpPr>
          <p:nvPr>
            <p:ph sz="half" idx="4294967295"/>
          </p:nvPr>
        </p:nvSpPr>
        <p:spPr>
          <a:xfrm>
            <a:off x="696610" y="2925978"/>
            <a:ext cx="2351347" cy="1025544"/>
          </a:xfrm>
        </p:spPr>
        <p:txBody>
          <a:bodyPr>
            <a:normAutofit/>
          </a:bodyPr>
          <a:lstStyle/>
          <a:p>
            <a:pPr marL="0" indent="0">
              <a:buNone/>
            </a:pPr>
            <a:r>
              <a:rPr lang="fr-FR" dirty="0" smtClean="0"/>
              <a:t>Descartes</a:t>
            </a:r>
            <a:br>
              <a:rPr lang="fr-FR" dirty="0" smtClean="0"/>
            </a:br>
            <a:r>
              <a:rPr lang="fr-FR" i="1" dirty="0" smtClean="0"/>
              <a:t>Discours de la Méthode</a:t>
            </a:r>
            <a:r>
              <a:rPr lang="fr-FR" dirty="0" smtClean="0"/>
              <a:t/>
            </a:r>
            <a:br>
              <a:rPr lang="fr-FR" dirty="0" smtClean="0"/>
            </a:br>
            <a:r>
              <a:rPr lang="fr-FR" dirty="0" smtClean="0"/>
              <a:t>1637</a:t>
            </a:r>
            <a:endParaRPr lang="fr-FR" i="1" dirty="0" smtClean="0"/>
          </a:p>
        </p:txBody>
      </p:sp>
    </p:spTree>
    <p:extLst>
      <p:ext uri="{BB962C8B-B14F-4D97-AF65-F5344CB8AC3E}">
        <p14:creationId xmlns:p14="http://schemas.microsoft.com/office/powerpoint/2010/main" val="9676921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81387" y="729658"/>
            <a:ext cx="11029230" cy="870516"/>
          </a:xfrm>
        </p:spPr>
        <p:txBody>
          <a:bodyPr>
            <a:noAutofit/>
          </a:bodyPr>
          <a:lstStyle/>
          <a:p>
            <a:pPr algn="ctr"/>
            <a:r>
              <a:rPr lang="fr-FR" sz="3870" dirty="0"/>
              <a:t>Néo-Latin : Baudelaire</a:t>
            </a:r>
            <a:endParaRPr lang="fr-FR" sz="3870" dirty="0"/>
          </a:p>
        </p:txBody>
      </p:sp>
      <p:sp>
        <p:nvSpPr>
          <p:cNvPr id="3" name="Text Placeholder 2"/>
          <p:cNvSpPr>
            <a:spLocks noGrp="1"/>
          </p:cNvSpPr>
          <p:nvPr>
            <p:ph type="body" idx="1"/>
          </p:nvPr>
        </p:nvSpPr>
        <p:spPr/>
        <p:txBody>
          <a:bodyPr/>
          <a:lstStyle/>
          <a:p>
            <a:pPr algn="ctr"/>
            <a:r>
              <a:rPr lang="fr-FR" dirty="0" err="1"/>
              <a:t>Franciscae</a:t>
            </a:r>
            <a:r>
              <a:rPr lang="fr-FR" dirty="0"/>
              <a:t> </a:t>
            </a:r>
            <a:r>
              <a:rPr lang="fr-FR" dirty="0" err="1"/>
              <a:t>meae</a:t>
            </a:r>
            <a:r>
              <a:rPr lang="fr-FR" dirty="0"/>
              <a:t> Laudes</a:t>
            </a:r>
          </a:p>
        </p:txBody>
      </p:sp>
      <p:sp>
        <p:nvSpPr>
          <p:cNvPr id="4" name="Content Placeholder 3"/>
          <p:cNvSpPr>
            <a:spLocks noGrp="1"/>
          </p:cNvSpPr>
          <p:nvPr>
            <p:ph sz="half" idx="2"/>
          </p:nvPr>
        </p:nvSpPr>
        <p:spPr/>
        <p:txBody>
          <a:bodyPr/>
          <a:lstStyle/>
          <a:p>
            <a:pPr marL="0" indent="0">
              <a:buNone/>
            </a:pPr>
            <a:r>
              <a:rPr lang="fr-FR" dirty="0" err="1" smtClean="0"/>
              <a:t>Nouis</a:t>
            </a:r>
            <a:r>
              <a:rPr lang="fr-FR" dirty="0" smtClean="0"/>
              <a:t> </a:t>
            </a:r>
            <a:r>
              <a:rPr lang="fr-FR" dirty="0"/>
              <a:t>te </a:t>
            </a:r>
            <a:r>
              <a:rPr lang="fr-FR" dirty="0" err="1"/>
              <a:t>cantabo</a:t>
            </a:r>
            <a:r>
              <a:rPr lang="fr-FR" dirty="0"/>
              <a:t> </a:t>
            </a:r>
            <a:r>
              <a:rPr lang="fr-FR" dirty="0" err="1"/>
              <a:t>chordis</a:t>
            </a:r>
            <a:r>
              <a:rPr lang="fr-FR" dirty="0"/>
              <a:t>,</a:t>
            </a:r>
            <a:br>
              <a:rPr lang="fr-FR" dirty="0"/>
            </a:br>
            <a:r>
              <a:rPr lang="fr-FR" dirty="0"/>
              <a:t>O </a:t>
            </a:r>
            <a:r>
              <a:rPr lang="fr-FR" dirty="0" err="1"/>
              <a:t>nouelletum</a:t>
            </a:r>
            <a:r>
              <a:rPr lang="fr-FR" dirty="0"/>
              <a:t> quod </a:t>
            </a:r>
            <a:r>
              <a:rPr lang="fr-FR" dirty="0" err="1"/>
              <a:t>ludis</a:t>
            </a:r>
            <a:r>
              <a:rPr lang="fr-FR" dirty="0"/>
              <a:t/>
            </a:r>
            <a:br>
              <a:rPr lang="fr-FR" dirty="0"/>
            </a:br>
            <a:r>
              <a:rPr lang="fr-FR" dirty="0"/>
              <a:t>In </a:t>
            </a:r>
            <a:r>
              <a:rPr lang="fr-FR" dirty="0" err="1"/>
              <a:t>solitudine</a:t>
            </a:r>
            <a:r>
              <a:rPr lang="fr-FR" dirty="0"/>
              <a:t> </a:t>
            </a:r>
            <a:r>
              <a:rPr lang="fr-FR" dirty="0" err="1"/>
              <a:t>cordis</a:t>
            </a:r>
            <a:r>
              <a:rPr lang="fr-FR" dirty="0"/>
              <a:t>.</a:t>
            </a:r>
          </a:p>
          <a:p>
            <a:pPr marL="0" indent="0">
              <a:buNone/>
            </a:pPr>
            <a:r>
              <a:rPr lang="fr-FR" dirty="0" err="1"/>
              <a:t>Esto</a:t>
            </a:r>
            <a:r>
              <a:rPr lang="fr-FR" dirty="0"/>
              <a:t> sertis </a:t>
            </a:r>
            <a:r>
              <a:rPr lang="fr-FR" dirty="0" err="1"/>
              <a:t>implicata</a:t>
            </a:r>
            <a:r>
              <a:rPr lang="fr-FR" dirty="0"/>
              <a:t>,</a:t>
            </a:r>
            <a:br>
              <a:rPr lang="fr-FR" dirty="0"/>
            </a:br>
            <a:r>
              <a:rPr lang="fr-FR" dirty="0"/>
              <a:t>O </a:t>
            </a:r>
            <a:r>
              <a:rPr lang="fr-FR" dirty="0" err="1"/>
              <a:t>femina</a:t>
            </a:r>
            <a:r>
              <a:rPr lang="fr-FR" dirty="0"/>
              <a:t> </a:t>
            </a:r>
            <a:r>
              <a:rPr lang="fr-FR" dirty="0" err="1"/>
              <a:t>delicata</a:t>
            </a:r>
            <a:r>
              <a:rPr lang="fr-FR" dirty="0"/>
              <a:t/>
            </a:r>
            <a:br>
              <a:rPr lang="fr-FR" dirty="0"/>
            </a:br>
            <a:r>
              <a:rPr lang="fr-FR" dirty="0"/>
              <a:t>Per </a:t>
            </a:r>
            <a:r>
              <a:rPr lang="fr-FR" dirty="0" err="1"/>
              <a:t>quam</a:t>
            </a:r>
            <a:r>
              <a:rPr lang="fr-FR" dirty="0"/>
              <a:t> </a:t>
            </a:r>
            <a:r>
              <a:rPr lang="fr-FR" dirty="0" err="1"/>
              <a:t>soluuntur</a:t>
            </a:r>
            <a:r>
              <a:rPr lang="fr-FR" dirty="0"/>
              <a:t> </a:t>
            </a:r>
            <a:r>
              <a:rPr lang="fr-FR" dirty="0" err="1"/>
              <a:t>peccata</a:t>
            </a:r>
            <a:r>
              <a:rPr lang="fr-FR" dirty="0"/>
              <a:t> !</a:t>
            </a:r>
          </a:p>
          <a:p>
            <a:pPr marL="0" indent="0">
              <a:buNone/>
            </a:pPr>
            <a:r>
              <a:rPr lang="fr-FR" dirty="0" smtClean="0"/>
              <a:t>…</a:t>
            </a:r>
            <a:endParaRPr lang="fr-FR" dirty="0"/>
          </a:p>
        </p:txBody>
      </p:sp>
      <p:sp>
        <p:nvSpPr>
          <p:cNvPr id="6" name="Text Placeholder 5"/>
          <p:cNvSpPr>
            <a:spLocks noGrp="1"/>
          </p:cNvSpPr>
          <p:nvPr>
            <p:ph type="body" sz="quarter" idx="3"/>
          </p:nvPr>
        </p:nvSpPr>
        <p:spPr/>
        <p:txBody>
          <a:bodyPr/>
          <a:lstStyle/>
          <a:p>
            <a:pPr algn="ctr"/>
            <a:r>
              <a:rPr lang="fr-FR" dirty="0" smtClean="0"/>
              <a:t>Louanges à ma Françoise</a:t>
            </a:r>
            <a:endParaRPr lang="fr-FR" dirty="0"/>
          </a:p>
        </p:txBody>
      </p:sp>
      <p:sp>
        <p:nvSpPr>
          <p:cNvPr id="7" name="Content Placeholder 6"/>
          <p:cNvSpPr>
            <a:spLocks noGrp="1"/>
          </p:cNvSpPr>
          <p:nvPr>
            <p:ph sz="quarter" idx="4"/>
          </p:nvPr>
        </p:nvSpPr>
        <p:spPr/>
        <p:txBody>
          <a:bodyPr/>
          <a:lstStyle/>
          <a:p>
            <a:pPr marL="0" indent="0">
              <a:buNone/>
            </a:pPr>
            <a:r>
              <a:rPr lang="fr-FR" dirty="0"/>
              <a:t>Mes cordes neuves te loueront,</a:t>
            </a:r>
            <a:br>
              <a:rPr lang="fr-FR" dirty="0"/>
            </a:br>
            <a:r>
              <a:rPr lang="fr-FR" dirty="0"/>
              <a:t>Ô ma puce qui te folâtres</a:t>
            </a:r>
            <a:br>
              <a:rPr lang="fr-FR" dirty="0"/>
            </a:br>
            <a:r>
              <a:rPr lang="fr-FR" dirty="0"/>
              <a:t>Dans la réclusion de mon cœur.</a:t>
            </a:r>
          </a:p>
          <a:p>
            <a:pPr marL="0" indent="0">
              <a:buNone/>
            </a:pPr>
            <a:r>
              <a:rPr lang="fr-FR" dirty="0"/>
              <a:t>Sois enveloppée de couronnes,</a:t>
            </a:r>
            <a:br>
              <a:rPr lang="fr-FR" dirty="0"/>
            </a:br>
            <a:r>
              <a:rPr lang="fr-FR" dirty="0"/>
              <a:t>Ô créature délicieuse</a:t>
            </a:r>
            <a:br>
              <a:rPr lang="fr-FR" dirty="0"/>
            </a:br>
            <a:r>
              <a:rPr lang="fr-FR" dirty="0"/>
              <a:t>Par qui les péchés sont remis !</a:t>
            </a:r>
          </a:p>
          <a:p>
            <a:pPr marL="0" indent="0">
              <a:buNone/>
            </a:pPr>
            <a:r>
              <a:rPr lang="fr-FR" dirty="0" smtClean="0"/>
              <a:t>…</a:t>
            </a:r>
            <a:endParaRPr lang="fr-FR" dirty="0"/>
          </a:p>
        </p:txBody>
      </p:sp>
    </p:spTree>
    <p:extLst>
      <p:ext uri="{BB962C8B-B14F-4D97-AF65-F5344CB8AC3E}">
        <p14:creationId xmlns:p14="http://schemas.microsoft.com/office/powerpoint/2010/main" val="30703443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81386" y="816392"/>
            <a:ext cx="11029230" cy="870869"/>
          </a:xfrm>
        </p:spPr>
        <p:txBody>
          <a:bodyPr>
            <a:noAutofit/>
          </a:bodyPr>
          <a:lstStyle/>
          <a:p>
            <a:pPr algn="ctr"/>
            <a:r>
              <a:rPr lang="fr-FR" sz="3628" dirty="0"/>
              <a:t>Transmission des textes antiques</a:t>
            </a:r>
            <a:endParaRPr lang="fr-FR" sz="3628" dirty="0"/>
          </a:p>
        </p:txBody>
      </p:sp>
      <p:pic>
        <p:nvPicPr>
          <p:cNvPr id="3" name="Content Placeholder 2"/>
          <p:cNvPicPr>
            <a:picLocks noGrp="1" noChangeAspect="1"/>
          </p:cNvPicPr>
          <p:nvPr>
            <p:ph idx="1"/>
          </p:nvPr>
        </p:nvPicPr>
        <p:blipFill>
          <a:blip r:embed="rId3"/>
          <a:stretch>
            <a:fillRect/>
          </a:stretch>
        </p:blipFill>
        <p:spPr>
          <a:xfrm>
            <a:off x="1132045" y="3080652"/>
            <a:ext cx="10140522" cy="3309304"/>
          </a:xfrm>
          <a:prstGeom prst="rect">
            <a:avLst/>
          </a:prstGeom>
        </p:spPr>
      </p:pic>
      <p:sp>
        <p:nvSpPr>
          <p:cNvPr id="4" name="TextBox 3"/>
          <p:cNvSpPr txBox="1"/>
          <p:nvPr/>
        </p:nvSpPr>
        <p:spPr>
          <a:xfrm>
            <a:off x="1567479" y="2209783"/>
            <a:ext cx="9102839" cy="762388"/>
          </a:xfrm>
          <a:prstGeom prst="rect">
            <a:avLst/>
          </a:prstGeom>
          <a:noFill/>
        </p:spPr>
        <p:txBody>
          <a:bodyPr wrap="square" rtlCol="0">
            <a:spAutoFit/>
          </a:bodyPr>
          <a:lstStyle/>
          <a:p>
            <a:r>
              <a:rPr lang="fr-FR" sz="2177" b="1" dirty="0">
                <a:solidFill>
                  <a:srgbClr val="002060"/>
                </a:solidFill>
              </a:rPr>
              <a:t>Extrait du Ms. </a:t>
            </a:r>
            <a:r>
              <a:rPr lang="fr-FR" sz="2177" b="1" dirty="0">
                <a:solidFill>
                  <a:srgbClr val="002060"/>
                </a:solidFill>
              </a:rPr>
              <a:t>Latin </a:t>
            </a:r>
            <a:r>
              <a:rPr lang="fr-FR" sz="2177" b="1" dirty="0">
                <a:solidFill>
                  <a:srgbClr val="002060"/>
                </a:solidFill>
              </a:rPr>
              <a:t>17903 (Paris, BNF) – Date : 1200-1225</a:t>
            </a:r>
          </a:p>
          <a:p>
            <a:r>
              <a:rPr lang="fr-FR" sz="2177" b="1" dirty="0">
                <a:solidFill>
                  <a:srgbClr val="002060"/>
                </a:solidFill>
              </a:rPr>
              <a:t>Ici : Claudien, </a:t>
            </a:r>
            <a:r>
              <a:rPr lang="fr-FR" sz="2177" b="1" i="1" dirty="0">
                <a:solidFill>
                  <a:srgbClr val="002060"/>
                </a:solidFill>
              </a:rPr>
              <a:t>Contre Rufin</a:t>
            </a:r>
            <a:endParaRPr lang="fr-FR" sz="2177" b="1" i="1" dirty="0">
              <a:solidFill>
                <a:srgbClr val="002060"/>
              </a:solidFill>
            </a:endParaRPr>
          </a:p>
        </p:txBody>
      </p:sp>
    </p:spTree>
    <p:extLst>
      <p:ext uri="{BB962C8B-B14F-4D97-AF65-F5344CB8AC3E}">
        <p14:creationId xmlns:p14="http://schemas.microsoft.com/office/powerpoint/2010/main" val="13288951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81386" y="702156"/>
            <a:ext cx="11029230" cy="985105"/>
          </a:xfrm>
        </p:spPr>
        <p:txBody>
          <a:bodyPr>
            <a:normAutofit/>
          </a:bodyPr>
          <a:lstStyle/>
          <a:p>
            <a:pPr algn="ctr"/>
            <a:r>
              <a:rPr lang="fr-FR" dirty="0" err="1" smtClean="0"/>
              <a:t>lITTérature</a:t>
            </a:r>
            <a:r>
              <a:rPr lang="fr-FR" dirty="0" smtClean="0"/>
              <a:t> latine</a:t>
            </a:r>
            <a:br>
              <a:rPr lang="fr-FR" dirty="0" smtClean="0"/>
            </a:br>
            <a:r>
              <a:rPr lang="fr-FR" dirty="0" smtClean="0"/>
              <a:t>ETAT DES LIEUX (A.F.  </a:t>
            </a:r>
            <a:r>
              <a:rPr lang="fr-FR" dirty="0" err="1" smtClean="0"/>
              <a:t>Wert</a:t>
            </a:r>
            <a:r>
              <a:rPr lang="fr-FR" dirty="0"/>
              <a:t>)</a:t>
            </a:r>
          </a:p>
        </p:txBody>
      </p:sp>
      <p:graphicFrame>
        <p:nvGraphicFramePr>
          <p:cNvPr id="12" name="Content Placeholder 11"/>
          <p:cNvGraphicFramePr>
            <a:graphicFrameLocks noGrp="1"/>
          </p:cNvGraphicFramePr>
          <p:nvPr>
            <p:ph idx="1"/>
            <p:extLst/>
          </p:nvPr>
        </p:nvGraphicFramePr>
        <p:xfrm>
          <a:off x="435349" y="2122696"/>
          <a:ext cx="11349141" cy="418017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455056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r-FR" dirty="0" err="1" smtClean="0"/>
              <a:t>Livius</a:t>
            </a:r>
            <a:r>
              <a:rPr lang="fr-FR" dirty="0" smtClean="0"/>
              <a:t> </a:t>
            </a:r>
            <a:r>
              <a:rPr lang="fr-FR" dirty="0" err="1" smtClean="0"/>
              <a:t>andronicus</a:t>
            </a:r>
            <a:endParaRPr lang="fr-FR" dirty="0"/>
          </a:p>
        </p:txBody>
      </p:sp>
      <p:sp>
        <p:nvSpPr>
          <p:cNvPr id="5" name="Text Placeholder 4"/>
          <p:cNvSpPr>
            <a:spLocks noGrp="1"/>
          </p:cNvSpPr>
          <p:nvPr>
            <p:ph type="body" idx="1"/>
          </p:nvPr>
        </p:nvSpPr>
        <p:spPr/>
        <p:txBody>
          <a:bodyPr/>
          <a:lstStyle/>
          <a:p>
            <a:r>
              <a:rPr lang="fr-FR" dirty="0" smtClean="0"/>
              <a:t>Les débuts de la littérature latine</a:t>
            </a:r>
            <a:endParaRPr lang="fr-FR" dirty="0"/>
          </a:p>
        </p:txBody>
      </p:sp>
    </p:spTree>
    <p:extLst>
      <p:ext uri="{BB962C8B-B14F-4D97-AF65-F5344CB8AC3E}">
        <p14:creationId xmlns:p14="http://schemas.microsoft.com/office/powerpoint/2010/main" val="42090066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err="1" smtClean="0"/>
              <a:t>Livius</a:t>
            </a:r>
            <a:r>
              <a:rPr lang="fr-FR" dirty="0" smtClean="0"/>
              <a:t> </a:t>
            </a:r>
            <a:r>
              <a:rPr lang="fr-FR" dirty="0" err="1" smtClean="0"/>
              <a:t>Andronicus</a:t>
            </a:r>
            <a:endParaRPr lang="fr-FR" dirty="0"/>
          </a:p>
        </p:txBody>
      </p:sp>
      <p:sp>
        <p:nvSpPr>
          <p:cNvPr id="3" name="Content Placeholder 2"/>
          <p:cNvSpPr>
            <a:spLocks noGrp="1"/>
          </p:cNvSpPr>
          <p:nvPr>
            <p:ph idx="1"/>
          </p:nvPr>
        </p:nvSpPr>
        <p:spPr>
          <a:xfrm>
            <a:off x="581192" y="1973525"/>
            <a:ext cx="11029615" cy="4409690"/>
          </a:xfrm>
        </p:spPr>
        <p:txBody>
          <a:bodyPr>
            <a:normAutofit lnSpcReduction="10000"/>
          </a:bodyPr>
          <a:lstStyle/>
          <a:p>
            <a:pPr marL="0" indent="0">
              <a:buNone/>
            </a:pPr>
            <a:r>
              <a:rPr lang="fr-FR" sz="2400" b="1" dirty="0"/>
              <a:t>Identité et statut : Le "Passeur" entre deux mondes</a:t>
            </a:r>
          </a:p>
          <a:p>
            <a:r>
              <a:rPr lang="fr-FR" sz="2400" b="1" dirty="0"/>
              <a:t>Origines et culture</a:t>
            </a:r>
            <a:r>
              <a:rPr lang="fr-FR" sz="2400" dirty="0"/>
              <a:t> : Né à Tarente (v. 280-260 av. J.-C.), il est de naissance et de culture grecque. Qualifié de </a:t>
            </a:r>
            <a:r>
              <a:rPr lang="fr-FR" sz="2400" i="1" dirty="0" err="1"/>
              <a:t>semigraecus</a:t>
            </a:r>
            <a:r>
              <a:rPr lang="fr-FR" sz="2400" dirty="0"/>
              <a:t> par Suétone, il est le pont entre l'héritage hellénistique et la nouvelle littérature latine.</a:t>
            </a:r>
          </a:p>
          <a:p>
            <a:r>
              <a:rPr lang="fr-FR" sz="2400" b="1" dirty="0"/>
              <a:t>Statut social</a:t>
            </a:r>
            <a:r>
              <a:rPr lang="fr-FR" sz="2400" dirty="0"/>
              <a:t> : Arrivé à Rome probablement comme esclave après la chute de Tarente (en 272 ou 209 selon les sources), il devient le précepteur des fils du consul </a:t>
            </a:r>
            <a:r>
              <a:rPr lang="fr-FR" sz="2400" b="1" dirty="0" err="1"/>
              <a:t>Livius</a:t>
            </a:r>
            <a:r>
              <a:rPr lang="fr-FR" sz="2400" b="1" dirty="0"/>
              <a:t> </a:t>
            </a:r>
            <a:r>
              <a:rPr lang="fr-FR" sz="2400" b="1" dirty="0" err="1"/>
              <a:t>Salinator</a:t>
            </a:r>
            <a:r>
              <a:rPr lang="fr-FR" sz="2400" dirty="0"/>
              <a:t>. Affranchi par ce dernier, il prend ses </a:t>
            </a:r>
            <a:r>
              <a:rPr lang="fr-FR" sz="2400" i="1" dirty="0"/>
              <a:t>tria nomina</a:t>
            </a:r>
            <a:r>
              <a:rPr lang="fr-FR" sz="2400" dirty="0"/>
              <a:t> : Lucius </a:t>
            </a:r>
            <a:r>
              <a:rPr lang="fr-FR" sz="2400" dirty="0" err="1"/>
              <a:t>Livius</a:t>
            </a:r>
            <a:r>
              <a:rPr lang="fr-FR" sz="2400" dirty="0"/>
              <a:t> </a:t>
            </a:r>
            <a:r>
              <a:rPr lang="fr-FR" sz="2400" dirty="0" err="1"/>
              <a:t>Andronicus</a:t>
            </a:r>
            <a:r>
              <a:rPr lang="fr-FR" sz="2400" dirty="0"/>
              <a:t>.</a:t>
            </a:r>
          </a:p>
          <a:p>
            <a:r>
              <a:rPr lang="fr-FR" sz="2400" b="1" dirty="0"/>
              <a:t>Le premier nom connu</a:t>
            </a:r>
            <a:r>
              <a:rPr lang="fr-FR" sz="2400" dirty="0"/>
              <a:t> : Il est historiquement reconnu comme le tout premier poète latin dont le nom nous soit parvenu, marquant le passage d'une tradition purement orale à une littérature écrite.</a:t>
            </a:r>
          </a:p>
        </p:txBody>
      </p:sp>
    </p:spTree>
    <p:extLst>
      <p:ext uri="{BB962C8B-B14F-4D97-AF65-F5344CB8AC3E}">
        <p14:creationId xmlns:p14="http://schemas.microsoft.com/office/powerpoint/2010/main" val="5044485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err="1" smtClean="0"/>
              <a:t>Livius</a:t>
            </a:r>
            <a:r>
              <a:rPr lang="fr-FR" dirty="0" smtClean="0"/>
              <a:t> </a:t>
            </a:r>
            <a:r>
              <a:rPr lang="fr-FR" dirty="0" err="1" smtClean="0"/>
              <a:t>Andronicus</a:t>
            </a:r>
            <a:endParaRPr lang="fr-FR" dirty="0"/>
          </a:p>
        </p:txBody>
      </p:sp>
      <p:sp>
        <p:nvSpPr>
          <p:cNvPr id="3" name="Content Placeholder 2"/>
          <p:cNvSpPr>
            <a:spLocks noGrp="1"/>
          </p:cNvSpPr>
          <p:nvPr>
            <p:ph idx="1"/>
          </p:nvPr>
        </p:nvSpPr>
        <p:spPr>
          <a:xfrm>
            <a:off x="581192" y="1973525"/>
            <a:ext cx="11029615" cy="4409690"/>
          </a:xfrm>
        </p:spPr>
        <p:txBody>
          <a:bodyPr>
            <a:normAutofit/>
          </a:bodyPr>
          <a:lstStyle/>
          <a:p>
            <a:pPr marL="0" indent="0">
              <a:buNone/>
            </a:pPr>
            <a:r>
              <a:rPr lang="fr-FR" b="1" dirty="0"/>
              <a:t>Fondation du théâtre : L'invention du spectacle à intrigue</a:t>
            </a:r>
          </a:p>
          <a:p>
            <a:r>
              <a:rPr lang="fr-FR" b="1" dirty="0"/>
              <a:t>L'acte de naissance (240 av. J.-C.)</a:t>
            </a:r>
            <a:r>
              <a:rPr lang="fr-FR" dirty="0"/>
              <a:t> : Sur commande officielle des édiles après la Première Guerre punique, il adapte et produit la première pièce de théâtre dotée d'une intrigue structurée (</a:t>
            </a:r>
            <a:r>
              <a:rPr lang="fr-FR" i="1" dirty="0" err="1"/>
              <a:t>argumentum</a:t>
            </a:r>
            <a:r>
              <a:rPr lang="fr-FR" dirty="0"/>
              <a:t>) à Rome. Avant lui, le théâtre romain se limitait à des performances improvisées et sans lien logique (fescennins, </a:t>
            </a:r>
            <a:r>
              <a:rPr lang="fr-FR" dirty="0" err="1"/>
              <a:t>saturae</a:t>
            </a:r>
            <a:r>
              <a:rPr lang="fr-FR" dirty="0"/>
              <a:t>).</a:t>
            </a:r>
          </a:p>
          <a:p>
            <a:r>
              <a:rPr lang="fr-FR" b="1" dirty="0"/>
              <a:t>Introduction des genres grecs</a:t>
            </a:r>
            <a:r>
              <a:rPr lang="fr-FR" dirty="0"/>
              <a:t> :</a:t>
            </a:r>
          </a:p>
          <a:p>
            <a:pPr lvl="1"/>
            <a:r>
              <a:rPr lang="fr-FR" b="1" dirty="0"/>
              <a:t>La Tragédie</a:t>
            </a:r>
            <a:r>
              <a:rPr lang="fr-FR" dirty="0"/>
              <a:t> : Il importe les codes de la tragédie grecque (Eschyle, Sophocle, Euripide). Ses titres (</a:t>
            </a:r>
            <a:r>
              <a:rPr lang="fr-FR" i="1" dirty="0"/>
              <a:t>Achilles, </a:t>
            </a:r>
            <a:r>
              <a:rPr lang="fr-FR" i="1" dirty="0" err="1"/>
              <a:t>Aegisthus</a:t>
            </a:r>
            <a:r>
              <a:rPr lang="fr-FR" i="1" dirty="0"/>
              <a:t>, Ajax</a:t>
            </a:r>
            <a:r>
              <a:rPr lang="fr-FR" dirty="0"/>
              <a:t>) traitent majoritairement du cycle de Troie, un sujet qui commençait à devenir central pour l'identité historique romaine.</a:t>
            </a:r>
          </a:p>
          <a:p>
            <a:pPr lvl="1"/>
            <a:r>
              <a:rPr lang="fr-FR" b="1" dirty="0"/>
              <a:t>La Comédie (</a:t>
            </a:r>
            <a:r>
              <a:rPr lang="fr-FR" b="1" i="1" dirty="0"/>
              <a:t>Fabula </a:t>
            </a:r>
            <a:r>
              <a:rPr lang="fr-FR" b="1" i="1" dirty="0" err="1"/>
              <a:t>Palliata</a:t>
            </a:r>
            <a:r>
              <a:rPr lang="fr-FR" b="1" dirty="0"/>
              <a:t>)</a:t>
            </a:r>
            <a:r>
              <a:rPr lang="fr-FR" dirty="0"/>
              <a:t> : Il adapte la "Nouvelle Comédie" grecque. Ses fragments (évoquant des poux ou des punaises) montrent une volonté de conserver l'humour trivial et quotidien du genre.</a:t>
            </a:r>
          </a:p>
          <a:p>
            <a:r>
              <a:rPr lang="fr-FR" b="1" dirty="0"/>
              <a:t>Thèmes et "Romanisation"</a:t>
            </a:r>
            <a:r>
              <a:rPr lang="fr-FR" dirty="0"/>
              <a:t> : Il ne se contente pas de traduire, il réécrit. Ses pièces insistent sur la </a:t>
            </a:r>
            <a:r>
              <a:rPr lang="fr-FR" b="1" dirty="0"/>
              <a:t>justice</a:t>
            </a:r>
            <a:r>
              <a:rPr lang="fr-FR" dirty="0"/>
              <a:t>, la </a:t>
            </a:r>
            <a:r>
              <a:rPr lang="fr-FR" b="1" dirty="0"/>
              <a:t>piété</a:t>
            </a:r>
            <a:r>
              <a:rPr lang="fr-FR" dirty="0"/>
              <a:t> et le comportement des vainqueurs, des thèmes cruciaux pour une Rome en pleine expansion militaire.</a:t>
            </a:r>
          </a:p>
          <a:p>
            <a:r>
              <a:rPr lang="fr-FR" b="1" dirty="0"/>
              <a:t>Innovation scénique</a:t>
            </a:r>
            <a:r>
              <a:rPr lang="fr-FR" dirty="0"/>
              <a:t> : En tant qu'acteur-auteur, il instaure la séparation entre le chant (exécuté par un </a:t>
            </a:r>
            <a:r>
              <a:rPr lang="fr-FR" i="1" dirty="0"/>
              <a:t>cantor</a:t>
            </a:r>
            <a:r>
              <a:rPr lang="fr-FR" dirty="0"/>
              <a:t>) et le geste (exécuté par l'acteur), une spécificité qui marquera le théâtre romain.</a:t>
            </a:r>
          </a:p>
        </p:txBody>
      </p:sp>
    </p:spTree>
    <p:extLst>
      <p:ext uri="{BB962C8B-B14F-4D97-AF65-F5344CB8AC3E}">
        <p14:creationId xmlns:p14="http://schemas.microsoft.com/office/powerpoint/2010/main" val="12016619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err="1" smtClean="0"/>
              <a:t>Livius</a:t>
            </a:r>
            <a:r>
              <a:rPr lang="fr-FR" dirty="0" smtClean="0"/>
              <a:t> </a:t>
            </a:r>
            <a:r>
              <a:rPr lang="fr-FR" dirty="0" err="1" smtClean="0"/>
              <a:t>Andronicus</a:t>
            </a:r>
            <a:endParaRPr lang="fr-FR" dirty="0"/>
          </a:p>
        </p:txBody>
      </p:sp>
      <p:sp>
        <p:nvSpPr>
          <p:cNvPr id="3" name="Content Placeholder 2"/>
          <p:cNvSpPr>
            <a:spLocks noGrp="1"/>
          </p:cNvSpPr>
          <p:nvPr>
            <p:ph idx="1"/>
          </p:nvPr>
        </p:nvSpPr>
        <p:spPr>
          <a:xfrm>
            <a:off x="581192" y="1973525"/>
            <a:ext cx="11029615" cy="4409690"/>
          </a:xfrm>
        </p:spPr>
        <p:txBody>
          <a:bodyPr>
            <a:normAutofit/>
          </a:bodyPr>
          <a:lstStyle/>
          <a:p>
            <a:pPr marL="0" indent="0">
              <a:buNone/>
            </a:pPr>
            <a:r>
              <a:rPr lang="fr-FR" b="1" dirty="0"/>
              <a:t>Fondation de l'épopée : L'</a:t>
            </a:r>
            <a:r>
              <a:rPr lang="fr-FR" b="1" i="1" dirty="0" err="1"/>
              <a:t>Odusia</a:t>
            </a:r>
            <a:r>
              <a:rPr lang="fr-FR" b="1" dirty="0"/>
              <a:t> et le vers Saturnien</a:t>
            </a:r>
          </a:p>
          <a:p>
            <a:r>
              <a:rPr lang="fr-FR" b="1" dirty="0"/>
              <a:t>La naissance de l'épopée latine</a:t>
            </a:r>
            <a:r>
              <a:rPr lang="fr-FR" dirty="0"/>
              <a:t> : Avec l'</a:t>
            </a:r>
            <a:r>
              <a:rPr lang="fr-FR" i="1" dirty="0" err="1"/>
              <a:t>Odusia</a:t>
            </a:r>
            <a:r>
              <a:rPr lang="fr-FR" dirty="0"/>
              <a:t>, il crée le premier grand texte épique en langue latine. Ce n'est pas une traduction littérale mais une </a:t>
            </a:r>
            <a:r>
              <a:rPr lang="fr-FR" b="1" dirty="0"/>
              <a:t>adaptation culturelle</a:t>
            </a:r>
            <a:r>
              <a:rPr lang="fr-FR" dirty="0"/>
              <a:t> de l'Odyssée d'Homère.</a:t>
            </a:r>
          </a:p>
          <a:p>
            <a:r>
              <a:rPr lang="fr-FR" b="1" dirty="0"/>
              <a:t>Le choix du vers Saturnien</a:t>
            </a:r>
            <a:r>
              <a:rPr lang="fr-FR" dirty="0"/>
              <a:t> : Contrairement à l'hexamètre dactylique grec, il utilise le mètre indigène italique (le saturnien). Ce choix archaïque visait à donner un caractère solennel et prophétique au texte, proche des anciens chants religieux romains.</a:t>
            </a:r>
          </a:p>
          <a:p>
            <a:r>
              <a:rPr lang="fr-FR" b="1" dirty="0"/>
              <a:t>Objectif pédagogique et moral</a:t>
            </a:r>
            <a:r>
              <a:rPr lang="fr-FR" dirty="0"/>
              <a:t> :</a:t>
            </a:r>
          </a:p>
          <a:p>
            <a:pPr lvl="1"/>
            <a:r>
              <a:rPr lang="fr-FR" dirty="0"/>
              <a:t>L'œuvre servait de manuel scolaire pour enseigner le latin et la morale aux jeunes aristocrates romains.</a:t>
            </a:r>
          </a:p>
          <a:p>
            <a:pPr lvl="1"/>
            <a:r>
              <a:rPr lang="fr-FR" dirty="0"/>
              <a:t>Il transforme le personnage d'Ulysse : d'homme astucieux (grec), il devient un modèle de </a:t>
            </a:r>
            <a:r>
              <a:rPr lang="fr-FR" b="1" dirty="0" err="1"/>
              <a:t>Fides</a:t>
            </a:r>
            <a:r>
              <a:rPr lang="fr-FR" dirty="0"/>
              <a:t> (loyauté) et de </a:t>
            </a:r>
            <a:r>
              <a:rPr lang="fr-FR" b="1" dirty="0"/>
              <a:t>Virtus</a:t>
            </a:r>
            <a:r>
              <a:rPr lang="fr-FR" dirty="0"/>
              <a:t>, le rapprochant de la figure d'Énée, l'ancêtre mythique des Romains.</a:t>
            </a:r>
          </a:p>
          <a:p>
            <a:r>
              <a:rPr lang="fr-FR" b="1" dirty="0"/>
              <a:t>Postérité de l'épopée</a:t>
            </a:r>
            <a:r>
              <a:rPr lang="fr-FR" dirty="0"/>
              <a:t> : L'</a:t>
            </a:r>
            <a:r>
              <a:rPr lang="fr-FR" i="1" dirty="0" err="1"/>
              <a:t>Odusia</a:t>
            </a:r>
            <a:r>
              <a:rPr lang="fr-FR" dirty="0"/>
              <a:t> restera utilisée dans les écoles romaines pendant des siècles, jusqu'à ce que l'Énéide de Virgile ne vienne la remplacer.</a:t>
            </a:r>
          </a:p>
        </p:txBody>
      </p:sp>
    </p:spTree>
    <p:extLst>
      <p:ext uri="{BB962C8B-B14F-4D97-AF65-F5344CB8AC3E}">
        <p14:creationId xmlns:p14="http://schemas.microsoft.com/office/powerpoint/2010/main" val="39575927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err="1" smtClean="0"/>
              <a:t>Livius</a:t>
            </a:r>
            <a:r>
              <a:rPr lang="fr-FR" dirty="0" smtClean="0"/>
              <a:t> </a:t>
            </a:r>
            <a:r>
              <a:rPr lang="fr-FR" dirty="0" err="1" smtClean="0"/>
              <a:t>Andronicus</a:t>
            </a:r>
            <a:r>
              <a:rPr lang="fr-FR" dirty="0" smtClean="0"/>
              <a:t/>
            </a:r>
            <a:br>
              <a:rPr lang="fr-FR" dirty="0" smtClean="0"/>
            </a:br>
            <a:r>
              <a:rPr lang="fr-FR" dirty="0" smtClean="0"/>
              <a:t>Fragments</a:t>
            </a:r>
            <a:endParaRPr lang="fr-FR" dirty="0"/>
          </a:p>
        </p:txBody>
      </p:sp>
      <p:sp>
        <p:nvSpPr>
          <p:cNvPr id="3" name="Content Placeholder 2"/>
          <p:cNvSpPr>
            <a:spLocks noGrp="1"/>
          </p:cNvSpPr>
          <p:nvPr>
            <p:ph idx="1"/>
          </p:nvPr>
        </p:nvSpPr>
        <p:spPr>
          <a:xfrm>
            <a:off x="581192" y="1973525"/>
            <a:ext cx="11029615" cy="4409690"/>
          </a:xfrm>
        </p:spPr>
        <p:txBody>
          <a:bodyPr>
            <a:normAutofit/>
          </a:bodyPr>
          <a:lstStyle/>
          <a:p>
            <a:pPr lvl="0"/>
            <a:r>
              <a:rPr lang="fr-FR" b="1" dirty="0"/>
              <a:t>Homère, </a:t>
            </a:r>
            <a:r>
              <a:rPr lang="fr-FR" b="1" i="1" dirty="0"/>
              <a:t>Iliade</a:t>
            </a:r>
            <a:r>
              <a:rPr lang="fr-FR" b="1" dirty="0"/>
              <a:t>, I, 1, 1-7</a:t>
            </a:r>
          </a:p>
          <a:p>
            <a:pPr marL="0" indent="0" algn="just">
              <a:buNone/>
            </a:pPr>
            <a:r>
              <a:rPr lang="fr-FR" dirty="0"/>
              <a:t>Chante, déesse, la colère d'Achille, le fils de </a:t>
            </a:r>
            <a:r>
              <a:rPr lang="fr-FR" dirty="0" err="1"/>
              <a:t>Pélée</a:t>
            </a:r>
            <a:r>
              <a:rPr lang="fr-FR" dirty="0"/>
              <a:t> ; détestable colère, qui valut aux Achéens des milliers de maux, précipita chez Hadès les âmes fières d'une foule de héros, et fit de leurs corps la proie des chiens et de tous les oiseaux. Ainsi s'accomplissait la volonté de Zeus. Pars du moment où une querelle, d'abord, divisa le fils d'Atrée, roi des guerriers, et le divin Achille.</a:t>
            </a:r>
          </a:p>
          <a:p>
            <a:pPr lvl="0"/>
            <a:r>
              <a:rPr lang="fr-FR" b="1" dirty="0"/>
              <a:t>Homère, </a:t>
            </a:r>
            <a:r>
              <a:rPr lang="fr-FR" b="1" i="1" dirty="0"/>
              <a:t>Odyssée</a:t>
            </a:r>
            <a:r>
              <a:rPr lang="fr-FR" b="1" dirty="0"/>
              <a:t>, I, 1-11</a:t>
            </a:r>
          </a:p>
          <a:p>
            <a:pPr marL="0" indent="0" algn="just">
              <a:buNone/>
            </a:pPr>
            <a:r>
              <a:rPr lang="fr-FR" dirty="0"/>
              <a:t>C'est l'homme aux mille ruses, Muse, qu'il faut me raconter, celui qui erra tant, après avoir détruit la ville sainte de Troie, qui vit tant de cités d'hommes et découvrit leurs usages, endurant beaucoup de maux dans son cœur sur la mer, pour survivre et ramener ses compagnons dans leur patrie ; mais il ne put en sauver un seul, malgré son désir : c'est par leur propre impiété qu'ils se perdirent, ces insensés, qui mangèrent les troupeaux du Soleil, le dieu d’en haut qui raya pour eux le jour du retour. De ces aventures, déesse fille de Zeus, raconte-nous quelques-unes à nous aussi</a:t>
            </a:r>
            <a:r>
              <a:rPr lang="fr-FR" dirty="0" smtClean="0"/>
              <a:t>.</a:t>
            </a:r>
          </a:p>
          <a:p>
            <a:pPr lvl="0"/>
            <a:r>
              <a:rPr lang="fr-FR" b="1" dirty="0" err="1"/>
              <a:t>Livius</a:t>
            </a:r>
            <a:r>
              <a:rPr lang="fr-FR" b="1" dirty="0"/>
              <a:t> </a:t>
            </a:r>
            <a:r>
              <a:rPr lang="fr-FR" b="1" dirty="0" err="1"/>
              <a:t>Andronicus</a:t>
            </a:r>
            <a:r>
              <a:rPr lang="fr-FR" b="1" dirty="0"/>
              <a:t>, </a:t>
            </a:r>
            <a:r>
              <a:rPr lang="fr-FR" b="1" i="1" dirty="0" err="1"/>
              <a:t>Odyssia</a:t>
            </a:r>
            <a:r>
              <a:rPr lang="fr-FR" b="1" i="1" dirty="0"/>
              <a:t> </a:t>
            </a:r>
            <a:r>
              <a:rPr lang="fr-FR" b="1" dirty="0"/>
              <a:t>1 (voir Homère, </a:t>
            </a:r>
            <a:r>
              <a:rPr lang="fr-FR" b="1" i="1" dirty="0"/>
              <a:t>Odyssée, </a:t>
            </a:r>
            <a:r>
              <a:rPr lang="fr-FR" b="1" dirty="0"/>
              <a:t>I, 1)</a:t>
            </a:r>
          </a:p>
          <a:p>
            <a:pPr marL="0" indent="0">
              <a:buNone/>
            </a:pPr>
            <a:r>
              <a:rPr lang="fr-FR" dirty="0"/>
              <a:t>Parle-moi, </a:t>
            </a:r>
            <a:r>
              <a:rPr lang="fr-FR" dirty="0" err="1"/>
              <a:t>Camène</a:t>
            </a:r>
            <a:r>
              <a:rPr lang="fr-FR" dirty="0"/>
              <a:t>, de l’homme rusé…</a:t>
            </a:r>
          </a:p>
          <a:p>
            <a:pPr marL="0" indent="0" algn="just">
              <a:buNone/>
            </a:pPr>
            <a:endParaRPr lang="fr-FR" dirty="0"/>
          </a:p>
        </p:txBody>
      </p:sp>
    </p:spTree>
    <p:extLst>
      <p:ext uri="{BB962C8B-B14F-4D97-AF65-F5344CB8AC3E}">
        <p14:creationId xmlns:p14="http://schemas.microsoft.com/office/powerpoint/2010/main" val="11022664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err="1" smtClean="0"/>
              <a:t>Livius</a:t>
            </a:r>
            <a:r>
              <a:rPr lang="fr-FR" dirty="0" smtClean="0"/>
              <a:t> </a:t>
            </a:r>
            <a:r>
              <a:rPr lang="fr-FR" dirty="0" err="1" smtClean="0"/>
              <a:t>Andronicus</a:t>
            </a:r>
            <a:r>
              <a:rPr lang="fr-FR" dirty="0" smtClean="0"/>
              <a:t/>
            </a:r>
            <a:br>
              <a:rPr lang="fr-FR" dirty="0" smtClean="0"/>
            </a:br>
            <a:r>
              <a:rPr lang="fr-FR" dirty="0" smtClean="0"/>
              <a:t>Fragments</a:t>
            </a:r>
            <a:endParaRPr lang="fr-FR" dirty="0"/>
          </a:p>
        </p:txBody>
      </p:sp>
      <p:sp>
        <p:nvSpPr>
          <p:cNvPr id="3" name="Content Placeholder 2"/>
          <p:cNvSpPr>
            <a:spLocks noGrp="1"/>
          </p:cNvSpPr>
          <p:nvPr>
            <p:ph idx="1"/>
          </p:nvPr>
        </p:nvSpPr>
        <p:spPr>
          <a:xfrm>
            <a:off x="581192" y="1973525"/>
            <a:ext cx="11029615" cy="4409690"/>
          </a:xfrm>
        </p:spPr>
        <p:txBody>
          <a:bodyPr>
            <a:normAutofit/>
          </a:bodyPr>
          <a:lstStyle/>
          <a:p>
            <a:pPr lvl="0"/>
            <a:r>
              <a:rPr lang="en-US" b="1" dirty="0" err="1"/>
              <a:t>Livius</a:t>
            </a:r>
            <a:r>
              <a:rPr lang="en-US" b="1" dirty="0"/>
              <a:t> Andronicus, </a:t>
            </a:r>
            <a:r>
              <a:rPr lang="en-US" b="1" i="1" dirty="0" err="1"/>
              <a:t>Odyssia</a:t>
            </a:r>
            <a:r>
              <a:rPr lang="en-US" b="1" dirty="0"/>
              <a:t>, </a:t>
            </a:r>
            <a:r>
              <a:rPr lang="en-US" b="1" dirty="0" smtClean="0"/>
              <a:t>27</a:t>
            </a:r>
            <a:endParaRPr lang="fr-FR" b="1" dirty="0"/>
          </a:p>
          <a:p>
            <a:pPr marL="0" indent="0">
              <a:buNone/>
            </a:pPr>
            <a:r>
              <a:rPr lang="fr-FR" dirty="0" smtClean="0"/>
              <a:t>	Vient </a:t>
            </a:r>
            <a:r>
              <a:rPr lang="fr-FR" dirty="0"/>
              <a:t>Mercure et avec lui le fils de </a:t>
            </a:r>
            <a:r>
              <a:rPr lang="fr-FR" dirty="0" smtClean="0"/>
              <a:t>Latone</a:t>
            </a:r>
          </a:p>
          <a:p>
            <a:pPr marL="0" indent="0" algn="just">
              <a:buNone/>
            </a:pPr>
            <a:r>
              <a:rPr lang="en-US" dirty="0" smtClean="0"/>
              <a:t>(</a:t>
            </a:r>
            <a:r>
              <a:rPr lang="en-US" dirty="0" err="1"/>
              <a:t>voir</a:t>
            </a:r>
            <a:r>
              <a:rPr lang="en-US" dirty="0"/>
              <a:t> </a:t>
            </a:r>
            <a:r>
              <a:rPr lang="en-US" dirty="0" err="1"/>
              <a:t>Hom</a:t>
            </a:r>
            <a:r>
              <a:rPr lang="en-US" dirty="0"/>
              <a:t>. Od. VIII, </a:t>
            </a:r>
            <a:r>
              <a:rPr lang="en-US" dirty="0" smtClean="0"/>
              <a:t>322 : “</a:t>
            </a:r>
            <a:r>
              <a:rPr lang="fr-FR" dirty="0" smtClean="0"/>
              <a:t>Alors </a:t>
            </a:r>
            <a:r>
              <a:rPr lang="fr-FR" u="sng" dirty="0"/>
              <a:t>vint</a:t>
            </a:r>
            <a:r>
              <a:rPr lang="fr-FR" dirty="0"/>
              <a:t> </a:t>
            </a:r>
            <a:r>
              <a:rPr lang="fr-FR" dirty="0" err="1"/>
              <a:t>Posidon</a:t>
            </a:r>
            <a:r>
              <a:rPr lang="fr-FR" dirty="0"/>
              <a:t> porteur de la terre, et </a:t>
            </a:r>
            <a:r>
              <a:rPr lang="fr-FR" u="sng" dirty="0"/>
              <a:t>le très utile Hermès, et le puissant Apollon</a:t>
            </a:r>
            <a:r>
              <a:rPr lang="fr-FR" dirty="0"/>
              <a:t>, qui écarte le </a:t>
            </a:r>
            <a:r>
              <a:rPr lang="fr-FR" dirty="0" smtClean="0"/>
              <a:t>malheur” </a:t>
            </a:r>
            <a:r>
              <a:rPr lang="en-US" dirty="0" smtClean="0"/>
              <a:t>)</a:t>
            </a:r>
            <a:endParaRPr lang="fr-FR" dirty="0"/>
          </a:p>
          <a:p>
            <a:pPr lvl="0"/>
            <a:r>
              <a:rPr lang="en-US" b="1" dirty="0" err="1"/>
              <a:t>Livius</a:t>
            </a:r>
            <a:r>
              <a:rPr lang="en-US" b="1" dirty="0"/>
              <a:t> Andronicus, </a:t>
            </a:r>
            <a:r>
              <a:rPr lang="en-US" b="1" i="1" dirty="0" err="1"/>
              <a:t>Odyssia</a:t>
            </a:r>
            <a:r>
              <a:rPr lang="en-US" b="1" dirty="0"/>
              <a:t> 41 </a:t>
            </a:r>
            <a:r>
              <a:rPr lang="fr-FR" dirty="0" smtClean="0"/>
              <a:t>	</a:t>
            </a:r>
          </a:p>
          <a:p>
            <a:pPr marL="0" lvl="0" indent="0">
              <a:buNone/>
            </a:pPr>
            <a:r>
              <a:rPr lang="fr-FR" dirty="0"/>
              <a:t>	</a:t>
            </a:r>
            <a:r>
              <a:rPr lang="fr-FR" dirty="0" smtClean="0"/>
              <a:t>Quand </a:t>
            </a:r>
            <a:r>
              <a:rPr lang="fr-FR" dirty="0"/>
              <a:t>les méchants Cyclopes </a:t>
            </a:r>
            <a:r>
              <a:rPr lang="fr-FR" dirty="0" smtClean="0"/>
              <a:t>ont </a:t>
            </a:r>
            <a:r>
              <a:rPr lang="fr-FR" dirty="0"/>
              <a:t>mutilé mes camarades</a:t>
            </a:r>
            <a:r>
              <a:rPr lang="fr-FR" dirty="0" smtClean="0"/>
              <a:t>…</a:t>
            </a:r>
          </a:p>
          <a:p>
            <a:pPr marL="0" indent="0">
              <a:buNone/>
            </a:pPr>
            <a:r>
              <a:rPr lang="en-US" dirty="0"/>
              <a:t>(</a:t>
            </a:r>
            <a:r>
              <a:rPr lang="en-US" dirty="0" err="1"/>
              <a:t>voir</a:t>
            </a:r>
            <a:r>
              <a:rPr lang="en-US" dirty="0"/>
              <a:t> </a:t>
            </a:r>
            <a:r>
              <a:rPr lang="en-US" dirty="0" err="1"/>
              <a:t>Hom</a:t>
            </a:r>
            <a:r>
              <a:rPr lang="en-US" dirty="0"/>
              <a:t>. Od. XX, </a:t>
            </a:r>
            <a:r>
              <a:rPr lang="en-US" dirty="0" smtClean="0"/>
              <a:t>19 :  “</a:t>
            </a:r>
            <a:r>
              <a:rPr lang="fr-FR" dirty="0" smtClean="0"/>
              <a:t>Sois </a:t>
            </a:r>
            <a:r>
              <a:rPr lang="fr-FR" dirty="0"/>
              <a:t>donc patient, mon </a:t>
            </a:r>
            <a:r>
              <a:rPr lang="fr-FR" dirty="0" err="1"/>
              <a:t>coeur</a:t>
            </a:r>
            <a:r>
              <a:rPr lang="fr-FR" dirty="0"/>
              <a:t> : tu </a:t>
            </a:r>
            <a:r>
              <a:rPr lang="fr-FR" dirty="0" smtClean="0"/>
              <a:t>en </a:t>
            </a:r>
            <a:r>
              <a:rPr lang="fr-FR" dirty="0"/>
              <a:t>as supporté de plus dures, le jour où </a:t>
            </a:r>
            <a:r>
              <a:rPr lang="fr-FR" u="sng" dirty="0"/>
              <a:t>le Cyclope </a:t>
            </a:r>
            <a:r>
              <a:rPr lang="fr-FR" u="sng" dirty="0" smtClean="0"/>
              <a:t>fou de </a:t>
            </a:r>
            <a:r>
              <a:rPr lang="fr-FR" u="sng" dirty="0"/>
              <a:t>colère mangeait mes braves </a:t>
            </a:r>
            <a:r>
              <a:rPr lang="fr-FR" u="sng" dirty="0" smtClean="0"/>
              <a:t>compagnons</a:t>
            </a:r>
            <a:r>
              <a:rPr lang="fr-FR" dirty="0" smtClean="0"/>
              <a:t>”)</a:t>
            </a:r>
            <a:endParaRPr lang="fr-FR" dirty="0"/>
          </a:p>
        </p:txBody>
      </p:sp>
    </p:spTree>
    <p:extLst>
      <p:ext uri="{BB962C8B-B14F-4D97-AF65-F5344CB8AC3E}">
        <p14:creationId xmlns:p14="http://schemas.microsoft.com/office/powerpoint/2010/main" val="38661455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err="1" smtClean="0"/>
              <a:t>Livius</a:t>
            </a:r>
            <a:r>
              <a:rPr lang="fr-FR" dirty="0" smtClean="0"/>
              <a:t> </a:t>
            </a:r>
            <a:r>
              <a:rPr lang="fr-FR" dirty="0" err="1" smtClean="0"/>
              <a:t>Andronicus</a:t>
            </a:r>
            <a:endParaRPr lang="fr-FR" dirty="0"/>
          </a:p>
        </p:txBody>
      </p:sp>
      <p:sp>
        <p:nvSpPr>
          <p:cNvPr id="3" name="Content Placeholder 2"/>
          <p:cNvSpPr>
            <a:spLocks noGrp="1"/>
          </p:cNvSpPr>
          <p:nvPr>
            <p:ph idx="1"/>
          </p:nvPr>
        </p:nvSpPr>
        <p:spPr>
          <a:xfrm>
            <a:off x="581192" y="1973525"/>
            <a:ext cx="11029615" cy="4409690"/>
          </a:xfrm>
        </p:spPr>
        <p:txBody>
          <a:bodyPr>
            <a:normAutofit/>
          </a:bodyPr>
          <a:lstStyle/>
          <a:p>
            <a:pPr marL="0" indent="0">
              <a:buNone/>
            </a:pPr>
            <a:r>
              <a:rPr lang="fr-FR" sz="2400" b="1" dirty="0"/>
              <a:t>Innovations techniques et stylistiques</a:t>
            </a:r>
          </a:p>
          <a:p>
            <a:r>
              <a:rPr lang="fr-FR" sz="2400" b="1" dirty="0"/>
              <a:t>Langue poétique</a:t>
            </a:r>
            <a:r>
              <a:rPr lang="fr-FR" sz="2400" dirty="0"/>
              <a:t> : Il invente un lexique littéraire latin en utilisant des procédés comme l'allitération, la métonymie et des descriptions imagées pour compenser la "rudesse" initiale de la langue.</a:t>
            </a:r>
          </a:p>
          <a:p>
            <a:r>
              <a:rPr lang="fr-FR" sz="2400" b="1" dirty="0"/>
              <a:t>Métrique</a:t>
            </a:r>
            <a:r>
              <a:rPr lang="fr-FR" sz="2400" dirty="0"/>
              <a:t> : Il est le créateur des mètres classiques du théâtre latin (</a:t>
            </a:r>
            <a:r>
              <a:rPr lang="fr-FR" sz="2400" dirty="0" err="1"/>
              <a:t>senaire</a:t>
            </a:r>
            <a:r>
              <a:rPr lang="fr-FR" sz="2400" dirty="0"/>
              <a:t> iambique et septénaire trochaïque), influençant durablement ses successeurs comme Plaute.</a:t>
            </a:r>
          </a:p>
          <a:p>
            <a:r>
              <a:rPr lang="fr-FR" sz="2400" b="1" dirty="0"/>
              <a:t>Le Chant de 207 av. J.-C.</a:t>
            </a:r>
            <a:r>
              <a:rPr lang="fr-FR" sz="2400" dirty="0"/>
              <a:t> : Il compose un hymne pour un chœur de 27 jeunes filles lors d'une crise religieuse. Ce succès mène à la création du "Collège des Poètes" dans le temple de Minerve sur l'Aventin, officialisant le statut de l'écrivain à Rome.</a:t>
            </a:r>
          </a:p>
        </p:txBody>
      </p:sp>
    </p:spTree>
    <p:extLst>
      <p:ext uri="{BB962C8B-B14F-4D97-AF65-F5344CB8AC3E}">
        <p14:creationId xmlns:p14="http://schemas.microsoft.com/office/powerpoint/2010/main" val="6102847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err="1" smtClean="0"/>
              <a:t>Livius</a:t>
            </a:r>
            <a:r>
              <a:rPr lang="fr-FR" dirty="0" smtClean="0"/>
              <a:t> </a:t>
            </a:r>
            <a:r>
              <a:rPr lang="fr-FR" dirty="0" err="1" smtClean="0"/>
              <a:t>Andronicus</a:t>
            </a:r>
            <a:endParaRPr lang="fr-FR" dirty="0"/>
          </a:p>
        </p:txBody>
      </p:sp>
      <p:sp>
        <p:nvSpPr>
          <p:cNvPr id="3" name="Content Placeholder 2"/>
          <p:cNvSpPr>
            <a:spLocks noGrp="1"/>
          </p:cNvSpPr>
          <p:nvPr>
            <p:ph idx="1"/>
          </p:nvPr>
        </p:nvSpPr>
        <p:spPr>
          <a:xfrm>
            <a:off x="581192" y="1973525"/>
            <a:ext cx="11029615" cy="4409690"/>
          </a:xfrm>
        </p:spPr>
        <p:txBody>
          <a:bodyPr>
            <a:normAutofit/>
          </a:bodyPr>
          <a:lstStyle/>
          <a:p>
            <a:pPr marL="0" indent="0" algn="just">
              <a:buNone/>
            </a:pPr>
            <a:r>
              <a:rPr lang="fr-FR" sz="2400" b="1" dirty="0"/>
              <a:t>Postérité et réception</a:t>
            </a:r>
          </a:p>
          <a:p>
            <a:pPr algn="just"/>
            <a:r>
              <a:rPr lang="fr-FR" sz="2400" b="1" dirty="0"/>
              <a:t>Reconnaissance officielle</a:t>
            </a:r>
            <a:r>
              <a:rPr lang="fr-FR" sz="2400" dirty="0"/>
              <a:t> : Ses succès ont conduit à l'établissement d'un lieu de réunion officiel pour les écrivains et acteurs au Temple de Minerve sur l'Aventin.</a:t>
            </a:r>
          </a:p>
          <a:p>
            <a:pPr algn="just"/>
            <a:r>
              <a:rPr lang="fr-FR" sz="2400" b="1" dirty="0"/>
              <a:t>Jugements critiques tardifs</a:t>
            </a:r>
            <a:r>
              <a:rPr lang="fr-FR" sz="2400" dirty="0"/>
              <a:t> : Si les anciens respectaient son rôle de fondateur, des auteurs comme Cicéron ou Horace jugeaient son style archaïque, rude et sans finesse par rapport aux standards de leur époque</a:t>
            </a:r>
            <a:r>
              <a:rPr lang="fr-FR" sz="2400" dirty="0" smtClean="0"/>
              <a:t>.</a:t>
            </a:r>
            <a:endParaRPr lang="fr-FR" sz="2400" dirty="0"/>
          </a:p>
        </p:txBody>
      </p:sp>
    </p:spTree>
    <p:extLst>
      <p:ext uri="{BB962C8B-B14F-4D97-AF65-F5344CB8AC3E}">
        <p14:creationId xmlns:p14="http://schemas.microsoft.com/office/powerpoint/2010/main" val="287937908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err="1" smtClean="0"/>
              <a:t>Livius</a:t>
            </a:r>
            <a:r>
              <a:rPr lang="fr-FR" dirty="0" smtClean="0"/>
              <a:t> </a:t>
            </a:r>
            <a:r>
              <a:rPr lang="fr-FR" dirty="0" err="1" smtClean="0"/>
              <a:t>Andronicus</a:t>
            </a:r>
            <a:r>
              <a:rPr lang="fr-FR" dirty="0" smtClean="0"/>
              <a:t/>
            </a:r>
            <a:br>
              <a:rPr lang="fr-FR" dirty="0" smtClean="0"/>
            </a:br>
            <a:r>
              <a:rPr lang="fr-FR" dirty="0" smtClean="0"/>
              <a:t>Chez Cicéron</a:t>
            </a:r>
            <a:endParaRPr lang="fr-FR" dirty="0"/>
          </a:p>
        </p:txBody>
      </p:sp>
      <p:sp>
        <p:nvSpPr>
          <p:cNvPr id="3" name="Content Placeholder 2"/>
          <p:cNvSpPr>
            <a:spLocks noGrp="1"/>
          </p:cNvSpPr>
          <p:nvPr>
            <p:ph idx="1"/>
          </p:nvPr>
        </p:nvSpPr>
        <p:spPr>
          <a:xfrm>
            <a:off x="581192" y="1973525"/>
            <a:ext cx="11029615" cy="4409690"/>
          </a:xfrm>
        </p:spPr>
        <p:txBody>
          <a:bodyPr>
            <a:normAutofit/>
          </a:bodyPr>
          <a:lstStyle/>
          <a:p>
            <a:r>
              <a:rPr lang="fr-FR" sz="2400" dirty="0" smtClean="0"/>
              <a:t>Cicéron</a:t>
            </a:r>
            <a:r>
              <a:rPr lang="fr-FR" sz="2400" dirty="0"/>
              <a:t>, dans son traité sur l'éloquence le </a:t>
            </a:r>
            <a:r>
              <a:rPr lang="fr-FR" sz="2400" i="1" dirty="0"/>
              <a:t>Brutus</a:t>
            </a:r>
            <a:r>
              <a:rPr lang="fr-FR" sz="2400" dirty="0"/>
              <a:t>, est l'une de nos sources principales. Son avis est teinté de respect pour l'ancienneté, mais de mépris pour la forme :</a:t>
            </a:r>
          </a:p>
          <a:p>
            <a:r>
              <a:rPr lang="fr-FR" sz="2400" b="1" dirty="0"/>
              <a:t>Sur la qualité esthétique</a:t>
            </a:r>
            <a:r>
              <a:rPr lang="fr-FR" sz="2400" dirty="0"/>
              <a:t> : « Les pièces de </a:t>
            </a:r>
            <a:r>
              <a:rPr lang="fr-FR" sz="2400" dirty="0" err="1"/>
              <a:t>Livius</a:t>
            </a:r>
            <a:r>
              <a:rPr lang="fr-FR" sz="2400" dirty="0"/>
              <a:t> ne méritent pas d'être lues deux fois. » (</a:t>
            </a:r>
            <a:r>
              <a:rPr lang="fr-FR" sz="2400" i="1" dirty="0"/>
              <a:t>Brutus</a:t>
            </a:r>
            <a:r>
              <a:rPr lang="fr-FR" sz="2400" dirty="0"/>
              <a:t>, 71). Il les compare à des œuvres d'art primitives, encore informes.</a:t>
            </a:r>
          </a:p>
          <a:p>
            <a:r>
              <a:rPr lang="fr-FR" sz="2400" b="1" dirty="0"/>
              <a:t>Sur l'antériorité</a:t>
            </a:r>
            <a:r>
              <a:rPr lang="fr-FR" sz="2400" dirty="0"/>
              <a:t> : Il reconnaît toutefois son rôle de fondateur en précisant que rien n'est « à la fois inventé et parfait ». Pour lui, </a:t>
            </a:r>
            <a:r>
              <a:rPr lang="fr-FR" sz="2400" dirty="0" err="1"/>
              <a:t>Livius</a:t>
            </a:r>
            <a:r>
              <a:rPr lang="fr-FR" sz="2400" dirty="0"/>
              <a:t> est le point de départ nécessaire mais rudimentaire de la culture latine.</a:t>
            </a:r>
          </a:p>
          <a:p>
            <a:r>
              <a:rPr lang="fr-FR" sz="2400" b="1" dirty="0"/>
              <a:t>Sur la chronologie</a:t>
            </a:r>
            <a:r>
              <a:rPr lang="fr-FR" sz="2400" dirty="0"/>
              <a:t> : Cicéron insiste sur la date de 240 av. J.-C. comme l'an un de la littérature, validant le statut de pionnier de </a:t>
            </a:r>
            <a:r>
              <a:rPr lang="fr-FR" sz="2400" dirty="0" err="1"/>
              <a:t>Livius</a:t>
            </a:r>
            <a:r>
              <a:rPr lang="fr-FR" sz="2400" dirty="0"/>
              <a:t>.</a:t>
            </a:r>
          </a:p>
        </p:txBody>
      </p:sp>
    </p:spTree>
    <p:extLst>
      <p:ext uri="{BB962C8B-B14F-4D97-AF65-F5344CB8AC3E}">
        <p14:creationId xmlns:p14="http://schemas.microsoft.com/office/powerpoint/2010/main" val="429052061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err="1" smtClean="0"/>
              <a:t>Livius</a:t>
            </a:r>
            <a:r>
              <a:rPr lang="fr-FR" dirty="0" smtClean="0"/>
              <a:t> </a:t>
            </a:r>
            <a:r>
              <a:rPr lang="fr-FR" dirty="0" err="1" smtClean="0"/>
              <a:t>Andronicus</a:t>
            </a:r>
            <a:r>
              <a:rPr lang="fr-FR" dirty="0" smtClean="0"/>
              <a:t/>
            </a:r>
            <a:br>
              <a:rPr lang="fr-FR" dirty="0" smtClean="0"/>
            </a:br>
            <a:r>
              <a:rPr lang="fr-FR" dirty="0" smtClean="0"/>
              <a:t>chez Horace</a:t>
            </a:r>
            <a:endParaRPr lang="fr-FR" dirty="0"/>
          </a:p>
        </p:txBody>
      </p:sp>
      <p:sp>
        <p:nvSpPr>
          <p:cNvPr id="3" name="Content Placeholder 2"/>
          <p:cNvSpPr>
            <a:spLocks noGrp="1"/>
          </p:cNvSpPr>
          <p:nvPr>
            <p:ph idx="1"/>
          </p:nvPr>
        </p:nvSpPr>
        <p:spPr>
          <a:xfrm>
            <a:off x="581192" y="1973525"/>
            <a:ext cx="11029615" cy="4409690"/>
          </a:xfrm>
        </p:spPr>
        <p:txBody>
          <a:bodyPr>
            <a:normAutofit/>
          </a:bodyPr>
          <a:lstStyle/>
          <a:p>
            <a:pPr marL="0" indent="0">
              <a:buNone/>
            </a:pPr>
            <a:r>
              <a:rPr lang="fr-FR" sz="2400" b="1" dirty="0" smtClean="0"/>
              <a:t>L’enseignement </a:t>
            </a:r>
            <a:r>
              <a:rPr lang="fr-FR" sz="2400" b="1" dirty="0"/>
              <a:t>d’</a:t>
            </a:r>
            <a:r>
              <a:rPr lang="fr-FR" sz="2400" b="1" dirty="0" err="1"/>
              <a:t>Orbilius</a:t>
            </a:r>
            <a:r>
              <a:rPr lang="fr-FR" sz="2400" b="1" dirty="0"/>
              <a:t> (La mémoire scolaire)</a:t>
            </a:r>
          </a:p>
          <a:p>
            <a:r>
              <a:rPr lang="fr-FR" sz="2400" b="1" dirty="0"/>
              <a:t>Référence exacte :</a:t>
            </a:r>
            <a:r>
              <a:rPr lang="fr-FR" sz="2400" dirty="0"/>
              <a:t> Horace, </a:t>
            </a:r>
            <a:r>
              <a:rPr lang="fr-FR" sz="2400" i="1" dirty="0"/>
              <a:t>Épîtres</a:t>
            </a:r>
            <a:r>
              <a:rPr lang="fr-FR" sz="2400" dirty="0"/>
              <a:t>, II, 1, 69–71.</a:t>
            </a:r>
          </a:p>
          <a:p>
            <a:r>
              <a:rPr lang="fr-FR" sz="2400" b="1" dirty="0"/>
              <a:t>Contenu :</a:t>
            </a:r>
            <a:r>
              <a:rPr lang="fr-FR" sz="2400" dirty="0"/>
              <a:t> Horace y évoque ses années d'apprentissage. Il mentionne son maître, </a:t>
            </a:r>
            <a:r>
              <a:rPr lang="fr-FR" sz="2400" b="1" dirty="0" err="1"/>
              <a:t>Orbilius</a:t>
            </a:r>
            <a:r>
              <a:rPr lang="fr-FR" sz="2400" b="1" dirty="0"/>
              <a:t> </a:t>
            </a:r>
            <a:r>
              <a:rPr lang="fr-FR" sz="2400" b="1" dirty="0" err="1"/>
              <a:t>Pupillus</a:t>
            </a:r>
            <a:r>
              <a:rPr lang="fr-FR" sz="2400" dirty="0"/>
              <a:t>, resté célèbre sous le nom d'« </a:t>
            </a:r>
            <a:r>
              <a:rPr lang="fr-FR" sz="2400" dirty="0" err="1"/>
              <a:t>Orbilius</a:t>
            </a:r>
            <a:r>
              <a:rPr lang="fr-FR" sz="2400" dirty="0"/>
              <a:t> le </a:t>
            </a:r>
            <a:r>
              <a:rPr lang="fr-FR" sz="2400" dirty="0" err="1"/>
              <a:t>plagose</a:t>
            </a:r>
            <a:r>
              <a:rPr lang="fr-FR" sz="2400" dirty="0"/>
              <a:t> » (celui qui distribue les coups de fouet).</a:t>
            </a:r>
          </a:p>
          <a:p>
            <a:r>
              <a:rPr lang="fr-FR" sz="2400" b="1" dirty="0"/>
              <a:t>Citation (sens) :</a:t>
            </a:r>
            <a:r>
              <a:rPr lang="fr-FR" sz="2400" dirty="0"/>
              <a:t> « Je ne poursuis pas de ma haine les poèmes de </a:t>
            </a:r>
            <a:r>
              <a:rPr lang="fr-FR" sz="2400" dirty="0" err="1"/>
              <a:t>Livius</a:t>
            </a:r>
            <a:r>
              <a:rPr lang="fr-FR" sz="2400" dirty="0"/>
              <a:t>, ni ne pense qu'ils doivent être détruits, car je me souviens qu'</a:t>
            </a:r>
            <a:r>
              <a:rPr lang="fr-FR" sz="2400" dirty="0" err="1"/>
              <a:t>Orbilius</a:t>
            </a:r>
            <a:r>
              <a:rPr lang="fr-FR" sz="2400" dirty="0"/>
              <a:t> me les dictait quand j'étais petit en me frappant. »</a:t>
            </a:r>
          </a:p>
          <a:p>
            <a:r>
              <a:rPr lang="fr-FR" sz="2400" b="1" dirty="0"/>
              <a:t>Contexte :</a:t>
            </a:r>
            <a:r>
              <a:rPr lang="fr-FR" sz="2400" dirty="0"/>
              <a:t> Ce passage prouve que </a:t>
            </a:r>
            <a:r>
              <a:rPr lang="fr-FR" sz="2400" dirty="0" err="1"/>
              <a:t>Livius</a:t>
            </a:r>
            <a:r>
              <a:rPr lang="fr-FR" sz="2400" dirty="0"/>
              <a:t> était le socle de l'éducation romaine (le "Homère latin") malgré son style jugé rude</a:t>
            </a:r>
            <a:r>
              <a:rPr lang="fr-FR" sz="2400" dirty="0" smtClean="0"/>
              <a:t>.</a:t>
            </a:r>
            <a:endParaRPr lang="fr-FR" sz="2400" dirty="0"/>
          </a:p>
        </p:txBody>
      </p:sp>
    </p:spTree>
    <p:extLst>
      <p:ext uri="{BB962C8B-B14F-4D97-AF65-F5344CB8AC3E}">
        <p14:creationId xmlns:p14="http://schemas.microsoft.com/office/powerpoint/2010/main" val="47341112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err="1" smtClean="0"/>
              <a:t>Livius</a:t>
            </a:r>
            <a:r>
              <a:rPr lang="fr-FR" dirty="0" smtClean="0"/>
              <a:t> </a:t>
            </a:r>
            <a:r>
              <a:rPr lang="fr-FR" dirty="0" err="1" smtClean="0"/>
              <a:t>Andronicus</a:t>
            </a:r>
            <a:r>
              <a:rPr lang="fr-FR" dirty="0" smtClean="0"/>
              <a:t/>
            </a:r>
            <a:br>
              <a:rPr lang="fr-FR" dirty="0" smtClean="0"/>
            </a:br>
            <a:r>
              <a:rPr lang="fr-FR" dirty="0" smtClean="0"/>
              <a:t>chez Horace</a:t>
            </a:r>
            <a:endParaRPr lang="fr-FR" dirty="0"/>
          </a:p>
        </p:txBody>
      </p:sp>
      <p:sp>
        <p:nvSpPr>
          <p:cNvPr id="3" name="Content Placeholder 2"/>
          <p:cNvSpPr>
            <a:spLocks noGrp="1"/>
          </p:cNvSpPr>
          <p:nvPr>
            <p:ph idx="1"/>
          </p:nvPr>
        </p:nvSpPr>
        <p:spPr>
          <a:xfrm>
            <a:off x="581192" y="1973525"/>
            <a:ext cx="11029615" cy="4409690"/>
          </a:xfrm>
        </p:spPr>
        <p:txBody>
          <a:bodyPr>
            <a:normAutofit fontScale="92500" lnSpcReduction="10000"/>
          </a:bodyPr>
          <a:lstStyle/>
          <a:p>
            <a:pPr marL="0" indent="0">
              <a:buNone/>
            </a:pPr>
            <a:r>
              <a:rPr lang="fr-FR" sz="2400" b="1" dirty="0" smtClean="0"/>
              <a:t>La </a:t>
            </a:r>
            <a:r>
              <a:rPr lang="fr-FR" sz="2400" b="1" dirty="0"/>
              <a:t>critique de la perfection supposée</a:t>
            </a:r>
          </a:p>
          <a:p>
            <a:r>
              <a:rPr lang="fr-FR" sz="2400" b="1" dirty="0"/>
              <a:t>Référence exacte :</a:t>
            </a:r>
            <a:r>
              <a:rPr lang="fr-FR" sz="2400" dirty="0"/>
              <a:t> Horace, </a:t>
            </a:r>
            <a:r>
              <a:rPr lang="fr-FR" sz="2400" i="1" dirty="0"/>
              <a:t>Épîtres</a:t>
            </a:r>
            <a:r>
              <a:rPr lang="fr-FR" sz="2400" dirty="0"/>
              <a:t>, II, 1, 71–75.</a:t>
            </a:r>
          </a:p>
          <a:p>
            <a:r>
              <a:rPr lang="fr-FR" sz="2400" b="1" dirty="0"/>
              <a:t>Contenu :</a:t>
            </a:r>
            <a:r>
              <a:rPr lang="fr-FR" sz="2400" dirty="0"/>
              <a:t> Juste après l'évocation de ses souvenirs, Horace s'indigne que l'on puisse comparer la qualité de ces textes aux standards de son époque (le siècle d'Auguste).</a:t>
            </a:r>
          </a:p>
          <a:p>
            <a:r>
              <a:rPr lang="fr-FR" sz="2400" b="1" dirty="0" smtClean="0"/>
              <a:t>Citation </a:t>
            </a:r>
            <a:r>
              <a:rPr lang="fr-FR" sz="2400" b="1" dirty="0"/>
              <a:t>:</a:t>
            </a:r>
            <a:r>
              <a:rPr lang="fr-FR" sz="2400" dirty="0"/>
              <a:t> </a:t>
            </a:r>
            <a:r>
              <a:rPr lang="fr-FR" sz="2400" dirty="0" smtClean="0"/>
              <a:t>« mais </a:t>
            </a:r>
            <a:r>
              <a:rPr lang="fr-FR" sz="2400" dirty="0"/>
              <a:t>je m'étonne qu'ils semblent corrects, beaux et touchant presque à la perfection. Si quelque mot y brille çà et là, s'il s'y rencontre un ou deux vers un peu plus élégants que le reste, </a:t>
            </a:r>
            <a:r>
              <a:rPr lang="fr-FR" sz="2400" dirty="0" smtClean="0"/>
              <a:t> il </a:t>
            </a:r>
            <a:r>
              <a:rPr lang="fr-FR" sz="2400" dirty="0"/>
              <a:t>est injuste de vanter et de recommander tout le poème. Je m'indigne qu'une chose soit blâmée, non parce qu'elle est grossièrement composée ou sans grâce, mais parce qu'elle est nouvelle, et qu'on demande, pour les anciens, non pas de l'indulgence, mais des honneurs et des couronnes</a:t>
            </a:r>
            <a:r>
              <a:rPr lang="fr-FR" sz="2400" dirty="0" smtClean="0"/>
              <a:t>. </a:t>
            </a:r>
            <a:r>
              <a:rPr lang="fr-FR" sz="2400" dirty="0"/>
              <a:t>»</a:t>
            </a:r>
          </a:p>
          <a:p>
            <a:r>
              <a:rPr lang="fr-FR" sz="2400" b="1" dirty="0"/>
              <a:t>Analyse :</a:t>
            </a:r>
            <a:r>
              <a:rPr lang="fr-FR" sz="2400" dirty="0"/>
              <a:t> Horace rejette l'idée que l'ancienneté d'une œuvre soit une garantie de sa qualité artistique</a:t>
            </a:r>
            <a:r>
              <a:rPr lang="fr-FR" sz="2400" dirty="0" smtClean="0"/>
              <a:t>.</a:t>
            </a:r>
            <a:endParaRPr lang="fr-FR" sz="2400" dirty="0"/>
          </a:p>
        </p:txBody>
      </p:sp>
    </p:spTree>
    <p:extLst>
      <p:ext uri="{BB962C8B-B14F-4D97-AF65-F5344CB8AC3E}">
        <p14:creationId xmlns:p14="http://schemas.microsoft.com/office/powerpoint/2010/main" val="225278203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err="1" smtClean="0"/>
              <a:t>Livius</a:t>
            </a:r>
            <a:r>
              <a:rPr lang="fr-FR" dirty="0" smtClean="0"/>
              <a:t> </a:t>
            </a:r>
            <a:r>
              <a:rPr lang="fr-FR" dirty="0" err="1" smtClean="0"/>
              <a:t>Andronicus</a:t>
            </a:r>
            <a:r>
              <a:rPr lang="fr-FR" dirty="0" smtClean="0"/>
              <a:t/>
            </a:r>
            <a:br>
              <a:rPr lang="fr-FR" dirty="0" smtClean="0"/>
            </a:br>
            <a:r>
              <a:rPr lang="fr-FR" dirty="0" smtClean="0"/>
              <a:t>chez Horace</a:t>
            </a:r>
            <a:endParaRPr lang="fr-FR" dirty="0"/>
          </a:p>
        </p:txBody>
      </p:sp>
      <p:sp>
        <p:nvSpPr>
          <p:cNvPr id="3" name="Content Placeholder 2"/>
          <p:cNvSpPr>
            <a:spLocks noGrp="1"/>
          </p:cNvSpPr>
          <p:nvPr>
            <p:ph idx="1"/>
          </p:nvPr>
        </p:nvSpPr>
        <p:spPr>
          <a:xfrm>
            <a:off x="581192" y="1973525"/>
            <a:ext cx="11029615" cy="4409690"/>
          </a:xfrm>
        </p:spPr>
        <p:txBody>
          <a:bodyPr>
            <a:normAutofit/>
          </a:bodyPr>
          <a:lstStyle/>
          <a:p>
            <a:pPr marL="0" indent="0">
              <a:buNone/>
            </a:pPr>
            <a:r>
              <a:rPr lang="fr-FR" sz="2400" b="1" dirty="0" smtClean="0"/>
              <a:t>La </a:t>
            </a:r>
            <a:r>
              <a:rPr lang="fr-FR" sz="2400" b="1" dirty="0"/>
              <a:t>"Grèce captive" (Le contexte culturel)</a:t>
            </a:r>
          </a:p>
          <a:p>
            <a:r>
              <a:rPr lang="fr-FR" sz="2400" b="1" dirty="0"/>
              <a:t>Référence exacte :</a:t>
            </a:r>
            <a:r>
              <a:rPr lang="fr-FR" sz="2400" dirty="0"/>
              <a:t> Horace, </a:t>
            </a:r>
            <a:r>
              <a:rPr lang="fr-FR" sz="2400" i="1" dirty="0"/>
              <a:t>Épîtres</a:t>
            </a:r>
            <a:r>
              <a:rPr lang="fr-FR" sz="2400" dirty="0"/>
              <a:t>, II, 1, 156–157.</a:t>
            </a:r>
          </a:p>
          <a:p>
            <a:r>
              <a:rPr lang="fr-FR" sz="2400" b="1" dirty="0"/>
              <a:t>Contenu :</a:t>
            </a:r>
            <a:r>
              <a:rPr lang="fr-FR" sz="2400" dirty="0"/>
              <a:t> C'est ici que se trouve la célèbre sentence expliquant pourquoi des hommes comme </a:t>
            </a:r>
            <a:r>
              <a:rPr lang="fr-FR" sz="2400" dirty="0" err="1"/>
              <a:t>Livius</a:t>
            </a:r>
            <a:r>
              <a:rPr lang="fr-FR" sz="2400" dirty="0"/>
              <a:t> </a:t>
            </a:r>
            <a:r>
              <a:rPr lang="fr-FR" sz="2400" dirty="0" err="1"/>
              <a:t>Andronicus</a:t>
            </a:r>
            <a:r>
              <a:rPr lang="fr-FR" sz="2400" dirty="0"/>
              <a:t> ont existé.</a:t>
            </a:r>
          </a:p>
          <a:p>
            <a:r>
              <a:rPr lang="fr-FR" sz="2400" b="1" dirty="0"/>
              <a:t>Citation célèbre :</a:t>
            </a:r>
            <a:r>
              <a:rPr lang="fr-FR" sz="2400" dirty="0"/>
              <a:t> </a:t>
            </a:r>
            <a:r>
              <a:rPr lang="fr-FR" sz="2400" i="1" dirty="0"/>
              <a:t>"</a:t>
            </a:r>
            <a:r>
              <a:rPr lang="fr-FR" sz="2400" i="1" dirty="0" err="1"/>
              <a:t>Graecia</a:t>
            </a:r>
            <a:r>
              <a:rPr lang="fr-FR" sz="2400" i="1" dirty="0"/>
              <a:t> capta </a:t>
            </a:r>
            <a:r>
              <a:rPr lang="fr-FR" sz="2400" i="1" dirty="0" err="1"/>
              <a:t>ferum</a:t>
            </a:r>
            <a:r>
              <a:rPr lang="fr-FR" sz="2400" i="1" dirty="0"/>
              <a:t> </a:t>
            </a:r>
            <a:r>
              <a:rPr lang="fr-FR" sz="2400" i="1" dirty="0" err="1"/>
              <a:t>victorem</a:t>
            </a:r>
            <a:r>
              <a:rPr lang="fr-FR" sz="2400" i="1" dirty="0"/>
              <a:t> </a:t>
            </a:r>
            <a:r>
              <a:rPr lang="fr-FR" sz="2400" i="1" dirty="0" err="1"/>
              <a:t>cepit</a:t>
            </a:r>
            <a:r>
              <a:rPr lang="fr-FR" sz="2400" i="1" dirty="0"/>
              <a:t> et </a:t>
            </a:r>
            <a:r>
              <a:rPr lang="fr-FR" sz="2400" i="1" dirty="0" err="1"/>
              <a:t>artes</a:t>
            </a:r>
            <a:r>
              <a:rPr lang="fr-FR" sz="2400" i="1" dirty="0"/>
              <a:t> </a:t>
            </a:r>
            <a:r>
              <a:rPr lang="fr-FR" sz="2400" i="1" dirty="0" err="1"/>
              <a:t>intulit</a:t>
            </a:r>
            <a:r>
              <a:rPr lang="fr-FR" sz="2400" i="1" dirty="0"/>
              <a:t> </a:t>
            </a:r>
            <a:r>
              <a:rPr lang="fr-FR" sz="2400" i="1" dirty="0" err="1"/>
              <a:t>agresti</a:t>
            </a:r>
            <a:r>
              <a:rPr lang="fr-FR" sz="2400" i="1" dirty="0"/>
              <a:t> </a:t>
            </a:r>
            <a:r>
              <a:rPr lang="fr-FR" sz="2400" i="1" dirty="0" err="1"/>
              <a:t>Latio</a:t>
            </a:r>
            <a:r>
              <a:rPr lang="fr-FR" sz="2400" i="1" dirty="0"/>
              <a:t>"</a:t>
            </a:r>
            <a:r>
              <a:rPr lang="fr-FR" sz="2400" dirty="0"/>
              <a:t> (« La Grèce captive a captivé son farouche vainqueur et a apporté les arts au Latium sauvage »).</a:t>
            </a:r>
          </a:p>
          <a:p>
            <a:r>
              <a:rPr lang="fr-FR" sz="2400" b="1" dirty="0"/>
              <a:t>Lien avec </a:t>
            </a:r>
            <a:r>
              <a:rPr lang="fr-FR" sz="2400" b="1" dirty="0" err="1"/>
              <a:t>Livius</a:t>
            </a:r>
            <a:r>
              <a:rPr lang="fr-FR" sz="2400" b="1" dirty="0"/>
              <a:t> :</a:t>
            </a:r>
            <a:r>
              <a:rPr lang="fr-FR" sz="2400" dirty="0"/>
              <a:t> Bien que </a:t>
            </a:r>
            <a:r>
              <a:rPr lang="fr-FR" sz="2400" dirty="0" err="1"/>
              <a:t>Livius</a:t>
            </a:r>
            <a:r>
              <a:rPr lang="fr-FR" sz="2400" dirty="0"/>
              <a:t> ne soit pas nommé dans ce vers précis, il est l'incarnation parfaite de ce processus : un Grec captif de Tarente qui apporte les "arts" (théâtre, épopée) à une Rome encore "rustique".</a:t>
            </a:r>
            <a:endParaRPr lang="fr-FR" sz="2400" dirty="0"/>
          </a:p>
        </p:txBody>
      </p:sp>
    </p:spTree>
    <p:extLst>
      <p:ext uri="{BB962C8B-B14F-4D97-AF65-F5344CB8AC3E}">
        <p14:creationId xmlns:p14="http://schemas.microsoft.com/office/powerpoint/2010/main" val="282618296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r-FR" dirty="0" smtClean="0"/>
              <a:t>Petrus </a:t>
            </a:r>
            <a:r>
              <a:rPr lang="fr-FR" dirty="0" err="1" smtClean="0"/>
              <a:t>crinitus</a:t>
            </a:r>
            <a:endParaRPr lang="fr-FR" dirty="0"/>
          </a:p>
        </p:txBody>
      </p:sp>
      <p:sp>
        <p:nvSpPr>
          <p:cNvPr id="5" name="Text Placeholder 4"/>
          <p:cNvSpPr>
            <a:spLocks noGrp="1"/>
          </p:cNvSpPr>
          <p:nvPr>
            <p:ph type="body" idx="1"/>
          </p:nvPr>
        </p:nvSpPr>
        <p:spPr/>
        <p:txBody>
          <a:bodyPr/>
          <a:lstStyle/>
          <a:p>
            <a:r>
              <a:rPr lang="fr-FR" dirty="0" smtClean="0"/>
              <a:t>De </a:t>
            </a:r>
            <a:r>
              <a:rPr lang="fr-FR" dirty="0" err="1" smtClean="0"/>
              <a:t>poetis</a:t>
            </a:r>
            <a:r>
              <a:rPr lang="fr-FR" dirty="0" smtClean="0"/>
              <a:t> </a:t>
            </a:r>
            <a:r>
              <a:rPr lang="fr-FR" dirty="0" err="1" smtClean="0"/>
              <a:t>latinis</a:t>
            </a:r>
            <a:endParaRPr lang="fr-FR" dirty="0"/>
          </a:p>
        </p:txBody>
      </p:sp>
    </p:spTree>
    <p:extLst>
      <p:ext uri="{BB962C8B-B14F-4D97-AF65-F5344CB8AC3E}">
        <p14:creationId xmlns:p14="http://schemas.microsoft.com/office/powerpoint/2010/main" val="384183718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Contexte</a:t>
            </a:r>
            <a:endParaRPr lang="fr-FR" dirty="0"/>
          </a:p>
        </p:txBody>
      </p:sp>
      <p:sp>
        <p:nvSpPr>
          <p:cNvPr id="3" name="Content Placeholder 2"/>
          <p:cNvSpPr>
            <a:spLocks noGrp="1"/>
          </p:cNvSpPr>
          <p:nvPr>
            <p:ph idx="1"/>
          </p:nvPr>
        </p:nvSpPr>
        <p:spPr>
          <a:xfrm>
            <a:off x="581192" y="2066192"/>
            <a:ext cx="11029615" cy="4018085"/>
          </a:xfrm>
        </p:spPr>
        <p:txBody>
          <a:bodyPr>
            <a:normAutofit/>
          </a:bodyPr>
          <a:lstStyle/>
          <a:p>
            <a:pPr algn="just">
              <a:lnSpc>
                <a:spcPct val="110000"/>
              </a:lnSpc>
            </a:pPr>
            <a:r>
              <a:rPr lang="fr-FR" dirty="0" smtClean="0"/>
              <a:t>La </a:t>
            </a:r>
            <a:r>
              <a:rPr lang="fr-FR" dirty="0"/>
              <a:t>fin du XVe et le début du XVIe siècle à </a:t>
            </a:r>
            <a:r>
              <a:rPr lang="fr-FR" dirty="0" smtClean="0"/>
              <a:t>Florence</a:t>
            </a:r>
          </a:p>
          <a:p>
            <a:pPr algn="just">
              <a:lnSpc>
                <a:spcPct val="110000"/>
              </a:lnSpc>
            </a:pPr>
            <a:r>
              <a:rPr lang="fr-FR" dirty="0" smtClean="0"/>
              <a:t>De </a:t>
            </a:r>
            <a:r>
              <a:rPr lang="fr-FR" dirty="0"/>
              <a:t>1490 à 1510 environ, </a:t>
            </a:r>
            <a:r>
              <a:rPr lang="fr-FR" dirty="0" smtClean="0"/>
              <a:t>période remarquable, </a:t>
            </a:r>
            <a:r>
              <a:rPr lang="fr-FR" dirty="0"/>
              <a:t>importante période de transition </a:t>
            </a:r>
            <a:r>
              <a:rPr lang="fr-FR" dirty="0" smtClean="0"/>
              <a:t>: la </a:t>
            </a:r>
            <a:r>
              <a:rPr lang="fr-FR" dirty="0"/>
              <a:t>fin du règne des Médicis, l'ascension de Savonarole </a:t>
            </a:r>
            <a:r>
              <a:rPr lang="fr-FR" dirty="0" smtClean="0"/>
              <a:t>(qui, de </a:t>
            </a:r>
            <a:r>
              <a:rPr lang="fr-FR" dirty="0"/>
              <a:t>1494 à 1498, a dirigé un régime théocratique dans la république de </a:t>
            </a:r>
            <a:r>
              <a:rPr lang="fr-FR" dirty="0" smtClean="0"/>
              <a:t>Florence), </a:t>
            </a:r>
            <a:r>
              <a:rPr lang="fr-FR" dirty="0"/>
              <a:t>et </a:t>
            </a:r>
            <a:r>
              <a:rPr lang="fr-FR" dirty="0" smtClean="0"/>
              <a:t>début </a:t>
            </a:r>
            <a:r>
              <a:rPr lang="fr-FR" dirty="0"/>
              <a:t>des guerres </a:t>
            </a:r>
            <a:r>
              <a:rPr lang="fr-FR" dirty="0" smtClean="0"/>
              <a:t>d’Italie.</a:t>
            </a:r>
          </a:p>
          <a:p>
            <a:pPr algn="just">
              <a:lnSpc>
                <a:spcPct val="110000"/>
              </a:lnSpc>
            </a:pPr>
            <a:r>
              <a:rPr lang="fr-FR" dirty="0"/>
              <a:t>V</a:t>
            </a:r>
            <a:r>
              <a:rPr lang="fr-FR" dirty="0" smtClean="0"/>
              <a:t>ie </a:t>
            </a:r>
            <a:r>
              <a:rPr lang="fr-FR" dirty="0"/>
              <a:t>intellectuelle, il est à noter (parmi </a:t>
            </a:r>
            <a:r>
              <a:rPr lang="fr-FR" dirty="0" smtClean="0"/>
              <a:t>d'autres </a:t>
            </a:r>
            <a:r>
              <a:rPr lang="fr-FR" dirty="0"/>
              <a:t>développements) </a:t>
            </a:r>
            <a:r>
              <a:rPr lang="fr-FR" dirty="0" smtClean="0"/>
              <a:t>: à </a:t>
            </a:r>
            <a:r>
              <a:rPr lang="fr-FR" dirty="0"/>
              <a:t>la fin du XVe siècle, presque toutes les sources textuelles primaires actuellement disponibles pour étudier le monde antique avaient été </a:t>
            </a:r>
            <a:r>
              <a:rPr lang="fr-FR" dirty="0" smtClean="0"/>
              <a:t>découvertes.</a:t>
            </a:r>
          </a:p>
          <a:p>
            <a:pPr algn="just">
              <a:lnSpc>
                <a:spcPct val="110000"/>
              </a:lnSpc>
            </a:pPr>
            <a:r>
              <a:rPr lang="fr-FR" dirty="0" smtClean="0"/>
              <a:t>Temps de </a:t>
            </a:r>
            <a:r>
              <a:rPr lang="fr-FR" dirty="0"/>
              <a:t>consolider ces acquis, de trouver des moyens de les ordonner et de créer les ressources qui seraient désormais utilisées pour aborder l'étude du monde classique.</a:t>
            </a:r>
          </a:p>
        </p:txBody>
      </p:sp>
    </p:spTree>
    <p:extLst>
      <p:ext uri="{BB962C8B-B14F-4D97-AF65-F5344CB8AC3E}">
        <p14:creationId xmlns:p14="http://schemas.microsoft.com/office/powerpoint/2010/main" val="37516578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Contexte</a:t>
            </a:r>
            <a:endParaRPr lang="fr-FR" dirty="0"/>
          </a:p>
        </p:txBody>
      </p:sp>
      <p:sp>
        <p:nvSpPr>
          <p:cNvPr id="3" name="Content Placeholder 2"/>
          <p:cNvSpPr>
            <a:spLocks noGrp="1"/>
          </p:cNvSpPr>
          <p:nvPr>
            <p:ph idx="1"/>
          </p:nvPr>
        </p:nvSpPr>
        <p:spPr>
          <a:xfrm>
            <a:off x="581192" y="2066192"/>
            <a:ext cx="11029615" cy="4018085"/>
          </a:xfrm>
        </p:spPr>
        <p:txBody>
          <a:bodyPr>
            <a:normAutofit/>
          </a:bodyPr>
          <a:lstStyle/>
          <a:p>
            <a:pPr algn="just">
              <a:lnSpc>
                <a:spcPct val="110000"/>
              </a:lnSpc>
            </a:pPr>
            <a:r>
              <a:rPr lang="fr-FR" dirty="0" smtClean="0"/>
              <a:t>La </a:t>
            </a:r>
            <a:r>
              <a:rPr lang="fr-FR" dirty="0"/>
              <a:t>fin du XVe et le début du XVIe siècle à </a:t>
            </a:r>
            <a:r>
              <a:rPr lang="fr-FR" dirty="0" smtClean="0"/>
              <a:t>Florence</a:t>
            </a:r>
          </a:p>
          <a:p>
            <a:pPr algn="just">
              <a:lnSpc>
                <a:spcPct val="110000"/>
              </a:lnSpc>
            </a:pPr>
            <a:r>
              <a:rPr lang="fr-FR" dirty="0" smtClean="0"/>
              <a:t>De </a:t>
            </a:r>
            <a:r>
              <a:rPr lang="fr-FR" dirty="0"/>
              <a:t>1490 à 1510 environ, </a:t>
            </a:r>
            <a:r>
              <a:rPr lang="fr-FR" dirty="0" smtClean="0"/>
              <a:t>période remarquable, </a:t>
            </a:r>
            <a:r>
              <a:rPr lang="fr-FR" dirty="0"/>
              <a:t>importante période de transition </a:t>
            </a:r>
            <a:r>
              <a:rPr lang="fr-FR" dirty="0" smtClean="0"/>
              <a:t>: la </a:t>
            </a:r>
            <a:r>
              <a:rPr lang="fr-FR" dirty="0"/>
              <a:t>fin du règne des Médicis, l'ascension de Savonarole </a:t>
            </a:r>
            <a:r>
              <a:rPr lang="fr-FR" dirty="0" smtClean="0"/>
              <a:t>(qui, de </a:t>
            </a:r>
            <a:r>
              <a:rPr lang="fr-FR" dirty="0"/>
              <a:t>1494 à 1498, a dirigé un régime théocratique dans la république de </a:t>
            </a:r>
            <a:r>
              <a:rPr lang="fr-FR" dirty="0" smtClean="0"/>
              <a:t>Florence), </a:t>
            </a:r>
            <a:r>
              <a:rPr lang="fr-FR" dirty="0"/>
              <a:t>et </a:t>
            </a:r>
            <a:r>
              <a:rPr lang="fr-FR" dirty="0" smtClean="0"/>
              <a:t>début </a:t>
            </a:r>
            <a:r>
              <a:rPr lang="fr-FR" dirty="0"/>
              <a:t>des guerres </a:t>
            </a:r>
            <a:r>
              <a:rPr lang="fr-FR" dirty="0" smtClean="0"/>
              <a:t>d’Italie.</a:t>
            </a:r>
          </a:p>
          <a:p>
            <a:pPr algn="just">
              <a:lnSpc>
                <a:spcPct val="110000"/>
              </a:lnSpc>
            </a:pPr>
            <a:r>
              <a:rPr lang="fr-FR" dirty="0"/>
              <a:t>V</a:t>
            </a:r>
            <a:r>
              <a:rPr lang="fr-FR" dirty="0" smtClean="0"/>
              <a:t>ie </a:t>
            </a:r>
            <a:r>
              <a:rPr lang="fr-FR" dirty="0"/>
              <a:t>intellectuelle, il est à noter (parmi </a:t>
            </a:r>
            <a:r>
              <a:rPr lang="fr-FR" dirty="0" smtClean="0"/>
              <a:t>d'autres </a:t>
            </a:r>
            <a:r>
              <a:rPr lang="fr-FR" dirty="0"/>
              <a:t>développements) </a:t>
            </a:r>
            <a:r>
              <a:rPr lang="fr-FR" dirty="0" smtClean="0"/>
              <a:t>: à </a:t>
            </a:r>
            <a:r>
              <a:rPr lang="fr-FR" dirty="0"/>
              <a:t>la fin du XVe siècle, presque toutes les sources textuelles primaires actuellement disponibles pour étudier le monde antique avaient été </a:t>
            </a:r>
            <a:r>
              <a:rPr lang="fr-FR" dirty="0" smtClean="0"/>
              <a:t>découvertes.</a:t>
            </a:r>
          </a:p>
          <a:p>
            <a:pPr algn="just">
              <a:lnSpc>
                <a:spcPct val="110000"/>
              </a:lnSpc>
            </a:pPr>
            <a:r>
              <a:rPr lang="fr-FR" dirty="0" smtClean="0"/>
              <a:t>Temps de </a:t>
            </a:r>
            <a:r>
              <a:rPr lang="fr-FR" dirty="0"/>
              <a:t>consolider ces acquis, de trouver des moyens de les ordonner et de créer les ressources qui seraient désormais utilisées pour aborder l'étude du monde classique.</a:t>
            </a:r>
          </a:p>
        </p:txBody>
      </p:sp>
    </p:spTree>
    <p:extLst>
      <p:ext uri="{BB962C8B-B14F-4D97-AF65-F5344CB8AC3E}">
        <p14:creationId xmlns:p14="http://schemas.microsoft.com/office/powerpoint/2010/main" val="45545166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Repères</a:t>
            </a:r>
            <a:endParaRPr lang="fr-FR" dirty="0"/>
          </a:p>
        </p:txBody>
      </p:sp>
      <p:sp>
        <p:nvSpPr>
          <p:cNvPr id="3" name="Content Placeholder 2"/>
          <p:cNvSpPr>
            <a:spLocks noGrp="1"/>
          </p:cNvSpPr>
          <p:nvPr>
            <p:ph idx="1"/>
          </p:nvPr>
        </p:nvSpPr>
        <p:spPr>
          <a:xfrm>
            <a:off x="581192" y="2066192"/>
            <a:ext cx="11029615" cy="4791808"/>
          </a:xfrm>
        </p:spPr>
        <p:txBody>
          <a:bodyPr>
            <a:normAutofit/>
          </a:bodyPr>
          <a:lstStyle/>
          <a:p>
            <a:pPr algn="just"/>
            <a:r>
              <a:rPr lang="fr-FR" dirty="0" smtClean="0"/>
              <a:t>Pietro </a:t>
            </a:r>
            <a:r>
              <a:rPr lang="fr-FR" dirty="0" err="1" smtClean="0"/>
              <a:t>del</a:t>
            </a:r>
            <a:r>
              <a:rPr lang="fr-FR" dirty="0" smtClean="0"/>
              <a:t> Riccio </a:t>
            </a:r>
            <a:r>
              <a:rPr lang="fr-FR" dirty="0" err="1" smtClean="0"/>
              <a:t>Baldi</a:t>
            </a:r>
            <a:r>
              <a:rPr lang="fr-FR" dirty="0" smtClean="0"/>
              <a:t> (1474-1507), connu sous son nom latinisé de Petrus </a:t>
            </a:r>
            <a:r>
              <a:rPr lang="fr-FR" dirty="0" err="1" smtClean="0"/>
              <a:t>Crinitus</a:t>
            </a:r>
            <a:r>
              <a:rPr lang="fr-FR" dirty="0" smtClean="0"/>
              <a:t>.</a:t>
            </a:r>
          </a:p>
          <a:p>
            <a:pPr algn="just"/>
            <a:r>
              <a:rPr lang="fr-FR" dirty="0" smtClean="0"/>
              <a:t>Cinquième d'une famille de neuf enfants.</a:t>
            </a:r>
          </a:p>
          <a:p>
            <a:pPr algn="just"/>
            <a:r>
              <a:rPr lang="fr-FR" dirty="0" smtClean="0"/>
              <a:t>Rapidement un jeune savant précoce, étudiant auprès de Paolo </a:t>
            </a:r>
            <a:r>
              <a:rPr lang="fr-FR" dirty="0" err="1" smtClean="0"/>
              <a:t>Sassi</a:t>
            </a:r>
            <a:r>
              <a:rPr lang="fr-FR" dirty="0" smtClean="0"/>
              <a:t> da </a:t>
            </a:r>
            <a:r>
              <a:rPr lang="fr-FR" dirty="0" err="1" smtClean="0"/>
              <a:t>Ronciglione</a:t>
            </a:r>
            <a:r>
              <a:rPr lang="fr-FR" dirty="0" smtClean="0"/>
              <a:t>, le maître de Nicolas Machiavel.</a:t>
            </a:r>
          </a:p>
          <a:p>
            <a:pPr algn="just"/>
            <a:r>
              <a:rPr lang="fr-FR" dirty="0" err="1" smtClean="0"/>
              <a:t>Etudia</a:t>
            </a:r>
            <a:r>
              <a:rPr lang="fr-FR" dirty="0" smtClean="0"/>
              <a:t> également avec </a:t>
            </a:r>
            <a:r>
              <a:rPr lang="fr-FR" dirty="0" err="1" smtClean="0"/>
              <a:t>Ugolino</a:t>
            </a:r>
            <a:r>
              <a:rPr lang="fr-FR" dirty="0" smtClean="0"/>
              <a:t> </a:t>
            </a:r>
            <a:r>
              <a:rPr lang="fr-FR" dirty="0" err="1" smtClean="0"/>
              <a:t>Verino</a:t>
            </a:r>
            <a:r>
              <a:rPr lang="fr-FR" dirty="0" smtClean="0"/>
              <a:t> (1438–1516), </a:t>
            </a:r>
            <a:r>
              <a:rPr lang="fr-FR" dirty="0"/>
              <a:t>aussi </a:t>
            </a:r>
            <a:r>
              <a:rPr lang="fr-FR" dirty="0" smtClean="0"/>
              <a:t>professeur d'humanités </a:t>
            </a:r>
            <a:r>
              <a:rPr lang="fr-FR" dirty="0"/>
              <a:t>auprès du pape Léon X, de Francesco </a:t>
            </a:r>
            <a:r>
              <a:rPr lang="fr-FR" dirty="0" smtClean="0"/>
              <a:t>Pitti.</a:t>
            </a:r>
          </a:p>
          <a:p>
            <a:pPr algn="just"/>
            <a:r>
              <a:rPr lang="fr-FR" dirty="0" smtClean="0"/>
              <a:t>Rejoint le cercle d'Ange Politien (1454–1494), grand auteur en langue vulgaire mais surtout </a:t>
            </a:r>
            <a:r>
              <a:rPr lang="fr-FR" dirty="0"/>
              <a:t>immense philologue (Politien écrivit des introductions aux Silves de Stace, sur l'Institution oratoire de Quintilien, sur Perse et sur </a:t>
            </a:r>
            <a:r>
              <a:rPr lang="fr-FR" dirty="0" smtClean="0"/>
              <a:t>Suétone</a:t>
            </a:r>
            <a:r>
              <a:rPr lang="fr-FR" dirty="0"/>
              <a:t>)</a:t>
            </a:r>
            <a:r>
              <a:rPr lang="fr-FR" dirty="0" smtClean="0"/>
              <a:t>. </a:t>
            </a:r>
          </a:p>
          <a:p>
            <a:pPr algn="just"/>
            <a:r>
              <a:rPr lang="fr-FR" dirty="0" smtClean="0"/>
              <a:t>À Florence, </a:t>
            </a:r>
            <a:r>
              <a:rPr lang="fr-FR" dirty="0" err="1" smtClean="0"/>
              <a:t>Crinitus</a:t>
            </a:r>
            <a:r>
              <a:rPr lang="fr-FR" dirty="0" smtClean="0"/>
              <a:t> devint non seulement le principal élève de Politien, mais aussi, de fait, son exécuteur littéraire. Il édita les lettres et d'autres travaux de Politien et confia à Aldo </a:t>
            </a:r>
            <a:r>
              <a:rPr lang="fr-FR" dirty="0" err="1" smtClean="0"/>
              <a:t>Manuzio</a:t>
            </a:r>
            <a:r>
              <a:rPr lang="fr-FR" dirty="0" smtClean="0"/>
              <a:t> (Alde Manuce) le texte qui devint les </a:t>
            </a:r>
            <a:r>
              <a:rPr lang="fr-FR" i="1" dirty="0" smtClean="0"/>
              <a:t>Œuvres complètes</a:t>
            </a:r>
            <a:r>
              <a:rPr lang="fr-FR" dirty="0" smtClean="0"/>
              <a:t> de Politien.</a:t>
            </a:r>
            <a:endParaRPr lang="fr-FR" dirty="0"/>
          </a:p>
        </p:txBody>
      </p:sp>
    </p:spTree>
    <p:extLst>
      <p:ext uri="{BB962C8B-B14F-4D97-AF65-F5344CB8AC3E}">
        <p14:creationId xmlns:p14="http://schemas.microsoft.com/office/powerpoint/2010/main" val="325607036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Lien avec Ange Politien</a:t>
            </a:r>
            <a:endParaRPr lang="fr-FR" dirty="0"/>
          </a:p>
        </p:txBody>
      </p:sp>
      <p:sp>
        <p:nvSpPr>
          <p:cNvPr id="3" name="Content Placeholder 2"/>
          <p:cNvSpPr>
            <a:spLocks noGrp="1"/>
          </p:cNvSpPr>
          <p:nvPr>
            <p:ph idx="1"/>
          </p:nvPr>
        </p:nvSpPr>
        <p:spPr>
          <a:xfrm>
            <a:off x="581192" y="2066192"/>
            <a:ext cx="11029615" cy="4791808"/>
          </a:xfrm>
        </p:spPr>
        <p:txBody>
          <a:bodyPr>
            <a:normAutofit/>
          </a:bodyPr>
          <a:lstStyle/>
          <a:p>
            <a:pPr algn="just"/>
            <a:r>
              <a:rPr lang="fr-FR" dirty="0"/>
              <a:t>Le lien entre </a:t>
            </a:r>
            <a:r>
              <a:rPr lang="fr-FR" dirty="0" err="1"/>
              <a:t>Crinitus</a:t>
            </a:r>
            <a:r>
              <a:rPr lang="fr-FR" dirty="0"/>
              <a:t> et Politien est important pour deux </a:t>
            </a:r>
            <a:r>
              <a:rPr lang="fr-FR" dirty="0" smtClean="0"/>
              <a:t>raisons.</a:t>
            </a:r>
          </a:p>
          <a:p>
            <a:pPr lvl="1" algn="just"/>
            <a:r>
              <a:rPr lang="fr-FR" sz="1800" dirty="0" err="1" smtClean="0"/>
              <a:t>Interiorisation</a:t>
            </a:r>
            <a:r>
              <a:rPr lang="fr-FR" sz="1800" dirty="0" smtClean="0"/>
              <a:t> de la </a:t>
            </a:r>
            <a:r>
              <a:rPr lang="fr-FR" sz="1800" dirty="0"/>
              <a:t>vision globale de Politien sur ce que doit être un érudit authentiquement </a:t>
            </a:r>
            <a:r>
              <a:rPr lang="fr-FR" sz="1800" dirty="0" smtClean="0"/>
              <a:t>engagé. Dans </a:t>
            </a:r>
            <a:r>
              <a:rPr lang="fr-FR" sz="1800" i="1" dirty="0" smtClean="0"/>
              <a:t>Lamia</a:t>
            </a:r>
            <a:r>
              <a:rPr lang="fr-FR" sz="1800" dirty="0"/>
              <a:t>, Politien avait esquissé ce qu'il considérait comme la compétence du </a:t>
            </a:r>
            <a:r>
              <a:rPr lang="fr-FR" sz="1800" i="1" dirty="0" err="1"/>
              <a:t>grammaticus</a:t>
            </a:r>
            <a:r>
              <a:rPr lang="fr-FR" sz="1800" dirty="0"/>
              <a:t>, le « grammairien » ou même le « philologue ». Ce terme désignait typiquement un professeur de grammaire (par l'étude de la poésie), mais pour </a:t>
            </a:r>
            <a:r>
              <a:rPr lang="fr-FR" sz="1800" dirty="0" smtClean="0"/>
              <a:t>Politien, </a:t>
            </a:r>
            <a:r>
              <a:rPr lang="fr-FR" sz="1800" dirty="0"/>
              <a:t>le terme </a:t>
            </a:r>
            <a:r>
              <a:rPr lang="fr-FR" sz="1800" i="1" dirty="0" err="1"/>
              <a:t>grammaticus</a:t>
            </a:r>
            <a:r>
              <a:rPr lang="fr-FR" sz="1800" dirty="0"/>
              <a:t> indiquait un savant </a:t>
            </a:r>
            <a:r>
              <a:rPr lang="fr-FR" sz="1800" dirty="0" smtClean="0"/>
              <a:t>non prisonnier </a:t>
            </a:r>
            <a:r>
              <a:rPr lang="fr-FR" sz="1800" dirty="0"/>
              <a:t>des frontières disciplinaires </a:t>
            </a:r>
            <a:r>
              <a:rPr lang="fr-FR" sz="1800" dirty="0" smtClean="0"/>
              <a:t>traditionnelles</a:t>
            </a:r>
            <a:r>
              <a:rPr lang="fr-FR" sz="1800" dirty="0"/>
              <a:t> </a:t>
            </a:r>
            <a:r>
              <a:rPr lang="fr-FR" sz="1800" dirty="0" smtClean="0"/>
              <a:t>&gt;  </a:t>
            </a:r>
            <a:r>
              <a:rPr lang="fr-FR" sz="1800" dirty="0"/>
              <a:t>passion pour traiter de nombreux genres de la culture écrite traditionnellement </a:t>
            </a:r>
            <a:r>
              <a:rPr lang="fr-FR" sz="1800" dirty="0" smtClean="0"/>
              <a:t>distincts.</a:t>
            </a:r>
          </a:p>
          <a:p>
            <a:pPr lvl="1" algn="just"/>
            <a:r>
              <a:rPr lang="fr-FR" sz="1800" dirty="0" smtClean="0"/>
              <a:t>Phase </a:t>
            </a:r>
            <a:r>
              <a:rPr lang="fr-FR" sz="1800" dirty="0"/>
              <a:t>suivante de cette évolution. Politien, le mentor de </a:t>
            </a:r>
            <a:r>
              <a:rPr lang="fr-FR" sz="1800" dirty="0" err="1"/>
              <a:t>Crinitus</a:t>
            </a:r>
            <a:r>
              <a:rPr lang="fr-FR" sz="1800" dirty="0"/>
              <a:t>, avait écrit les manifestes, mené les batailles et englobé les luttes du siècle passé. </a:t>
            </a:r>
            <a:r>
              <a:rPr lang="fr-FR" sz="1800" dirty="0" smtClean="0"/>
              <a:t>L'œuvre </a:t>
            </a:r>
            <a:r>
              <a:rPr lang="fr-FR" sz="1800" dirty="0"/>
              <a:t>de </a:t>
            </a:r>
            <a:r>
              <a:rPr lang="fr-FR" sz="1800" dirty="0" err="1"/>
              <a:t>Crinitus</a:t>
            </a:r>
            <a:r>
              <a:rPr lang="fr-FR" sz="1800" dirty="0"/>
              <a:t> </a:t>
            </a:r>
            <a:r>
              <a:rPr lang="fr-FR" sz="1800" dirty="0" smtClean="0"/>
              <a:t>(ouvrages appelés et à venir au moment de sa mort) indique </a:t>
            </a:r>
            <a:r>
              <a:rPr lang="fr-FR" sz="1800" dirty="0"/>
              <a:t>une transition générationnelle. </a:t>
            </a:r>
          </a:p>
        </p:txBody>
      </p:sp>
    </p:spTree>
    <p:extLst>
      <p:ext uri="{BB962C8B-B14F-4D97-AF65-F5344CB8AC3E}">
        <p14:creationId xmlns:p14="http://schemas.microsoft.com/office/powerpoint/2010/main" val="357120764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fr-FR" dirty="0" smtClean="0"/>
              <a:t>Petrus </a:t>
            </a:r>
            <a:r>
              <a:rPr lang="fr-FR" dirty="0" err="1" smtClean="0"/>
              <a:t>crinitus</a:t>
            </a:r>
            <a:r>
              <a:rPr lang="fr-FR" dirty="0" smtClean="0"/>
              <a:t/>
            </a:r>
            <a:br>
              <a:rPr lang="fr-FR" dirty="0" smtClean="0"/>
            </a:br>
            <a:r>
              <a:rPr lang="fr-FR" dirty="0" smtClean="0"/>
              <a:t>ŒUVRES Encyclopédique</a:t>
            </a:r>
            <a:endParaRPr lang="fr-FR" dirty="0"/>
          </a:p>
        </p:txBody>
      </p:sp>
      <p:sp>
        <p:nvSpPr>
          <p:cNvPr id="3" name="Content Placeholder 2"/>
          <p:cNvSpPr>
            <a:spLocks noGrp="1"/>
          </p:cNvSpPr>
          <p:nvPr>
            <p:ph idx="1"/>
          </p:nvPr>
        </p:nvSpPr>
        <p:spPr>
          <a:xfrm>
            <a:off x="581192" y="2066192"/>
            <a:ext cx="11029615" cy="4791808"/>
          </a:xfrm>
        </p:spPr>
        <p:txBody>
          <a:bodyPr>
            <a:normAutofit/>
          </a:bodyPr>
          <a:lstStyle/>
          <a:p>
            <a:pPr algn="just"/>
            <a:r>
              <a:rPr lang="fr-FR" dirty="0"/>
              <a:t>Comprendre ce moment de transition par l’examen de la séquence d'ouvrages projetée par </a:t>
            </a:r>
            <a:r>
              <a:rPr lang="fr-FR" dirty="0" err="1"/>
              <a:t>Crinitus</a:t>
            </a:r>
            <a:r>
              <a:rPr lang="fr-FR" dirty="0"/>
              <a:t> (il n’en acheva que trois).</a:t>
            </a:r>
          </a:p>
          <a:p>
            <a:pPr algn="just"/>
            <a:r>
              <a:rPr lang="fr-FR" dirty="0" smtClean="0"/>
              <a:t>MAIS Liste </a:t>
            </a:r>
            <a:r>
              <a:rPr lang="fr-FR" dirty="0"/>
              <a:t>de ces ouvrages projetés dans la lettre de présentation jointe au </a:t>
            </a:r>
            <a:r>
              <a:rPr lang="fr-FR" i="1" dirty="0"/>
              <a:t>De </a:t>
            </a:r>
            <a:r>
              <a:rPr lang="fr-FR" i="1" dirty="0" err="1"/>
              <a:t>honesta</a:t>
            </a:r>
            <a:r>
              <a:rPr lang="fr-FR" i="1" dirty="0"/>
              <a:t> disciplina</a:t>
            </a:r>
            <a:r>
              <a:rPr lang="fr-FR" dirty="0"/>
              <a:t> de </a:t>
            </a:r>
            <a:r>
              <a:rPr lang="fr-FR" dirty="0" err="1" smtClean="0"/>
              <a:t>Crinitus</a:t>
            </a:r>
            <a:r>
              <a:rPr lang="fr-FR" dirty="0" smtClean="0"/>
              <a:t> (œuvre majeure). Elle </a:t>
            </a:r>
            <a:r>
              <a:rPr lang="fr-FR" dirty="0"/>
              <a:t>représente bien </a:t>
            </a:r>
            <a:r>
              <a:rPr lang="fr-FR" dirty="0" smtClean="0"/>
              <a:t>un </a:t>
            </a:r>
            <a:r>
              <a:rPr lang="fr-FR" dirty="0"/>
              <a:t>type de composition </a:t>
            </a:r>
            <a:r>
              <a:rPr lang="fr-FR" dirty="0" smtClean="0"/>
              <a:t>littéraire inspirée </a:t>
            </a:r>
            <a:r>
              <a:rPr lang="fr-FR" dirty="0"/>
              <a:t>par les </a:t>
            </a:r>
            <a:r>
              <a:rPr lang="fr-FR" i="1" dirty="0"/>
              <a:t>Nuits Attiques</a:t>
            </a:r>
            <a:r>
              <a:rPr lang="fr-FR" dirty="0"/>
              <a:t> </a:t>
            </a:r>
            <a:r>
              <a:rPr lang="fr-FR" dirty="0" smtClean="0"/>
              <a:t>d'Aulu-Gelle. La </a:t>
            </a:r>
            <a:r>
              <a:rPr lang="fr-FR" dirty="0"/>
              <a:t>lettre jointe au traité a été écrite par Benedetto </a:t>
            </a:r>
            <a:r>
              <a:rPr lang="fr-FR" dirty="0" err="1"/>
              <a:t>Filologo</a:t>
            </a:r>
            <a:r>
              <a:rPr lang="fr-FR" dirty="0"/>
              <a:t> à </a:t>
            </a:r>
            <a:r>
              <a:rPr lang="fr-FR" dirty="0" err="1"/>
              <a:t>Scipione</a:t>
            </a:r>
            <a:r>
              <a:rPr lang="fr-FR" dirty="0"/>
              <a:t> </a:t>
            </a:r>
            <a:r>
              <a:rPr lang="fr-FR" dirty="0" err="1" smtClean="0"/>
              <a:t>Carteromacho</a:t>
            </a:r>
            <a:r>
              <a:rPr lang="fr-FR" dirty="0" smtClean="0"/>
              <a:t>.</a:t>
            </a:r>
          </a:p>
          <a:p>
            <a:pPr algn="just"/>
            <a:r>
              <a:rPr lang="fr-FR" dirty="0" smtClean="0"/>
              <a:t>Caractérise </a:t>
            </a:r>
            <a:r>
              <a:rPr lang="fr-FR" dirty="0" err="1"/>
              <a:t>Crinitus</a:t>
            </a:r>
            <a:r>
              <a:rPr lang="fr-FR" dirty="0"/>
              <a:t> comme quelqu'un qui, depuis sa jeunesse, s'est attaché à « étudier énergiquement et en profondeur chaque aspect de l'Antiquité et à commenter ces questions avec le plus grand soin </a:t>
            </a:r>
            <a:r>
              <a:rPr lang="fr-FR" dirty="0" smtClean="0"/>
              <a:t>».</a:t>
            </a:r>
          </a:p>
          <a:p>
            <a:pPr algn="just"/>
            <a:r>
              <a:rPr lang="fr-FR" dirty="0" err="1" smtClean="0"/>
              <a:t>Enumère</a:t>
            </a:r>
            <a:r>
              <a:rPr lang="fr-FR" dirty="0" smtClean="0"/>
              <a:t> </a:t>
            </a:r>
            <a:r>
              <a:rPr lang="fr-FR" dirty="0"/>
              <a:t>les œuvres de </a:t>
            </a:r>
            <a:r>
              <a:rPr lang="fr-FR" dirty="0" err="1"/>
              <a:t>Crinitus</a:t>
            </a:r>
            <a:r>
              <a:rPr lang="fr-FR" dirty="0"/>
              <a:t> et suggère à son correspondant qu'elles sont imminentes : « </a:t>
            </a:r>
            <a:r>
              <a:rPr lang="fr-FR" dirty="0" err="1"/>
              <a:t>Porte-toi</a:t>
            </a:r>
            <a:r>
              <a:rPr lang="fr-FR" dirty="0"/>
              <a:t> bien, et attends d'ici peu tous ces ouvrages notés ci-dessous : </a:t>
            </a:r>
            <a:r>
              <a:rPr lang="fr-FR" i="1" dirty="0" err="1"/>
              <a:t>Epistolicarum</a:t>
            </a:r>
            <a:r>
              <a:rPr lang="fr-FR" i="1" dirty="0"/>
              <a:t> </a:t>
            </a:r>
            <a:r>
              <a:rPr lang="fr-FR" i="1" dirty="0" err="1"/>
              <a:t>responsionum</a:t>
            </a:r>
            <a:r>
              <a:rPr lang="fr-FR" i="1" dirty="0"/>
              <a:t> </a:t>
            </a:r>
            <a:r>
              <a:rPr lang="fr-FR" i="1" dirty="0" err="1"/>
              <a:t>libri</a:t>
            </a:r>
            <a:r>
              <a:rPr lang="fr-FR" i="1" dirty="0"/>
              <a:t> XX. De </a:t>
            </a:r>
            <a:r>
              <a:rPr lang="fr-FR" i="1" dirty="0" err="1"/>
              <a:t>Grammaticis</a:t>
            </a:r>
            <a:r>
              <a:rPr lang="fr-FR" i="1" dirty="0"/>
              <a:t> </a:t>
            </a:r>
            <a:r>
              <a:rPr lang="fr-FR" i="1" dirty="0" err="1"/>
              <a:t>latinis</a:t>
            </a:r>
            <a:r>
              <a:rPr lang="fr-FR" i="1" dirty="0"/>
              <a:t>, De </a:t>
            </a:r>
            <a:r>
              <a:rPr lang="fr-FR" i="1" dirty="0" err="1"/>
              <a:t>poetis</a:t>
            </a:r>
            <a:r>
              <a:rPr lang="fr-FR" i="1" dirty="0"/>
              <a:t>, De </a:t>
            </a:r>
            <a:r>
              <a:rPr lang="fr-FR" i="1" dirty="0" err="1"/>
              <a:t>oratoribus</a:t>
            </a:r>
            <a:r>
              <a:rPr lang="fr-FR" i="1" dirty="0"/>
              <a:t> et </a:t>
            </a:r>
            <a:r>
              <a:rPr lang="fr-FR" i="1" dirty="0" err="1"/>
              <a:t>historicis</a:t>
            </a:r>
            <a:r>
              <a:rPr lang="fr-FR" i="1" dirty="0"/>
              <a:t>, </a:t>
            </a:r>
            <a:r>
              <a:rPr lang="fr-FR" i="1" dirty="0" err="1"/>
              <a:t>libri</a:t>
            </a:r>
            <a:r>
              <a:rPr lang="fr-FR" i="1" dirty="0"/>
              <a:t> XV. </a:t>
            </a:r>
            <a:r>
              <a:rPr lang="fr-FR" i="1" dirty="0" err="1"/>
              <a:t>Promiscuarum</a:t>
            </a:r>
            <a:r>
              <a:rPr lang="fr-FR" i="1" dirty="0"/>
              <a:t> </a:t>
            </a:r>
            <a:r>
              <a:rPr lang="fr-FR" i="1" dirty="0" err="1"/>
              <a:t>quaestionum</a:t>
            </a:r>
            <a:r>
              <a:rPr lang="fr-FR" i="1" dirty="0"/>
              <a:t>, </a:t>
            </a:r>
            <a:r>
              <a:rPr lang="fr-FR" i="1" dirty="0" err="1"/>
              <a:t>libri</a:t>
            </a:r>
            <a:r>
              <a:rPr lang="fr-FR" i="1" dirty="0"/>
              <a:t> X. </a:t>
            </a:r>
            <a:r>
              <a:rPr lang="fr-FR" i="1" dirty="0" err="1"/>
              <a:t>Parthenicorum</a:t>
            </a:r>
            <a:r>
              <a:rPr lang="fr-FR" i="1" dirty="0"/>
              <a:t> </a:t>
            </a:r>
            <a:r>
              <a:rPr lang="fr-FR" i="1" dirty="0" err="1"/>
              <a:t>sermonum</a:t>
            </a:r>
            <a:r>
              <a:rPr lang="fr-FR" i="1" dirty="0"/>
              <a:t> et </a:t>
            </a:r>
            <a:r>
              <a:rPr lang="fr-FR" i="1" dirty="0" err="1"/>
              <a:t>poematum</a:t>
            </a:r>
            <a:r>
              <a:rPr lang="fr-FR" i="1" dirty="0"/>
              <a:t> </a:t>
            </a:r>
            <a:r>
              <a:rPr lang="fr-FR" i="1" dirty="0" err="1"/>
              <a:t>libri</a:t>
            </a:r>
            <a:r>
              <a:rPr lang="fr-FR" i="1" dirty="0"/>
              <a:t> III</a:t>
            </a:r>
            <a:r>
              <a:rPr lang="fr-FR" dirty="0"/>
              <a:t>. </a:t>
            </a:r>
            <a:r>
              <a:rPr lang="fr-FR" dirty="0" smtClean="0"/>
              <a:t>»</a:t>
            </a:r>
          </a:p>
        </p:txBody>
      </p:sp>
    </p:spTree>
    <p:extLst>
      <p:ext uri="{BB962C8B-B14F-4D97-AF65-F5344CB8AC3E}">
        <p14:creationId xmlns:p14="http://schemas.microsoft.com/office/powerpoint/2010/main" val="227258299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De </a:t>
            </a:r>
            <a:r>
              <a:rPr lang="fr-FR" dirty="0" err="1" smtClean="0"/>
              <a:t>poetis</a:t>
            </a:r>
            <a:r>
              <a:rPr lang="fr-FR" dirty="0" smtClean="0"/>
              <a:t> </a:t>
            </a:r>
            <a:r>
              <a:rPr lang="fr-FR" dirty="0" err="1" smtClean="0"/>
              <a:t>latinis</a:t>
            </a:r>
            <a:endParaRPr lang="fr-FR" dirty="0"/>
          </a:p>
        </p:txBody>
      </p:sp>
      <p:sp>
        <p:nvSpPr>
          <p:cNvPr id="3" name="Content Placeholder 2"/>
          <p:cNvSpPr>
            <a:spLocks noGrp="1"/>
          </p:cNvSpPr>
          <p:nvPr>
            <p:ph idx="1"/>
          </p:nvPr>
        </p:nvSpPr>
        <p:spPr>
          <a:xfrm>
            <a:off x="581192" y="2066192"/>
            <a:ext cx="11029615" cy="4791808"/>
          </a:xfrm>
        </p:spPr>
        <p:txBody>
          <a:bodyPr>
            <a:normAutofit/>
          </a:bodyPr>
          <a:lstStyle/>
          <a:p>
            <a:pPr algn="just"/>
            <a:r>
              <a:rPr lang="fr-FR" dirty="0" smtClean="0"/>
              <a:t>Liste montre </a:t>
            </a:r>
            <a:r>
              <a:rPr lang="fr-FR" dirty="0"/>
              <a:t>que </a:t>
            </a:r>
            <a:r>
              <a:rPr lang="fr-FR" dirty="0" err="1"/>
              <a:t>Crinitus</a:t>
            </a:r>
            <a:r>
              <a:rPr lang="fr-FR" dirty="0"/>
              <a:t> s'intéressait aux types d'ouvrages de mélanges qui avaient également captivé </a:t>
            </a:r>
            <a:r>
              <a:rPr lang="fr-FR" dirty="0" smtClean="0"/>
              <a:t>Politien.</a:t>
            </a:r>
          </a:p>
          <a:p>
            <a:pPr algn="just"/>
            <a:r>
              <a:rPr lang="fr-FR" dirty="0" smtClean="0"/>
              <a:t>Révèle un </a:t>
            </a:r>
            <a:r>
              <a:rPr lang="fr-FR" dirty="0"/>
              <a:t>vif intérêt à </a:t>
            </a:r>
            <a:r>
              <a:rPr lang="fr-FR" dirty="0" smtClean="0"/>
              <a:t>Suétone &gt; Le </a:t>
            </a:r>
            <a:r>
              <a:rPr lang="fr-FR" dirty="0"/>
              <a:t>vaste ensemble de </a:t>
            </a:r>
            <a:r>
              <a:rPr lang="fr-FR" i="1" dirty="0"/>
              <a:t>Vies des hommes illustres</a:t>
            </a:r>
            <a:r>
              <a:rPr lang="fr-FR" dirty="0"/>
              <a:t> de Suétone (au-delà de ses désormais célèbres </a:t>
            </a:r>
            <a:r>
              <a:rPr lang="fr-FR" i="1" dirty="0"/>
              <a:t>Vies des douze Césars</a:t>
            </a:r>
            <a:r>
              <a:rPr lang="fr-FR" dirty="0"/>
              <a:t>) </a:t>
            </a:r>
            <a:r>
              <a:rPr lang="fr-FR" dirty="0" smtClean="0"/>
              <a:t>avec </a:t>
            </a:r>
            <a:r>
              <a:rPr lang="fr-FR" dirty="0"/>
              <a:t>des historiens, des philosophes et des </a:t>
            </a:r>
            <a:r>
              <a:rPr lang="fr-FR" dirty="0" smtClean="0"/>
              <a:t>orateurs.</a:t>
            </a:r>
          </a:p>
          <a:p>
            <a:pPr algn="just"/>
            <a:r>
              <a:rPr lang="fr-FR" dirty="0" smtClean="0"/>
              <a:t>Au </a:t>
            </a:r>
            <a:r>
              <a:rPr lang="fr-FR" dirty="0"/>
              <a:t>sein de cet ensemble, figurait un ouvrage conservé comme un texte distinct, avec sa propre tradition, qui était connu de Politien et largement utilisé par lui, et que </a:t>
            </a:r>
            <a:r>
              <a:rPr lang="fr-FR" dirty="0" err="1"/>
              <a:t>Crinitus</a:t>
            </a:r>
            <a:r>
              <a:rPr lang="fr-FR" dirty="0"/>
              <a:t> revendique comme modèle : le </a:t>
            </a:r>
            <a:r>
              <a:rPr lang="fr-FR" i="1" dirty="0"/>
              <a:t>De </a:t>
            </a:r>
            <a:r>
              <a:rPr lang="fr-FR" i="1" dirty="0" err="1"/>
              <a:t>grammaticis</a:t>
            </a:r>
            <a:r>
              <a:rPr lang="fr-FR" i="1" dirty="0"/>
              <a:t> et </a:t>
            </a:r>
            <a:r>
              <a:rPr lang="fr-FR" i="1" dirty="0" err="1"/>
              <a:t>rhetoribus</a:t>
            </a:r>
            <a:r>
              <a:rPr lang="fr-FR" dirty="0"/>
              <a:t> de </a:t>
            </a:r>
            <a:r>
              <a:rPr lang="fr-FR" dirty="0" smtClean="0"/>
              <a:t>Suétone. Moment </a:t>
            </a:r>
            <a:r>
              <a:rPr lang="fr-FR" dirty="0" err="1"/>
              <a:t>suétonien</a:t>
            </a:r>
            <a:r>
              <a:rPr lang="fr-FR" dirty="0"/>
              <a:t> </a:t>
            </a:r>
            <a:r>
              <a:rPr lang="fr-FR" dirty="0" smtClean="0"/>
              <a:t>révèle </a:t>
            </a:r>
            <a:r>
              <a:rPr lang="fr-FR" dirty="0"/>
              <a:t>une entreprise de référencement et de </a:t>
            </a:r>
            <a:r>
              <a:rPr lang="fr-FR" dirty="0" smtClean="0"/>
              <a:t>consolidation.</a:t>
            </a:r>
          </a:p>
          <a:p>
            <a:pPr algn="just"/>
            <a:r>
              <a:rPr lang="fr-FR" dirty="0" smtClean="0"/>
              <a:t>Objectif de </a:t>
            </a:r>
            <a:r>
              <a:rPr lang="fr-FR" dirty="0" err="1" smtClean="0"/>
              <a:t>Crinitus</a:t>
            </a:r>
            <a:r>
              <a:rPr lang="fr-FR" dirty="0" smtClean="0"/>
              <a:t> : systématiser </a:t>
            </a:r>
            <a:r>
              <a:rPr lang="fr-FR" dirty="0"/>
              <a:t>les informations disponibles concernant les écrivains </a:t>
            </a:r>
            <a:r>
              <a:rPr lang="fr-FR" dirty="0" smtClean="0"/>
              <a:t>anciens</a:t>
            </a:r>
          </a:p>
          <a:p>
            <a:pPr algn="just"/>
            <a:r>
              <a:rPr lang="fr-FR" dirty="0" smtClean="0"/>
              <a:t>Son </a:t>
            </a:r>
            <a:r>
              <a:rPr lang="fr-FR" dirty="0"/>
              <a:t>ouvrage </a:t>
            </a:r>
            <a:r>
              <a:rPr lang="fr-FR" i="1" dirty="0"/>
              <a:t>Sur les poètes latins</a:t>
            </a:r>
            <a:r>
              <a:rPr lang="fr-FR" dirty="0"/>
              <a:t> (</a:t>
            </a:r>
            <a:r>
              <a:rPr lang="fr-FR" i="1" dirty="0"/>
              <a:t>De </a:t>
            </a:r>
            <a:r>
              <a:rPr lang="fr-FR" i="1" dirty="0" err="1"/>
              <a:t>poetis</a:t>
            </a:r>
            <a:r>
              <a:rPr lang="fr-FR" i="1" dirty="0"/>
              <a:t> </a:t>
            </a:r>
            <a:r>
              <a:rPr lang="fr-FR" i="1" dirty="0" err="1"/>
              <a:t>latinis</a:t>
            </a:r>
            <a:r>
              <a:rPr lang="fr-FR" dirty="0"/>
              <a:t>), le seul de ces livres de type "référence" qui subsiste, offre un aperçu de ces préoccupations. Paru en 1505, il est divisé en quatre-vingt-quinze chapitres et cinq livres, et couvre tous les poètes latins anciens connus, de </a:t>
            </a:r>
            <a:r>
              <a:rPr lang="fr-FR" dirty="0" err="1"/>
              <a:t>Livius</a:t>
            </a:r>
            <a:r>
              <a:rPr lang="fr-FR" dirty="0"/>
              <a:t> </a:t>
            </a:r>
            <a:r>
              <a:rPr lang="fr-FR" dirty="0" err="1"/>
              <a:t>Andronicus</a:t>
            </a:r>
            <a:r>
              <a:rPr lang="fr-FR" dirty="0"/>
              <a:t> (vers 284–204 av. J.-C.) à Sidoine Apollinaire (vers 430–489 apr. J.-C.).</a:t>
            </a:r>
          </a:p>
        </p:txBody>
      </p:sp>
    </p:spTree>
    <p:extLst>
      <p:ext uri="{BB962C8B-B14F-4D97-AF65-F5344CB8AC3E}">
        <p14:creationId xmlns:p14="http://schemas.microsoft.com/office/powerpoint/2010/main" val="72097934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DE POETIS LATINIS</a:t>
            </a:r>
            <a:endParaRPr lang="fr-FR" dirty="0"/>
          </a:p>
        </p:txBody>
      </p:sp>
      <p:sp>
        <p:nvSpPr>
          <p:cNvPr id="3" name="Content Placeholder 2"/>
          <p:cNvSpPr>
            <a:spLocks noGrp="1"/>
          </p:cNvSpPr>
          <p:nvPr>
            <p:ph idx="1"/>
          </p:nvPr>
        </p:nvSpPr>
        <p:spPr>
          <a:xfrm>
            <a:off x="581192" y="2066192"/>
            <a:ext cx="11029615" cy="4791808"/>
          </a:xfrm>
        </p:spPr>
        <p:txBody>
          <a:bodyPr>
            <a:normAutofit/>
          </a:bodyPr>
          <a:lstStyle/>
          <a:p>
            <a:pPr algn="just"/>
            <a:r>
              <a:rPr lang="fr-FR" dirty="0" smtClean="0"/>
              <a:t>Pour </a:t>
            </a:r>
            <a:r>
              <a:rPr lang="fr-FR" dirty="0"/>
              <a:t>Christopher S. </a:t>
            </a:r>
            <a:r>
              <a:rPr lang="fr-FR" dirty="0" err="1"/>
              <a:t>Celenza</a:t>
            </a:r>
            <a:r>
              <a:rPr lang="fr-FR" dirty="0"/>
              <a:t> </a:t>
            </a:r>
            <a:r>
              <a:rPr lang="fr-FR" dirty="0" smtClean="0"/>
              <a:t>: au </a:t>
            </a:r>
            <a:r>
              <a:rPr lang="fr-FR" dirty="0"/>
              <a:t>moins deux manières d'aborder cet </a:t>
            </a:r>
            <a:r>
              <a:rPr lang="fr-FR" dirty="0" smtClean="0"/>
              <a:t>ouvrage.</a:t>
            </a:r>
          </a:p>
          <a:p>
            <a:pPr marL="0" indent="0" algn="just">
              <a:buNone/>
            </a:pPr>
            <a:r>
              <a:rPr lang="fr-FR" dirty="0" smtClean="0"/>
              <a:t>« La </a:t>
            </a:r>
            <a:r>
              <a:rPr lang="fr-FR" dirty="0"/>
              <a:t>première consiste à se concentrer sur le schéma historique qu'il contient et autour duquel </a:t>
            </a:r>
            <a:r>
              <a:rPr lang="fr-FR" dirty="0" err="1"/>
              <a:t>Crinitus</a:t>
            </a:r>
            <a:r>
              <a:rPr lang="fr-FR" dirty="0"/>
              <a:t> structure sa discussion sur les poètes latins. Chacun des cinq livres possède sa propre préface, et ensemble, elles nous aident à comprendre la vision historique de </a:t>
            </a:r>
            <a:r>
              <a:rPr lang="fr-FR" dirty="0" err="1"/>
              <a:t>Crinitus</a:t>
            </a:r>
            <a:r>
              <a:rPr lang="fr-FR" dirty="0"/>
              <a:t>. La seconde consiste à examiner comment </a:t>
            </a:r>
            <a:r>
              <a:rPr lang="fr-FR" dirty="0" err="1"/>
              <a:t>Crinitus</a:t>
            </a:r>
            <a:r>
              <a:rPr lang="fr-FR" dirty="0"/>
              <a:t> traite un auteur spécifique (ce qui peut être observé en partie à travers l'examen des preuves manuscrites). Ces approches révèlent un penseur doté d'une vision spécifique de la place et de l'évolution de la poésie dans la société, alors même que les difficultés ponctuelles de </a:t>
            </a:r>
            <a:r>
              <a:rPr lang="fr-FR" dirty="0" err="1"/>
              <a:t>Crinitus</a:t>
            </a:r>
            <a:r>
              <a:rPr lang="fr-FR" dirty="0"/>
              <a:t> nous ouvrent une fenêtre sur une culture émergente des ouvrages de référence et de la gestion de l'information à l'époque moderne, sujet qui a récemment attiré l'attention des chercheurs</a:t>
            </a:r>
            <a:r>
              <a:rPr lang="fr-FR" dirty="0" smtClean="0"/>
              <a:t>.  »</a:t>
            </a:r>
          </a:p>
          <a:p>
            <a:pPr marL="0" indent="0" algn="just">
              <a:buNone/>
            </a:pPr>
            <a:endParaRPr lang="fr-FR" dirty="0"/>
          </a:p>
        </p:txBody>
      </p:sp>
    </p:spTree>
    <p:extLst>
      <p:ext uri="{BB962C8B-B14F-4D97-AF65-F5344CB8AC3E}">
        <p14:creationId xmlns:p14="http://schemas.microsoft.com/office/powerpoint/2010/main" val="286173945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De </a:t>
            </a:r>
            <a:r>
              <a:rPr lang="fr-FR" dirty="0" err="1" smtClean="0"/>
              <a:t>poetis</a:t>
            </a:r>
            <a:r>
              <a:rPr lang="fr-FR" dirty="0" smtClean="0"/>
              <a:t> </a:t>
            </a:r>
            <a:r>
              <a:rPr lang="fr-FR" dirty="0" err="1" smtClean="0"/>
              <a:t>latinis</a:t>
            </a:r>
            <a:endParaRPr lang="fr-FR" dirty="0"/>
          </a:p>
        </p:txBody>
      </p:sp>
      <p:sp>
        <p:nvSpPr>
          <p:cNvPr id="3" name="Content Placeholder 2"/>
          <p:cNvSpPr>
            <a:spLocks noGrp="1"/>
          </p:cNvSpPr>
          <p:nvPr>
            <p:ph idx="1"/>
          </p:nvPr>
        </p:nvSpPr>
        <p:spPr>
          <a:xfrm>
            <a:off x="581192" y="2066192"/>
            <a:ext cx="11029615" cy="4791808"/>
          </a:xfrm>
        </p:spPr>
        <p:txBody>
          <a:bodyPr>
            <a:normAutofit/>
          </a:bodyPr>
          <a:lstStyle/>
          <a:p>
            <a:pPr algn="just"/>
            <a:r>
              <a:rPr lang="fr-FR" dirty="0" smtClean="0"/>
              <a:t>Vision </a:t>
            </a:r>
            <a:r>
              <a:rPr lang="fr-FR" dirty="0"/>
              <a:t>de </a:t>
            </a:r>
            <a:r>
              <a:rPr lang="fr-FR" dirty="0" err="1"/>
              <a:t>Crinitus</a:t>
            </a:r>
            <a:r>
              <a:rPr lang="fr-FR" dirty="0"/>
              <a:t> sur le progrès de la poésie latine </a:t>
            </a:r>
            <a:r>
              <a:rPr lang="fr-FR" dirty="0" smtClean="0"/>
              <a:t>ancienne liée </a:t>
            </a:r>
            <a:r>
              <a:rPr lang="fr-FR" dirty="0"/>
              <a:t>à une conception classique de naissance, de croissance et de déclin, assez semblable à la version d'Isidore de Séville sur le progrès de la langue </a:t>
            </a:r>
            <a:r>
              <a:rPr lang="fr-FR" dirty="0" smtClean="0"/>
              <a:t>latine. Socle important </a:t>
            </a:r>
            <a:r>
              <a:rPr lang="fr-FR" dirty="0"/>
              <a:t>pour envisager le schéma historique de </a:t>
            </a:r>
            <a:r>
              <a:rPr lang="fr-FR" dirty="0" err="1" smtClean="0"/>
              <a:t>Crinitus</a:t>
            </a:r>
            <a:r>
              <a:rPr lang="fr-FR" dirty="0" smtClean="0"/>
              <a:t>,</a:t>
            </a:r>
            <a:endParaRPr lang="fr-FR" dirty="0"/>
          </a:p>
          <a:p>
            <a:pPr algn="just"/>
            <a:r>
              <a:rPr lang="fr-FR" dirty="0" smtClean="0"/>
              <a:t>Isidore </a:t>
            </a:r>
            <a:r>
              <a:rPr lang="fr-FR" dirty="0"/>
              <a:t>divisait son schéma en quatre périodes </a:t>
            </a:r>
            <a:r>
              <a:rPr lang="fr-FR" dirty="0" smtClean="0"/>
              <a:t>:</a:t>
            </a:r>
          </a:p>
          <a:p>
            <a:pPr lvl="1" algn="just"/>
            <a:r>
              <a:rPr lang="fr-FR" sz="1800" dirty="0" smtClean="0"/>
              <a:t>l'ancienne </a:t>
            </a:r>
            <a:r>
              <a:rPr lang="fr-FR" sz="1800" dirty="0"/>
              <a:t>ou </a:t>
            </a:r>
            <a:r>
              <a:rPr lang="fr-FR" sz="1800" i="1" dirty="0" err="1"/>
              <a:t>prisca</a:t>
            </a:r>
            <a:r>
              <a:rPr lang="fr-FR" sz="1800" dirty="0"/>
              <a:t> (le latin le plus reculé, situé dans l'ère mythique de Janus et de </a:t>
            </a:r>
            <a:r>
              <a:rPr lang="fr-FR" sz="1800" dirty="0" smtClean="0"/>
              <a:t>Saturne)</a:t>
            </a:r>
          </a:p>
          <a:p>
            <a:pPr lvl="1" algn="just"/>
            <a:r>
              <a:rPr lang="fr-FR" sz="1800" dirty="0" smtClean="0"/>
              <a:t>la </a:t>
            </a:r>
            <a:r>
              <a:rPr lang="fr-FR" sz="1800" dirty="0"/>
              <a:t>latine ou </a:t>
            </a:r>
            <a:r>
              <a:rPr lang="fr-FR" sz="1800" i="1" dirty="0" err="1"/>
              <a:t>latina</a:t>
            </a:r>
            <a:r>
              <a:rPr lang="fr-FR" sz="1800" dirty="0"/>
              <a:t> (la langue du Latium, dans laquelle furent écrites les Douze </a:t>
            </a:r>
            <a:r>
              <a:rPr lang="fr-FR" sz="1800" dirty="0" smtClean="0"/>
              <a:t>Tables)</a:t>
            </a:r>
          </a:p>
          <a:p>
            <a:pPr lvl="1" algn="just"/>
            <a:r>
              <a:rPr lang="fr-FR" sz="1800" dirty="0" smtClean="0"/>
              <a:t>la </a:t>
            </a:r>
            <a:r>
              <a:rPr lang="fr-FR" sz="1800" dirty="0"/>
              <a:t>romaine (qui représentait la période suivante et incluait entre autres Plaute, Virgile et </a:t>
            </a:r>
            <a:r>
              <a:rPr lang="fr-FR" sz="1800" dirty="0" smtClean="0"/>
              <a:t>Cicéron)</a:t>
            </a:r>
          </a:p>
          <a:p>
            <a:pPr lvl="1" algn="just"/>
            <a:r>
              <a:rPr lang="fr-FR" sz="1800" dirty="0" smtClean="0"/>
              <a:t>et </a:t>
            </a:r>
            <a:r>
              <a:rPr lang="fr-FR" sz="1800" dirty="0"/>
              <a:t>enfin la « mixte » ou </a:t>
            </a:r>
            <a:r>
              <a:rPr lang="fr-FR" sz="1800" i="1" dirty="0" err="1"/>
              <a:t>mixta</a:t>
            </a:r>
            <a:r>
              <a:rPr lang="fr-FR" sz="1800" dirty="0"/>
              <a:t> (survenue au déclin de la puissance romaine, corrompant la langue par des solécismes et des barbarismes</a:t>
            </a:r>
            <a:r>
              <a:rPr lang="fr-FR" sz="1800" dirty="0" smtClean="0"/>
              <a:t>).</a:t>
            </a:r>
          </a:p>
        </p:txBody>
      </p:sp>
    </p:spTree>
    <p:extLst>
      <p:ext uri="{BB962C8B-B14F-4D97-AF65-F5344CB8AC3E}">
        <p14:creationId xmlns:p14="http://schemas.microsoft.com/office/powerpoint/2010/main" val="37798722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err="1" smtClean="0"/>
              <a:t>isidore</a:t>
            </a:r>
            <a:r>
              <a:rPr lang="fr-FR" dirty="0" smtClean="0"/>
              <a:t> et les QUATRE Périodes</a:t>
            </a:r>
            <a:endParaRPr lang="fr-FR" dirty="0"/>
          </a:p>
        </p:txBody>
      </p:sp>
      <p:sp>
        <p:nvSpPr>
          <p:cNvPr id="3" name="Content Placeholder 2"/>
          <p:cNvSpPr>
            <a:spLocks noGrp="1"/>
          </p:cNvSpPr>
          <p:nvPr>
            <p:ph idx="1"/>
          </p:nvPr>
        </p:nvSpPr>
        <p:spPr>
          <a:xfrm>
            <a:off x="581192" y="2066192"/>
            <a:ext cx="11029615" cy="4791808"/>
          </a:xfrm>
        </p:spPr>
        <p:txBody>
          <a:bodyPr>
            <a:normAutofit/>
          </a:bodyPr>
          <a:lstStyle/>
          <a:p>
            <a:pPr algn="just"/>
            <a:r>
              <a:rPr lang="fr-FR" dirty="0" smtClean="0"/>
              <a:t>Vision </a:t>
            </a:r>
            <a:r>
              <a:rPr lang="fr-FR" dirty="0"/>
              <a:t>de </a:t>
            </a:r>
            <a:r>
              <a:rPr lang="fr-FR" dirty="0" err="1"/>
              <a:t>Crinitus</a:t>
            </a:r>
            <a:r>
              <a:rPr lang="fr-FR" dirty="0"/>
              <a:t> sur le progrès de la poésie latine </a:t>
            </a:r>
            <a:r>
              <a:rPr lang="fr-FR" dirty="0" smtClean="0"/>
              <a:t>ancienne liée </a:t>
            </a:r>
            <a:r>
              <a:rPr lang="fr-FR" dirty="0"/>
              <a:t>à une conception classique de naissance, de croissance et de déclin, assez semblable à la version d'Isidore de Séville sur le progrès de la langue </a:t>
            </a:r>
            <a:r>
              <a:rPr lang="fr-FR" dirty="0" smtClean="0"/>
              <a:t>latine. Socle important </a:t>
            </a:r>
            <a:r>
              <a:rPr lang="fr-FR" dirty="0"/>
              <a:t>pour envisager le schéma historique de </a:t>
            </a:r>
            <a:r>
              <a:rPr lang="fr-FR" dirty="0" err="1" smtClean="0"/>
              <a:t>Crinitus</a:t>
            </a:r>
            <a:r>
              <a:rPr lang="fr-FR" dirty="0" smtClean="0"/>
              <a:t>,</a:t>
            </a:r>
            <a:endParaRPr lang="fr-FR" dirty="0"/>
          </a:p>
          <a:p>
            <a:pPr algn="just"/>
            <a:r>
              <a:rPr lang="fr-FR" dirty="0" smtClean="0"/>
              <a:t>Isidore </a:t>
            </a:r>
            <a:r>
              <a:rPr lang="fr-FR" dirty="0"/>
              <a:t>divisait son schéma en quatre périodes </a:t>
            </a:r>
            <a:r>
              <a:rPr lang="fr-FR" dirty="0" smtClean="0"/>
              <a:t>:</a:t>
            </a:r>
          </a:p>
          <a:p>
            <a:pPr lvl="1" algn="just"/>
            <a:r>
              <a:rPr lang="fr-FR" sz="1800" dirty="0" smtClean="0"/>
              <a:t>l'ancienne </a:t>
            </a:r>
            <a:r>
              <a:rPr lang="fr-FR" sz="1800" dirty="0"/>
              <a:t>ou </a:t>
            </a:r>
            <a:r>
              <a:rPr lang="fr-FR" sz="1800" i="1" dirty="0" err="1"/>
              <a:t>prisca</a:t>
            </a:r>
            <a:r>
              <a:rPr lang="fr-FR" sz="1800" dirty="0"/>
              <a:t> (le latin le plus reculé, situé dans l'ère mythique de Janus et de </a:t>
            </a:r>
            <a:r>
              <a:rPr lang="fr-FR" sz="1800" dirty="0" smtClean="0"/>
              <a:t>Saturne)</a:t>
            </a:r>
          </a:p>
          <a:p>
            <a:pPr lvl="1" algn="just"/>
            <a:r>
              <a:rPr lang="fr-FR" sz="1800" dirty="0" smtClean="0"/>
              <a:t>la </a:t>
            </a:r>
            <a:r>
              <a:rPr lang="fr-FR" sz="1800" dirty="0"/>
              <a:t>latine ou </a:t>
            </a:r>
            <a:r>
              <a:rPr lang="fr-FR" sz="1800" i="1" dirty="0" err="1"/>
              <a:t>latina</a:t>
            </a:r>
            <a:r>
              <a:rPr lang="fr-FR" sz="1800" dirty="0"/>
              <a:t> (la langue du Latium, dans laquelle furent écrites les Douze </a:t>
            </a:r>
            <a:r>
              <a:rPr lang="fr-FR" sz="1800" dirty="0" smtClean="0"/>
              <a:t>Tables)</a:t>
            </a:r>
          </a:p>
          <a:p>
            <a:pPr lvl="1" algn="just"/>
            <a:r>
              <a:rPr lang="fr-FR" sz="1800" dirty="0" smtClean="0"/>
              <a:t>la </a:t>
            </a:r>
            <a:r>
              <a:rPr lang="fr-FR" sz="1800" dirty="0"/>
              <a:t>romaine (qui représentait la période suivante et incluait entre autres Plaute, Virgile et </a:t>
            </a:r>
            <a:r>
              <a:rPr lang="fr-FR" sz="1800" dirty="0" smtClean="0"/>
              <a:t>Cicéron)</a:t>
            </a:r>
          </a:p>
          <a:p>
            <a:pPr lvl="1" algn="just"/>
            <a:r>
              <a:rPr lang="fr-FR" sz="1800" dirty="0" smtClean="0"/>
              <a:t>et </a:t>
            </a:r>
            <a:r>
              <a:rPr lang="fr-FR" sz="1800" dirty="0"/>
              <a:t>enfin la « mixte » ou </a:t>
            </a:r>
            <a:r>
              <a:rPr lang="fr-FR" sz="1800" i="1" dirty="0" err="1"/>
              <a:t>mixta</a:t>
            </a:r>
            <a:r>
              <a:rPr lang="fr-FR" sz="1800" dirty="0"/>
              <a:t> (survenue au déclin de la puissance romaine, corrompant la langue par des solécismes et des barbarismes</a:t>
            </a:r>
            <a:r>
              <a:rPr lang="fr-FR" sz="1800" dirty="0" smtClean="0"/>
              <a:t>).</a:t>
            </a:r>
          </a:p>
        </p:txBody>
      </p:sp>
    </p:spTree>
    <p:extLst>
      <p:ext uri="{BB962C8B-B14F-4D97-AF65-F5344CB8AC3E}">
        <p14:creationId xmlns:p14="http://schemas.microsoft.com/office/powerpoint/2010/main" val="232714785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Débat sur la langue latine</a:t>
            </a:r>
            <a:endParaRPr lang="fr-FR" dirty="0"/>
          </a:p>
        </p:txBody>
      </p:sp>
      <p:sp>
        <p:nvSpPr>
          <p:cNvPr id="3" name="Content Placeholder 2"/>
          <p:cNvSpPr>
            <a:spLocks noGrp="1"/>
          </p:cNvSpPr>
          <p:nvPr>
            <p:ph idx="1"/>
          </p:nvPr>
        </p:nvSpPr>
        <p:spPr>
          <a:xfrm>
            <a:off x="581192" y="2180496"/>
            <a:ext cx="11029615" cy="4563204"/>
          </a:xfrm>
        </p:spPr>
        <p:txBody>
          <a:bodyPr>
            <a:normAutofit/>
          </a:bodyPr>
          <a:lstStyle/>
          <a:p>
            <a:pPr algn="just"/>
            <a:r>
              <a:rPr lang="fr-FR" dirty="0"/>
              <a:t>Importance également </a:t>
            </a:r>
            <a:r>
              <a:rPr lang="fr-FR" dirty="0" smtClean="0"/>
              <a:t>de la </a:t>
            </a:r>
            <a:r>
              <a:rPr lang="fr-FR" dirty="0"/>
              <a:t>discussion du XVe siècle sur la langue parlée dans la Rome </a:t>
            </a:r>
            <a:r>
              <a:rPr lang="fr-FR" dirty="0" smtClean="0"/>
              <a:t>antique</a:t>
            </a:r>
          </a:p>
          <a:p>
            <a:pPr algn="just"/>
            <a:r>
              <a:rPr lang="fr-FR" dirty="0" smtClean="0"/>
              <a:t>Discussion entre </a:t>
            </a:r>
            <a:r>
              <a:rPr lang="fr-FR" dirty="0" err="1"/>
              <a:t>Biondo</a:t>
            </a:r>
            <a:r>
              <a:rPr lang="fr-FR" dirty="0"/>
              <a:t> Flavio et Leonardo Bruni, et se poursuivit à travers Poggio </a:t>
            </a:r>
            <a:r>
              <a:rPr lang="fr-FR" dirty="0" err="1"/>
              <a:t>Bracciolini</a:t>
            </a:r>
            <a:r>
              <a:rPr lang="fr-FR" dirty="0"/>
              <a:t>, Lorenzo Valla, Angelo </a:t>
            </a:r>
            <a:r>
              <a:rPr lang="fr-FR" dirty="0" err="1"/>
              <a:t>Decembrio</a:t>
            </a:r>
            <a:r>
              <a:rPr lang="fr-FR" dirty="0"/>
              <a:t>, </a:t>
            </a:r>
            <a:r>
              <a:rPr lang="fr-FR" dirty="0" err="1"/>
              <a:t>Guarino</a:t>
            </a:r>
            <a:r>
              <a:rPr lang="fr-FR" dirty="0"/>
              <a:t> da </a:t>
            </a:r>
            <a:r>
              <a:rPr lang="fr-FR" dirty="0" err="1"/>
              <a:t>Verona</a:t>
            </a:r>
            <a:r>
              <a:rPr lang="fr-FR" dirty="0"/>
              <a:t> et Francesco </a:t>
            </a:r>
            <a:r>
              <a:rPr lang="fr-FR" dirty="0" err="1" smtClean="0"/>
              <a:t>Filelfo</a:t>
            </a:r>
            <a:r>
              <a:rPr lang="fr-FR" dirty="0" smtClean="0"/>
              <a:t>.</a:t>
            </a:r>
          </a:p>
          <a:p>
            <a:pPr algn="just"/>
            <a:r>
              <a:rPr lang="fr-FR" dirty="0" smtClean="0"/>
              <a:t>Question : Les </a:t>
            </a:r>
            <a:r>
              <a:rPr lang="fr-FR" dirty="0"/>
              <a:t>anciens Romains parlaient-ils une langue relativement formelle, semblable au latin écrit qui a été préservé ? Ou possédaient-ils, au contraire, une langue vernaculaire distincte de leur langue écrite </a:t>
            </a:r>
            <a:r>
              <a:rPr lang="fr-FR" dirty="0" smtClean="0"/>
              <a:t>?</a:t>
            </a:r>
          </a:p>
          <a:p>
            <a:pPr algn="just"/>
            <a:r>
              <a:rPr lang="fr-FR" dirty="0" smtClean="0"/>
              <a:t>Débat </a:t>
            </a:r>
            <a:r>
              <a:rPr lang="fr-FR" dirty="0"/>
              <a:t>long et </a:t>
            </a:r>
            <a:r>
              <a:rPr lang="fr-FR" dirty="0" smtClean="0"/>
              <a:t>complexe. Résumé </a:t>
            </a:r>
            <a:r>
              <a:rPr lang="fr-FR" dirty="0"/>
              <a:t>: au début de cette période, même un excellent latiniste cicéronien comme Bruni croyait que le latin dans l'Antiquité avait été, comme il l'était pour les modernes, une langue « artificielle », dotée de son propre ensemble idéalisé de règles uniformes. Pour Bruni, même à l'époque de Cicéron, il existait le latin d'un côté et un vernaculaire séparé de l'autre. À la fin du débat, et vers la fin du XVe siècle, presque tous ceux qui s'étaient penchés sur la question pensaient le contraire : le latin ancien avait été une langue naturelle avec un cycle de naissance, de croissance et de </a:t>
            </a:r>
            <a:r>
              <a:rPr lang="fr-FR" dirty="0" smtClean="0"/>
              <a:t>déclin.</a:t>
            </a:r>
          </a:p>
          <a:p>
            <a:pPr algn="just"/>
            <a:r>
              <a:rPr lang="fr-FR" dirty="0" smtClean="0"/>
              <a:t>Le </a:t>
            </a:r>
            <a:r>
              <a:rPr lang="fr-FR" dirty="0"/>
              <a:t>rassemblement de sources jusqu'alors peu étudiées pour l'examen de la langue latine concordait avec de nouvelles manières d'expliquer son histoire, sa fonction et sa place dans la société.</a:t>
            </a:r>
          </a:p>
        </p:txBody>
      </p:sp>
    </p:spTree>
    <p:extLst>
      <p:ext uri="{BB962C8B-B14F-4D97-AF65-F5344CB8AC3E}">
        <p14:creationId xmlns:p14="http://schemas.microsoft.com/office/powerpoint/2010/main" val="22377608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Souci de la chronologie</a:t>
            </a:r>
            <a:endParaRPr lang="fr-FR" dirty="0"/>
          </a:p>
        </p:txBody>
      </p:sp>
      <p:sp>
        <p:nvSpPr>
          <p:cNvPr id="3" name="Content Placeholder 2"/>
          <p:cNvSpPr>
            <a:spLocks noGrp="1"/>
          </p:cNvSpPr>
          <p:nvPr>
            <p:ph idx="1"/>
          </p:nvPr>
        </p:nvSpPr>
        <p:spPr>
          <a:xfrm>
            <a:off x="581192" y="2180496"/>
            <a:ext cx="11029615" cy="4202719"/>
          </a:xfrm>
        </p:spPr>
        <p:txBody>
          <a:bodyPr/>
          <a:lstStyle/>
          <a:p>
            <a:pPr algn="just"/>
            <a:r>
              <a:rPr lang="fr-FR" dirty="0"/>
              <a:t>La vision de </a:t>
            </a:r>
            <a:r>
              <a:rPr lang="fr-FR" dirty="0" err="1"/>
              <a:t>Crinitus</a:t>
            </a:r>
            <a:r>
              <a:rPr lang="fr-FR" dirty="0"/>
              <a:t> sur le progrès de la poésie latine ancienne reflète ces développements </a:t>
            </a:r>
            <a:r>
              <a:rPr lang="fr-FR" dirty="0" smtClean="0"/>
              <a:t>antérieurs.</a:t>
            </a:r>
          </a:p>
          <a:p>
            <a:pPr algn="just"/>
            <a:r>
              <a:rPr lang="fr-FR" dirty="0" smtClean="0"/>
              <a:t>Lettre </a:t>
            </a:r>
            <a:r>
              <a:rPr lang="fr-FR" dirty="0"/>
              <a:t>liminaire </a:t>
            </a:r>
            <a:r>
              <a:rPr lang="fr-FR" dirty="0" smtClean="0"/>
              <a:t>et les </a:t>
            </a:r>
            <a:r>
              <a:rPr lang="fr-FR" dirty="0"/>
              <a:t>préfaces individuelles </a:t>
            </a:r>
            <a:r>
              <a:rPr lang="fr-FR" dirty="0" smtClean="0"/>
              <a:t>des différents livres du </a:t>
            </a:r>
            <a:r>
              <a:rPr lang="fr-FR" i="1" dirty="0" smtClean="0"/>
              <a:t>De </a:t>
            </a:r>
            <a:r>
              <a:rPr lang="fr-FR" i="1" dirty="0" err="1" smtClean="0"/>
              <a:t>poetis</a:t>
            </a:r>
            <a:r>
              <a:rPr lang="fr-FR" i="1" dirty="0" smtClean="0"/>
              <a:t> </a:t>
            </a:r>
            <a:r>
              <a:rPr lang="fr-FR" i="1" dirty="0" err="1" smtClean="0"/>
              <a:t>latinis</a:t>
            </a:r>
            <a:r>
              <a:rPr lang="fr-FR" dirty="0" smtClean="0"/>
              <a:t> permettent d’évaluer </a:t>
            </a:r>
            <a:r>
              <a:rPr lang="fr-FR" dirty="0"/>
              <a:t>à la fois l'entreprise globale de </a:t>
            </a:r>
            <a:r>
              <a:rPr lang="fr-FR" dirty="0" err="1"/>
              <a:t>Crinitus</a:t>
            </a:r>
            <a:r>
              <a:rPr lang="fr-FR" dirty="0"/>
              <a:t> et ses théories concernant le développement de la poésie latine </a:t>
            </a:r>
            <a:r>
              <a:rPr lang="fr-FR" dirty="0" smtClean="0"/>
              <a:t>antique.</a:t>
            </a:r>
          </a:p>
          <a:p>
            <a:pPr algn="just"/>
            <a:r>
              <a:rPr lang="fr-FR" dirty="0" smtClean="0"/>
              <a:t>La </a:t>
            </a:r>
            <a:r>
              <a:rPr lang="fr-FR" dirty="0"/>
              <a:t>lettre </a:t>
            </a:r>
            <a:r>
              <a:rPr lang="fr-FR" dirty="0" err="1"/>
              <a:t>préfacielle</a:t>
            </a:r>
            <a:r>
              <a:rPr lang="fr-FR" dirty="0"/>
              <a:t> : après avoir souligné sa dette envers le </a:t>
            </a:r>
            <a:r>
              <a:rPr lang="fr-FR" i="1" dirty="0"/>
              <a:t>Sur les grammairiens et les rhéteurs</a:t>
            </a:r>
            <a:r>
              <a:rPr lang="fr-FR" dirty="0"/>
              <a:t> de Suétone, </a:t>
            </a:r>
            <a:r>
              <a:rPr lang="fr-FR" dirty="0" err="1"/>
              <a:t>Crinitus</a:t>
            </a:r>
            <a:r>
              <a:rPr lang="fr-FR" dirty="0"/>
              <a:t> fait un commentaire </a:t>
            </a:r>
            <a:r>
              <a:rPr lang="fr-FR" dirty="0" smtClean="0"/>
              <a:t>sur </a:t>
            </a:r>
            <a:r>
              <a:rPr lang="fr-FR" dirty="0"/>
              <a:t>la chronologie </a:t>
            </a:r>
            <a:r>
              <a:rPr lang="fr-FR" dirty="0" smtClean="0"/>
              <a:t>:</a:t>
            </a:r>
          </a:p>
          <a:p>
            <a:pPr marL="0" indent="0" algn="just">
              <a:buNone/>
            </a:pPr>
            <a:r>
              <a:rPr lang="fr-FR" dirty="0" smtClean="0"/>
              <a:t>« </a:t>
            </a:r>
            <a:r>
              <a:rPr lang="fr-FR" dirty="0"/>
              <a:t>Dans l'ensemble du projet, presque rien ne m'a causé plus de peine que ce qui a été transmis au sujet des époques des poètes, car les sources, pour la plupart, diffèrent grandement entre elles. </a:t>
            </a:r>
            <a:r>
              <a:rPr lang="fr-FR" dirty="0" smtClean="0"/>
              <a:t>»</a:t>
            </a:r>
          </a:p>
          <a:p>
            <a:pPr algn="just"/>
            <a:r>
              <a:rPr lang="fr-FR" dirty="0" smtClean="0"/>
              <a:t>Ce </a:t>
            </a:r>
            <a:r>
              <a:rPr lang="fr-FR" dirty="0"/>
              <a:t>souci de la chronologie est une constante qui a traversé toute la carrière de </a:t>
            </a:r>
            <a:r>
              <a:rPr lang="fr-FR" dirty="0" err="1"/>
              <a:t>Crinitus</a:t>
            </a:r>
            <a:r>
              <a:rPr lang="fr-FR" dirty="0"/>
              <a:t> </a:t>
            </a:r>
            <a:r>
              <a:rPr lang="fr-FR" dirty="0" smtClean="0"/>
              <a:t>(travaux sur la jeunesse de Sidoine par exemple en témoignent).</a:t>
            </a:r>
            <a:endParaRPr lang="fr-FR" dirty="0"/>
          </a:p>
        </p:txBody>
      </p:sp>
    </p:spTree>
    <p:extLst>
      <p:ext uri="{BB962C8B-B14F-4D97-AF65-F5344CB8AC3E}">
        <p14:creationId xmlns:p14="http://schemas.microsoft.com/office/powerpoint/2010/main" val="42324437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Intérêt pour le fait religieux</a:t>
            </a:r>
            <a:endParaRPr lang="fr-FR" dirty="0"/>
          </a:p>
        </p:txBody>
      </p:sp>
      <p:sp>
        <p:nvSpPr>
          <p:cNvPr id="3" name="Content Placeholder 2"/>
          <p:cNvSpPr>
            <a:spLocks noGrp="1"/>
          </p:cNvSpPr>
          <p:nvPr>
            <p:ph idx="1"/>
          </p:nvPr>
        </p:nvSpPr>
        <p:spPr>
          <a:xfrm>
            <a:off x="581192" y="1715956"/>
            <a:ext cx="11029615" cy="4667259"/>
          </a:xfrm>
        </p:spPr>
        <p:txBody>
          <a:bodyPr>
            <a:normAutofit fontScale="92500" lnSpcReduction="20000"/>
          </a:bodyPr>
          <a:lstStyle/>
          <a:p>
            <a:pPr algn="just"/>
            <a:r>
              <a:rPr lang="fr-FR" dirty="0"/>
              <a:t>La lettre liminaire </a:t>
            </a:r>
            <a:r>
              <a:rPr lang="fr-FR" dirty="0" smtClean="0"/>
              <a:t>montre aussi son </a:t>
            </a:r>
            <a:r>
              <a:rPr lang="fr-FR" dirty="0"/>
              <a:t>intérêt pour le rituel et la </a:t>
            </a:r>
            <a:r>
              <a:rPr lang="fr-FR" dirty="0" smtClean="0"/>
              <a:t>religion. Aussi dans </a:t>
            </a:r>
            <a:r>
              <a:rPr lang="fr-FR" dirty="0"/>
              <a:t>la préface du Livre I, </a:t>
            </a:r>
            <a:r>
              <a:rPr lang="fr-FR" dirty="0" smtClean="0"/>
              <a:t>commentaires </a:t>
            </a:r>
            <a:r>
              <a:rPr lang="fr-FR" dirty="0"/>
              <a:t>sur les origines de la poésie chez les </a:t>
            </a:r>
            <a:r>
              <a:rPr lang="fr-FR" dirty="0" smtClean="0"/>
              <a:t>Romains.</a:t>
            </a:r>
          </a:p>
          <a:p>
            <a:pPr algn="just"/>
            <a:r>
              <a:rPr lang="fr-FR" dirty="0" smtClean="0"/>
              <a:t>Au </a:t>
            </a:r>
            <a:r>
              <a:rPr lang="fr-FR" dirty="0"/>
              <a:t>début, les Romains étaient vertueux et « un citoyen romain était loué comme homme de bien dans la mesure où il était un bon agriculteur et un soldat vigoureux </a:t>
            </a:r>
            <a:r>
              <a:rPr lang="fr-FR" dirty="0" smtClean="0"/>
              <a:t>».  Environ </a:t>
            </a:r>
            <a:r>
              <a:rPr lang="fr-FR" dirty="0"/>
              <a:t>quatre cents ans après la fondation de la Ville, </a:t>
            </a:r>
            <a:r>
              <a:rPr lang="fr-FR" dirty="0" smtClean="0"/>
              <a:t>(paix et triomphes militaires), </a:t>
            </a:r>
            <a:r>
              <a:rPr lang="fr-FR" dirty="0" err="1" smtClean="0"/>
              <a:t>reflexion</a:t>
            </a:r>
            <a:r>
              <a:rPr lang="fr-FR" dirty="0" smtClean="0"/>
              <a:t> plus formelle sur </a:t>
            </a:r>
            <a:r>
              <a:rPr lang="fr-FR" dirty="0"/>
              <a:t>la </a:t>
            </a:r>
            <a:r>
              <a:rPr lang="fr-FR" dirty="0" smtClean="0"/>
              <a:t>poésie.</a:t>
            </a:r>
          </a:p>
          <a:p>
            <a:pPr algn="just"/>
            <a:r>
              <a:rPr lang="fr-FR" dirty="0" smtClean="0"/>
              <a:t>Art</a:t>
            </a:r>
            <a:r>
              <a:rPr lang="fr-FR" dirty="0"/>
              <a:t>, initialement méprisé comme une activité de </a:t>
            </a:r>
            <a:r>
              <a:rPr lang="fr-FR" i="1" dirty="0" err="1"/>
              <a:t>crassatores</a:t>
            </a:r>
            <a:r>
              <a:rPr lang="fr-FR" dirty="0"/>
              <a:t> (« lourdauds »), </a:t>
            </a:r>
            <a:r>
              <a:rPr lang="fr-FR" dirty="0" smtClean="0"/>
              <a:t>qui trouve sa </a:t>
            </a:r>
            <a:r>
              <a:rPr lang="fr-FR" dirty="0"/>
              <a:t>véritable origine dans le rituel et la cérémonie religieuse : « Même à l'époque où Numa </a:t>
            </a:r>
            <a:r>
              <a:rPr lang="fr-FR" dirty="0" err="1"/>
              <a:t>Pompilius</a:t>
            </a:r>
            <a:r>
              <a:rPr lang="fr-FR" dirty="0"/>
              <a:t> régnait et où les citoyens étaient armés, les "Chants des Saliens" furent créés, que les prêtres boucliers de Mars </a:t>
            </a:r>
            <a:r>
              <a:rPr lang="fr-FR" dirty="0" smtClean="0"/>
              <a:t>entonnaient </a:t>
            </a:r>
            <a:r>
              <a:rPr lang="fr-FR" dirty="0"/>
              <a:t>certains jours en dansant leur danse solennelle à trois sauts. » « Peu après », poursuit </a:t>
            </a:r>
            <a:r>
              <a:rPr lang="fr-FR" dirty="0" err="1"/>
              <a:t>Crinitus</a:t>
            </a:r>
            <a:r>
              <a:rPr lang="fr-FR" dirty="0"/>
              <a:t>, « certains chants et hymnes sacrificiels devinrent populaires », et les Romains s'habituèrent à transmettre les louanges des dieux et les prophéties en vers</a:t>
            </a:r>
            <a:r>
              <a:rPr lang="fr-FR" dirty="0" smtClean="0"/>
              <a:t>.</a:t>
            </a:r>
          </a:p>
          <a:p>
            <a:pPr algn="just"/>
            <a:r>
              <a:rPr lang="fr-FR" dirty="0" smtClean="0"/>
              <a:t>Lien </a:t>
            </a:r>
            <a:r>
              <a:rPr lang="fr-FR" dirty="0"/>
              <a:t>entre poésie et religion rappelle le </a:t>
            </a:r>
            <a:r>
              <a:rPr lang="fr-FR" i="1" dirty="0"/>
              <a:t>De </a:t>
            </a:r>
            <a:r>
              <a:rPr lang="fr-FR" i="1" dirty="0" err="1"/>
              <a:t>honesta</a:t>
            </a:r>
            <a:r>
              <a:rPr lang="fr-FR" i="1" dirty="0"/>
              <a:t> disciplina</a:t>
            </a:r>
            <a:r>
              <a:rPr lang="fr-FR" dirty="0"/>
              <a:t> de </a:t>
            </a:r>
            <a:r>
              <a:rPr lang="fr-FR" dirty="0" err="1"/>
              <a:t>Crinitus</a:t>
            </a:r>
            <a:r>
              <a:rPr lang="fr-FR" dirty="0"/>
              <a:t>, un recueil de mélanges à la fin duquel il présente ses excuses aux lecteurs. Il écrit qu'il veut que les gens comprennent qu'en rapportant autant de choses sur la religion des anciens sous tous ses aspects, il l'a fait pour servir la cause des humanités, et non pour approuver la </a:t>
            </a:r>
            <a:r>
              <a:rPr lang="fr-FR" dirty="0" smtClean="0"/>
              <a:t>superstition.</a:t>
            </a:r>
          </a:p>
          <a:p>
            <a:pPr algn="just"/>
            <a:r>
              <a:rPr lang="fr-FR" dirty="0" smtClean="0"/>
              <a:t>Intérêt </a:t>
            </a:r>
            <a:r>
              <a:rPr lang="fr-FR" dirty="0"/>
              <a:t>pour la pluralité des religions a servi de fondement puissant aux travaux de nombreux penseurs de la </a:t>
            </a:r>
            <a:r>
              <a:rPr lang="fr-FR" dirty="0" smtClean="0"/>
              <a:t>Renaissance:  dès </a:t>
            </a:r>
            <a:r>
              <a:rPr lang="fr-FR" dirty="0"/>
              <a:t>la </a:t>
            </a:r>
            <a:r>
              <a:rPr lang="fr-FR" i="1" dirty="0" err="1"/>
              <a:t>Genealogia</a:t>
            </a:r>
            <a:r>
              <a:rPr lang="fr-FR" i="1" dirty="0"/>
              <a:t> </a:t>
            </a:r>
            <a:r>
              <a:rPr lang="fr-FR" i="1" dirty="0" err="1"/>
              <a:t>deorum</a:t>
            </a:r>
            <a:r>
              <a:rPr lang="fr-FR" dirty="0"/>
              <a:t> de Boccace et jusqu'au </a:t>
            </a:r>
            <a:r>
              <a:rPr lang="fr-FR" i="1" dirty="0"/>
              <a:t>De </a:t>
            </a:r>
            <a:r>
              <a:rPr lang="fr-FR" i="1" dirty="0" err="1"/>
              <a:t>deis</a:t>
            </a:r>
            <a:r>
              <a:rPr lang="fr-FR" i="1" dirty="0"/>
              <a:t> </a:t>
            </a:r>
            <a:r>
              <a:rPr lang="fr-FR" i="1" dirty="0" err="1"/>
              <a:t>gentium</a:t>
            </a:r>
            <a:r>
              <a:rPr lang="fr-FR" dirty="0"/>
              <a:t> de </a:t>
            </a:r>
            <a:r>
              <a:rPr lang="fr-FR" dirty="0" err="1"/>
              <a:t>Lilio</a:t>
            </a:r>
            <a:r>
              <a:rPr lang="fr-FR" dirty="0"/>
              <a:t> Gregorio </a:t>
            </a:r>
            <a:r>
              <a:rPr lang="fr-FR" dirty="0" err="1"/>
              <a:t>Giraldi</a:t>
            </a:r>
            <a:r>
              <a:rPr lang="fr-FR" dirty="0"/>
              <a:t> au milieu du XVIe siècle </a:t>
            </a:r>
            <a:r>
              <a:rPr lang="fr-FR" dirty="0" smtClean="0"/>
              <a:t>(sous-produit </a:t>
            </a:r>
            <a:r>
              <a:rPr lang="fr-FR" dirty="0"/>
              <a:t>de l'intérêt pour la littérature antique et un moyen de comprendre la culture ancienne </a:t>
            </a:r>
            <a:r>
              <a:rPr lang="fr-FR" dirty="0" smtClean="0"/>
              <a:t>plus globalement).</a:t>
            </a:r>
            <a:endParaRPr lang="fr-FR" dirty="0"/>
          </a:p>
        </p:txBody>
      </p:sp>
    </p:spTree>
    <p:extLst>
      <p:ext uri="{BB962C8B-B14F-4D97-AF65-F5344CB8AC3E}">
        <p14:creationId xmlns:p14="http://schemas.microsoft.com/office/powerpoint/2010/main" val="7991512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Littérature et politique</a:t>
            </a:r>
            <a:endParaRPr lang="fr-FR" dirty="0"/>
          </a:p>
        </p:txBody>
      </p:sp>
      <p:sp>
        <p:nvSpPr>
          <p:cNvPr id="3" name="Content Placeholder 2"/>
          <p:cNvSpPr>
            <a:spLocks noGrp="1"/>
          </p:cNvSpPr>
          <p:nvPr>
            <p:ph idx="1"/>
          </p:nvPr>
        </p:nvSpPr>
        <p:spPr>
          <a:xfrm>
            <a:off x="581192" y="1715956"/>
            <a:ext cx="11029615" cy="4667259"/>
          </a:xfrm>
        </p:spPr>
        <p:txBody>
          <a:bodyPr>
            <a:normAutofit/>
          </a:bodyPr>
          <a:lstStyle/>
          <a:p>
            <a:pPr algn="just"/>
            <a:r>
              <a:rPr lang="fr-FR" dirty="0" smtClean="0"/>
              <a:t>Vision </a:t>
            </a:r>
            <a:r>
              <a:rPr lang="fr-FR" dirty="0"/>
              <a:t>de </a:t>
            </a:r>
            <a:r>
              <a:rPr lang="fr-FR" dirty="0" err="1" smtClean="0"/>
              <a:t>Crinitus</a:t>
            </a:r>
            <a:r>
              <a:rPr lang="fr-FR" dirty="0"/>
              <a:t> </a:t>
            </a:r>
            <a:r>
              <a:rPr lang="fr-FR" dirty="0" smtClean="0"/>
              <a:t>(et d’autres) </a:t>
            </a:r>
            <a:r>
              <a:rPr lang="fr-FR" dirty="0"/>
              <a:t>concernant la poésie et la littérature : elle fleurit lorsque le bon type de pouvoir politique est en </a:t>
            </a:r>
            <a:r>
              <a:rPr lang="fr-FR" dirty="0" smtClean="0"/>
              <a:t>place.</a:t>
            </a:r>
          </a:p>
          <a:p>
            <a:pPr algn="just"/>
            <a:r>
              <a:rPr lang="fr-FR" dirty="0" smtClean="0"/>
              <a:t>Livre II, de </a:t>
            </a:r>
            <a:r>
              <a:rPr lang="fr-FR" dirty="0"/>
              <a:t>Lucrèce à l'époque précédant immédiatement </a:t>
            </a:r>
            <a:r>
              <a:rPr lang="fr-FR" dirty="0" smtClean="0"/>
              <a:t>Virgile. Préface montre que </a:t>
            </a:r>
            <a:r>
              <a:rPr lang="fr-FR" dirty="0" err="1"/>
              <a:t>Crinitus</a:t>
            </a:r>
            <a:r>
              <a:rPr lang="fr-FR" dirty="0"/>
              <a:t> voit cette époque comme une période préliminaire du mariage entre le pouvoir et la littérature. Pourtant, « il est incroyable, une fois que le pouvoir s'accrut et que la prospérité fut atteinte, de voir avec quelle rapidité la ville elle-même devint experte dans chaque branche du savoir </a:t>
            </a:r>
            <a:r>
              <a:rPr lang="fr-FR" dirty="0" smtClean="0"/>
              <a:t>» (</a:t>
            </a:r>
            <a:r>
              <a:rPr lang="fr-FR" dirty="0" err="1" smtClean="0"/>
              <a:t>Crinitus</a:t>
            </a:r>
            <a:r>
              <a:rPr lang="fr-FR" dirty="0" smtClean="0"/>
              <a:t>).</a:t>
            </a:r>
          </a:p>
          <a:p>
            <a:pPr algn="just"/>
            <a:r>
              <a:rPr lang="fr-FR" dirty="0" smtClean="0"/>
              <a:t>Livre III, la </a:t>
            </a:r>
            <a:r>
              <a:rPr lang="fr-FR" dirty="0"/>
              <a:t>période où « toutes les nobles branches du savoir atteignirent leur apogée, en même temps que la puissance de Rome ». </a:t>
            </a:r>
            <a:r>
              <a:rPr lang="fr-FR" dirty="0" err="1"/>
              <a:t>Crinitus</a:t>
            </a:r>
            <a:r>
              <a:rPr lang="fr-FR" dirty="0"/>
              <a:t> </a:t>
            </a:r>
            <a:r>
              <a:rPr lang="fr-FR" dirty="0" smtClean="0"/>
              <a:t>: </a:t>
            </a:r>
            <a:r>
              <a:rPr lang="fr-FR" dirty="0"/>
              <a:t>« Pour autant que ce sujet soit concerné, quand je réfléchis à la condition des mortels, je crois qu'il importe beaucoup, dans les affaires humaines, de savoir à quelle époque les hommes vivent et surtout dans quelles communautés ils passent leur vie. Car lorsqu'Auguste régnait, il semble évident que les choses se sont déroulées de manière si favorable et si heureuse pour le genre humain que personne ne pourrait douter que le pouvoir fut exercé tout au long de cette période avec la plus grande guidance et le plus grand conseil, et que toutes les branches de l'érudition brillèrent au plus haut degré à Rome</a:t>
            </a:r>
            <a:r>
              <a:rPr lang="fr-FR" dirty="0" smtClean="0"/>
              <a:t>. »</a:t>
            </a:r>
            <a:endParaRPr lang="fr-FR" dirty="0"/>
          </a:p>
        </p:txBody>
      </p:sp>
    </p:spTree>
    <p:extLst>
      <p:ext uri="{BB962C8B-B14F-4D97-AF65-F5344CB8AC3E}">
        <p14:creationId xmlns:p14="http://schemas.microsoft.com/office/powerpoint/2010/main" val="14853595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Littérature et politique</a:t>
            </a:r>
            <a:endParaRPr lang="fr-FR" dirty="0"/>
          </a:p>
        </p:txBody>
      </p:sp>
      <p:sp>
        <p:nvSpPr>
          <p:cNvPr id="3" name="Content Placeholder 2"/>
          <p:cNvSpPr>
            <a:spLocks noGrp="1"/>
          </p:cNvSpPr>
          <p:nvPr>
            <p:ph idx="1"/>
          </p:nvPr>
        </p:nvSpPr>
        <p:spPr>
          <a:xfrm>
            <a:off x="581192" y="1715956"/>
            <a:ext cx="11029615" cy="4667259"/>
          </a:xfrm>
        </p:spPr>
        <p:txBody>
          <a:bodyPr>
            <a:normAutofit/>
          </a:bodyPr>
          <a:lstStyle/>
          <a:p>
            <a:pPr algn="just"/>
            <a:r>
              <a:rPr lang="fr-FR" dirty="0" smtClean="0"/>
              <a:t>Seulement </a:t>
            </a:r>
            <a:r>
              <a:rPr lang="fr-FR" dirty="0"/>
              <a:t>sous le règne d'Auguste que les conditions </a:t>
            </a:r>
            <a:r>
              <a:rPr lang="fr-FR" dirty="0" smtClean="0"/>
              <a:t>parfaites </a:t>
            </a:r>
            <a:r>
              <a:rPr lang="fr-FR" dirty="0" err="1" smtClean="0"/>
              <a:t>son</a:t>
            </a:r>
            <a:r>
              <a:rPr lang="fr-FR" dirty="0" smtClean="0"/>
              <a:t> réunies pour </a:t>
            </a:r>
            <a:r>
              <a:rPr lang="fr-FR" dirty="0"/>
              <a:t>un véritable épanouissement de la littérature et du </a:t>
            </a:r>
            <a:r>
              <a:rPr lang="fr-FR" dirty="0" smtClean="0"/>
              <a:t>savoir &gt; pouvoir </a:t>
            </a:r>
            <a:r>
              <a:rPr lang="fr-FR" dirty="0"/>
              <a:t>politique et </a:t>
            </a:r>
            <a:r>
              <a:rPr lang="fr-FR" dirty="0" smtClean="0"/>
              <a:t>domination </a:t>
            </a:r>
            <a:r>
              <a:rPr lang="fr-FR" dirty="0"/>
              <a:t>romaine </a:t>
            </a:r>
            <a:r>
              <a:rPr lang="fr-FR" dirty="0" smtClean="0"/>
              <a:t>créent </a:t>
            </a:r>
            <a:r>
              <a:rPr lang="fr-FR" dirty="0"/>
              <a:t>l'environnement propice au progrès </a:t>
            </a:r>
            <a:r>
              <a:rPr lang="fr-FR" dirty="0" smtClean="0"/>
              <a:t>culturel. Chez </a:t>
            </a:r>
            <a:r>
              <a:rPr lang="fr-FR" dirty="0" err="1" smtClean="0"/>
              <a:t>Crinitus</a:t>
            </a:r>
            <a:r>
              <a:rPr lang="fr-FR" dirty="0" smtClean="0"/>
              <a:t> </a:t>
            </a:r>
            <a:r>
              <a:rPr lang="fr-FR" dirty="0"/>
              <a:t>: « Quand le pouvoir romain était fort, les esprits les plus célèbres de la Ville étaient exceptionnels, et ce non seulement en poésie, mais aussi dans toutes les autres branches du savoir que l'on considère habituellement comme appartenant aux arts libéraux. </a:t>
            </a:r>
            <a:r>
              <a:rPr lang="fr-FR" dirty="0" smtClean="0"/>
              <a:t>»</a:t>
            </a:r>
          </a:p>
          <a:p>
            <a:pPr algn="just"/>
            <a:r>
              <a:rPr lang="fr-FR" dirty="0" smtClean="0"/>
              <a:t>Ensuite</a:t>
            </a:r>
            <a:r>
              <a:rPr lang="fr-FR" dirty="0"/>
              <a:t>, </a:t>
            </a:r>
            <a:r>
              <a:rPr lang="fr-FR" dirty="0" smtClean="0"/>
              <a:t>vice augmente à cause d’un désir </a:t>
            </a:r>
            <a:r>
              <a:rPr lang="fr-FR" dirty="0"/>
              <a:t>immodéré pour le luxe et une ambition de </a:t>
            </a:r>
            <a:r>
              <a:rPr lang="fr-FR" dirty="0" smtClean="0"/>
              <a:t>régner.</a:t>
            </a:r>
          </a:p>
          <a:p>
            <a:pPr algn="just"/>
            <a:r>
              <a:rPr lang="fr-FR" dirty="0" smtClean="0"/>
              <a:t>Partage </a:t>
            </a:r>
            <a:r>
              <a:rPr lang="fr-FR" dirty="0"/>
              <a:t>une perspective manifestée dans l'historiographie de la Renaissance, de Leonardo Bruni à Machiavel : les cités, Florence incluse, manifestent des moments de déclin lorsque les habitants s'enfoncent dans le désir de luxe ; les symptômes incluent la faiblesse et la vulnérabilité à l'invasion, accompagnées d'une décadence </a:t>
            </a:r>
            <a:r>
              <a:rPr lang="fr-FR" dirty="0" smtClean="0"/>
              <a:t>culturelle.</a:t>
            </a:r>
          </a:p>
          <a:p>
            <a:pPr algn="just"/>
            <a:r>
              <a:rPr lang="fr-FR" dirty="0" smtClean="0"/>
              <a:t>Au </a:t>
            </a:r>
            <a:r>
              <a:rPr lang="fr-FR" dirty="0"/>
              <a:t>début du </a:t>
            </a:r>
            <a:r>
              <a:rPr lang="fr-FR" i="1" dirty="0"/>
              <a:t>De </a:t>
            </a:r>
            <a:r>
              <a:rPr lang="fr-FR" i="1" dirty="0" err="1"/>
              <a:t>poetis</a:t>
            </a:r>
            <a:r>
              <a:rPr lang="fr-FR" i="1" dirty="0"/>
              <a:t> </a:t>
            </a:r>
            <a:r>
              <a:rPr lang="fr-FR" i="1" dirty="0" err="1"/>
              <a:t>latinis</a:t>
            </a:r>
            <a:r>
              <a:rPr lang="fr-FR" dirty="0"/>
              <a:t>, dans sa lettre </a:t>
            </a:r>
            <a:r>
              <a:rPr lang="fr-FR" dirty="0" err="1"/>
              <a:t>préfacielle</a:t>
            </a:r>
            <a:r>
              <a:rPr lang="fr-FR" dirty="0"/>
              <a:t> initiale, </a:t>
            </a:r>
            <a:r>
              <a:rPr lang="fr-FR" dirty="0" err="1"/>
              <a:t>Crinitus</a:t>
            </a:r>
            <a:r>
              <a:rPr lang="fr-FR" dirty="0"/>
              <a:t> avait inclus un éloge de Laurent de Médicis et de son mécénat culturel :</a:t>
            </a:r>
          </a:p>
        </p:txBody>
      </p:sp>
    </p:spTree>
    <p:extLst>
      <p:ext uri="{BB962C8B-B14F-4D97-AF65-F5344CB8AC3E}">
        <p14:creationId xmlns:p14="http://schemas.microsoft.com/office/powerpoint/2010/main" val="23781847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Littérature et politique</a:t>
            </a:r>
            <a:endParaRPr lang="fr-FR" dirty="0"/>
          </a:p>
        </p:txBody>
      </p:sp>
      <p:sp>
        <p:nvSpPr>
          <p:cNvPr id="3" name="Content Placeholder 2"/>
          <p:cNvSpPr>
            <a:spLocks noGrp="1"/>
          </p:cNvSpPr>
          <p:nvPr>
            <p:ph idx="1"/>
          </p:nvPr>
        </p:nvSpPr>
        <p:spPr>
          <a:xfrm>
            <a:off x="581192" y="1715956"/>
            <a:ext cx="11029615" cy="4667259"/>
          </a:xfrm>
        </p:spPr>
        <p:txBody>
          <a:bodyPr>
            <a:normAutofit/>
          </a:bodyPr>
          <a:lstStyle/>
          <a:p>
            <a:pPr algn="just"/>
            <a:r>
              <a:rPr lang="fr-FR" dirty="0" smtClean="0"/>
              <a:t>Au </a:t>
            </a:r>
            <a:r>
              <a:rPr lang="fr-FR" dirty="0"/>
              <a:t>début du </a:t>
            </a:r>
            <a:r>
              <a:rPr lang="fr-FR" i="1" dirty="0"/>
              <a:t>De </a:t>
            </a:r>
            <a:r>
              <a:rPr lang="fr-FR" i="1" dirty="0" err="1"/>
              <a:t>poetis</a:t>
            </a:r>
            <a:r>
              <a:rPr lang="fr-FR" i="1" dirty="0"/>
              <a:t> </a:t>
            </a:r>
            <a:r>
              <a:rPr lang="fr-FR" i="1" dirty="0" err="1"/>
              <a:t>latinis</a:t>
            </a:r>
            <a:r>
              <a:rPr lang="fr-FR" dirty="0"/>
              <a:t>, dans sa lettre </a:t>
            </a:r>
            <a:r>
              <a:rPr lang="fr-FR" dirty="0" err="1"/>
              <a:t>préfacielle</a:t>
            </a:r>
            <a:r>
              <a:rPr lang="fr-FR" dirty="0"/>
              <a:t> initiale, </a:t>
            </a:r>
            <a:r>
              <a:rPr lang="fr-FR" dirty="0" err="1"/>
              <a:t>Crinitus</a:t>
            </a:r>
            <a:r>
              <a:rPr lang="fr-FR" dirty="0"/>
              <a:t> avait inclus un éloge de Laurent de Médicis et de son mécénat </a:t>
            </a:r>
            <a:r>
              <a:rPr lang="fr-FR" dirty="0" smtClean="0"/>
              <a:t>culturel. Chez </a:t>
            </a:r>
            <a:r>
              <a:rPr lang="fr-FR" dirty="0" err="1" smtClean="0"/>
              <a:t>Crinitus</a:t>
            </a:r>
            <a:r>
              <a:rPr lang="fr-FR" dirty="0"/>
              <a:t> : «  Jadis, on dit à Laurent de Médicis... qu'il y avait dans sa ville certains hommes qui se distinguaient par leur intelligence reconnue et leur érudition exceptionnelle. En apprenant cela, sa première émotion fut une joie incroyable. Puis, leur promettant beaucoup et par des actions aussi célèbres que généreuses, il fit en sorte que ceux qui semblaient méritants en raison de leurs études puissent, avec toujours plus d'énergie et d'ardeur, rester ouverts à la possibilité de poursuivre et de cultiver le plus haut savoir</a:t>
            </a:r>
            <a:r>
              <a:rPr lang="fr-FR" dirty="0" smtClean="0"/>
              <a:t>. »</a:t>
            </a:r>
          </a:p>
          <a:p>
            <a:pPr algn="just"/>
            <a:r>
              <a:rPr lang="fr-FR" dirty="0" smtClean="0"/>
              <a:t>Culte croissant </a:t>
            </a:r>
            <a:r>
              <a:rPr lang="fr-FR" dirty="0"/>
              <a:t>pour l'époque laurentienne dans la Florence de la première décennie du XVIe </a:t>
            </a:r>
            <a:r>
              <a:rPr lang="fr-FR" dirty="0" smtClean="0"/>
              <a:t>siècle. Hypothèse que </a:t>
            </a:r>
            <a:r>
              <a:rPr lang="fr-FR" dirty="0" err="1" smtClean="0"/>
              <a:t>Crinitus</a:t>
            </a:r>
            <a:r>
              <a:rPr lang="fr-FR" dirty="0" smtClean="0"/>
              <a:t> voit pour Laurent à </a:t>
            </a:r>
            <a:r>
              <a:rPr lang="fr-FR" dirty="0"/>
              <a:t>Florence une fonction similaire à celle d'Auguste à</a:t>
            </a:r>
            <a:r>
              <a:rPr lang="fr-FR" dirty="0" smtClean="0"/>
              <a:t> </a:t>
            </a:r>
            <a:r>
              <a:rPr lang="fr-FR" dirty="0"/>
              <a:t>Rome. </a:t>
            </a:r>
            <a:endParaRPr lang="fr-FR" dirty="0" smtClean="0"/>
          </a:p>
        </p:txBody>
      </p:sp>
    </p:spTree>
    <p:extLst>
      <p:ext uri="{BB962C8B-B14F-4D97-AF65-F5344CB8AC3E}">
        <p14:creationId xmlns:p14="http://schemas.microsoft.com/office/powerpoint/2010/main" val="5073692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Littérature et politique</a:t>
            </a:r>
            <a:endParaRPr lang="fr-FR" dirty="0"/>
          </a:p>
        </p:txBody>
      </p:sp>
      <p:sp>
        <p:nvSpPr>
          <p:cNvPr id="3" name="Content Placeholder 2"/>
          <p:cNvSpPr>
            <a:spLocks noGrp="1"/>
          </p:cNvSpPr>
          <p:nvPr>
            <p:ph idx="1"/>
          </p:nvPr>
        </p:nvSpPr>
        <p:spPr>
          <a:xfrm>
            <a:off x="581192" y="1715956"/>
            <a:ext cx="11029615" cy="4667259"/>
          </a:xfrm>
        </p:spPr>
        <p:txBody>
          <a:bodyPr>
            <a:normAutofit lnSpcReduction="10000"/>
          </a:bodyPr>
          <a:lstStyle/>
          <a:p>
            <a:pPr algn="just"/>
            <a:r>
              <a:rPr lang="fr-FR" dirty="0" smtClean="0"/>
              <a:t>Pour </a:t>
            </a:r>
            <a:r>
              <a:rPr lang="fr-FR" dirty="0" err="1" smtClean="0"/>
              <a:t>Crinitus</a:t>
            </a:r>
            <a:r>
              <a:rPr lang="fr-FR" dirty="0" smtClean="0"/>
              <a:t> (comme pour Bruni et Machiavel, d'ailleurs), l'opposition conceptuelle entre la « République » et l'« Empire » romains était moins puissante que l'opposition entre un « pouvoir » efficace (quelle que </a:t>
            </a:r>
            <a:r>
              <a:rPr lang="fr-FR" dirty="0"/>
              <a:t>soit sa structure gouvernementale) et la décadence. </a:t>
            </a:r>
            <a:endParaRPr lang="fr-FR" dirty="0" smtClean="0"/>
          </a:p>
          <a:p>
            <a:pPr algn="just"/>
            <a:r>
              <a:rPr lang="fr-FR" dirty="0" smtClean="0"/>
              <a:t>Sommet de la vie littéraire romaine </a:t>
            </a:r>
            <a:r>
              <a:rPr lang="fr-FR" dirty="0"/>
              <a:t>sous le règne </a:t>
            </a:r>
            <a:r>
              <a:rPr lang="fr-FR" dirty="0" smtClean="0"/>
              <a:t>d'Auguste.</a:t>
            </a:r>
          </a:p>
          <a:p>
            <a:pPr algn="just"/>
            <a:r>
              <a:rPr lang="fr-FR" dirty="0" err="1"/>
              <a:t>Crinitus</a:t>
            </a:r>
            <a:r>
              <a:rPr lang="fr-FR" dirty="0"/>
              <a:t>, dans la préface du livre quatre, indique qu'il a désormais déjà traité ceux qui « remplirent le devoir de poète avec la plus haute élégance et un savoir à la hauteur de la tâche </a:t>
            </a:r>
            <a:r>
              <a:rPr lang="fr-FR" dirty="0" smtClean="0"/>
              <a:t>».</a:t>
            </a:r>
          </a:p>
          <a:p>
            <a:pPr algn="just"/>
            <a:r>
              <a:rPr lang="fr-FR" dirty="0" smtClean="0"/>
              <a:t>Le </a:t>
            </a:r>
            <a:r>
              <a:rPr lang="fr-FR" dirty="0"/>
              <a:t>livre quatre commence par Stace et </a:t>
            </a:r>
            <a:r>
              <a:rPr lang="fr-FR" dirty="0" smtClean="0"/>
              <a:t>Juvénal.</a:t>
            </a:r>
          </a:p>
          <a:p>
            <a:pPr algn="just"/>
            <a:r>
              <a:rPr lang="fr-FR" dirty="0" smtClean="0"/>
              <a:t>Dans </a:t>
            </a:r>
            <a:r>
              <a:rPr lang="fr-FR" dirty="0"/>
              <a:t>la préface du livre cinq, </a:t>
            </a:r>
            <a:r>
              <a:rPr lang="fr-FR" dirty="0" smtClean="0"/>
              <a:t>déclin au sujet duquel </a:t>
            </a:r>
            <a:r>
              <a:rPr lang="fr-FR" dirty="0" err="1" smtClean="0"/>
              <a:t>Crinitus</a:t>
            </a:r>
            <a:r>
              <a:rPr lang="fr-FR" dirty="0" smtClean="0"/>
              <a:t> écrit : </a:t>
            </a:r>
            <a:r>
              <a:rPr lang="fr-FR" dirty="0"/>
              <a:t>« il me reste à traiter des poètes qui vécurent de l'époque des Antonins jusqu'aux empereurs Théodose et Constance, bien qu'il ne m'ait pas semblé faire partie de mon projet d'écrire sur chacun d'entre eux, une fois que la grandeur de l'Empire avait décliné et que les arts libéraux avaient été abandonnés ». Et plus loin : </a:t>
            </a:r>
            <a:r>
              <a:rPr lang="fr-FR" dirty="0" smtClean="0"/>
              <a:t>« Je </a:t>
            </a:r>
            <a:r>
              <a:rPr lang="fr-FR" dirty="0"/>
              <a:t>dois donc demander pardon aux savants, s'ils observent, en lisant le livre suivant, que j'inclus des poètes qui, en vérité, peuvent être considérés comme un peu maladroits et inélégants, tels que </a:t>
            </a:r>
            <a:r>
              <a:rPr lang="fr-FR" dirty="0" err="1"/>
              <a:t>Juvencus</a:t>
            </a:r>
            <a:r>
              <a:rPr lang="fr-FR" dirty="0"/>
              <a:t>, </a:t>
            </a:r>
            <a:r>
              <a:rPr lang="fr-FR" dirty="0" err="1"/>
              <a:t>Fortunatus</a:t>
            </a:r>
            <a:r>
              <a:rPr lang="fr-FR" dirty="0"/>
              <a:t>, et d'autres de cette sorte. En traitant d'eux, j'ai essayé de me conduire avec un sens de la mesure approprié</a:t>
            </a:r>
            <a:r>
              <a:rPr lang="fr-FR" dirty="0" smtClean="0"/>
              <a:t>. » </a:t>
            </a:r>
            <a:r>
              <a:rPr lang="fr-FR" dirty="0"/>
              <a:t>Fin sur une note optimiste : la poésie a été quelque peu restaurée (œuvre de Pontano et </a:t>
            </a:r>
            <a:r>
              <a:rPr lang="fr-FR" dirty="0" err="1"/>
              <a:t>Marullus</a:t>
            </a:r>
            <a:r>
              <a:rPr lang="fr-FR" dirty="0" smtClean="0"/>
              <a:t>).</a:t>
            </a:r>
            <a:endParaRPr lang="fr-FR" dirty="0"/>
          </a:p>
        </p:txBody>
      </p:sp>
    </p:spTree>
    <p:extLst>
      <p:ext uri="{BB962C8B-B14F-4D97-AF65-F5344CB8AC3E}">
        <p14:creationId xmlns:p14="http://schemas.microsoft.com/office/powerpoint/2010/main" val="34360648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Les poètes</a:t>
            </a:r>
            <a:endParaRPr lang="fr-FR" dirty="0"/>
          </a:p>
        </p:txBody>
      </p:sp>
      <p:sp>
        <p:nvSpPr>
          <p:cNvPr id="3" name="Content Placeholder 2"/>
          <p:cNvSpPr>
            <a:spLocks noGrp="1"/>
          </p:cNvSpPr>
          <p:nvPr>
            <p:ph idx="1"/>
          </p:nvPr>
        </p:nvSpPr>
        <p:spPr>
          <a:xfrm>
            <a:off x="581192" y="1715956"/>
            <a:ext cx="11029615" cy="4667259"/>
          </a:xfrm>
        </p:spPr>
        <p:txBody>
          <a:bodyPr>
            <a:normAutofit/>
          </a:bodyPr>
          <a:lstStyle/>
          <a:p>
            <a:pPr algn="just"/>
            <a:r>
              <a:rPr lang="fr-FR" dirty="0" smtClean="0"/>
              <a:t>Lorsqu'il </a:t>
            </a:r>
            <a:r>
              <a:rPr lang="fr-FR" dirty="0"/>
              <a:t>en vient aux récits sur les poètes eux-mêmes, </a:t>
            </a:r>
            <a:r>
              <a:rPr lang="fr-FR" dirty="0" err="1"/>
              <a:t>Crinitus</a:t>
            </a:r>
            <a:r>
              <a:rPr lang="fr-FR" dirty="0"/>
              <a:t> suit un modèle strict dont les paramètres de base sont la biographie et la </a:t>
            </a:r>
            <a:r>
              <a:rPr lang="fr-FR" dirty="0" smtClean="0"/>
              <a:t>chronologie (pas de répartition par genre, contrairement à ce que l’on trouvera chez </a:t>
            </a:r>
            <a:r>
              <a:rPr lang="fr-FR" dirty="0" err="1" smtClean="0"/>
              <a:t>Giraldi</a:t>
            </a:r>
            <a:r>
              <a:rPr lang="fr-FR" dirty="0" smtClean="0"/>
              <a:t> plus tard). Permet de mieux traiter les polygraphes notamment.</a:t>
            </a:r>
          </a:p>
          <a:p>
            <a:pPr algn="just"/>
            <a:r>
              <a:rPr lang="fr-FR" dirty="0" err="1" smtClean="0"/>
              <a:t>Crinitus</a:t>
            </a:r>
            <a:r>
              <a:rPr lang="fr-FR" dirty="0" smtClean="0"/>
              <a:t> </a:t>
            </a:r>
            <a:r>
              <a:rPr lang="fr-FR" dirty="0"/>
              <a:t>propose le nom de l'auteur, ses origines régionales et quelques détails de sa vie, en situant l'auteur dans son contexte chronologique par la mention du ou des consuls régnants ainsi que des contemporains célèbres dans le monde de </a:t>
            </a:r>
            <a:r>
              <a:rPr lang="fr-FR" dirty="0" smtClean="0"/>
              <a:t>l'éloquence. Il </a:t>
            </a:r>
            <a:r>
              <a:rPr lang="fr-FR" dirty="0"/>
              <a:t>discute ensuite des œuvres connues de </a:t>
            </a:r>
            <a:r>
              <a:rPr lang="fr-FR" dirty="0" smtClean="0"/>
              <a:t>l'auteur.</a:t>
            </a:r>
          </a:p>
          <a:p>
            <a:pPr algn="just"/>
            <a:r>
              <a:rPr lang="fr-FR" dirty="0" smtClean="0"/>
              <a:t>Le </a:t>
            </a:r>
            <a:r>
              <a:rPr lang="fr-FR" i="1" dirty="0" smtClean="0"/>
              <a:t>De </a:t>
            </a:r>
            <a:r>
              <a:rPr lang="fr-FR" i="1" dirty="0" err="1"/>
              <a:t>poetis</a:t>
            </a:r>
            <a:r>
              <a:rPr lang="fr-FR" i="1" dirty="0"/>
              <a:t> </a:t>
            </a:r>
            <a:r>
              <a:rPr lang="fr-FR" i="1" dirty="0" err="1"/>
              <a:t>latinis</a:t>
            </a:r>
            <a:r>
              <a:rPr lang="fr-FR" dirty="0"/>
              <a:t> de </a:t>
            </a:r>
            <a:r>
              <a:rPr lang="fr-FR" dirty="0" err="1"/>
              <a:t>Crinitus</a:t>
            </a:r>
            <a:r>
              <a:rPr lang="fr-FR" dirty="0"/>
              <a:t> offre une préfiguration intéressante de l'esthétique littéraire. </a:t>
            </a:r>
            <a:r>
              <a:rPr lang="fr-FR" dirty="0" smtClean="0"/>
              <a:t>Utilise omniprésente de mots comme </a:t>
            </a:r>
            <a:r>
              <a:rPr lang="fr-FR" i="1" dirty="0" err="1"/>
              <a:t>ingenium</a:t>
            </a:r>
            <a:r>
              <a:rPr lang="fr-FR" dirty="0"/>
              <a:t> (qui signifie généralement quelque chose comme « talents » ou « dons spécifiques distinctifs ») et </a:t>
            </a:r>
            <a:r>
              <a:rPr lang="fr-FR" i="1" dirty="0"/>
              <a:t>elegans</a:t>
            </a:r>
            <a:r>
              <a:rPr lang="fr-FR" dirty="0"/>
              <a:t> (« élégamment simple », « économie de goût dans les choix poétiques », « approprié »). L'ouvrage peut être qualifié de livre de référence et d'effort d'organisation de ce qui était auparavant peu systématique et rempli de mythes.</a:t>
            </a:r>
          </a:p>
        </p:txBody>
      </p:sp>
    </p:spTree>
    <p:extLst>
      <p:ext uri="{BB962C8B-B14F-4D97-AF65-F5344CB8AC3E}">
        <p14:creationId xmlns:p14="http://schemas.microsoft.com/office/powerpoint/2010/main" val="30024865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Les poètes</a:t>
            </a:r>
            <a:endParaRPr lang="fr-FR" dirty="0"/>
          </a:p>
        </p:txBody>
      </p:sp>
      <p:sp>
        <p:nvSpPr>
          <p:cNvPr id="3" name="Content Placeholder 2"/>
          <p:cNvSpPr>
            <a:spLocks noGrp="1"/>
          </p:cNvSpPr>
          <p:nvPr>
            <p:ph idx="1"/>
          </p:nvPr>
        </p:nvSpPr>
        <p:spPr>
          <a:xfrm>
            <a:off x="581192" y="1715956"/>
            <a:ext cx="11029615" cy="4667259"/>
          </a:xfrm>
        </p:spPr>
        <p:txBody>
          <a:bodyPr>
            <a:normAutofit/>
          </a:bodyPr>
          <a:lstStyle/>
          <a:p>
            <a:pPr algn="just"/>
            <a:r>
              <a:rPr lang="fr-FR" dirty="0"/>
              <a:t>À la différence de </a:t>
            </a:r>
            <a:r>
              <a:rPr lang="fr-FR" dirty="0" err="1"/>
              <a:t>Sicco</a:t>
            </a:r>
            <a:r>
              <a:rPr lang="fr-FR" dirty="0"/>
              <a:t>, </a:t>
            </a:r>
            <a:r>
              <a:rPr lang="fr-FR" dirty="0" err="1"/>
              <a:t>Crinitus</a:t>
            </a:r>
            <a:r>
              <a:rPr lang="fr-FR" dirty="0"/>
              <a:t> ne traite que des auteurs ayant apporté une contribution notable à la poésie. </a:t>
            </a:r>
            <a:r>
              <a:rPr lang="fr-FR" dirty="0" err="1"/>
              <a:t>Crinitus</a:t>
            </a:r>
            <a:r>
              <a:rPr lang="fr-FR" dirty="0"/>
              <a:t> possède également une vision de l'Antiquité allant de </a:t>
            </a:r>
            <a:r>
              <a:rPr lang="fr-FR" dirty="0" err="1"/>
              <a:t>Livius</a:t>
            </a:r>
            <a:r>
              <a:rPr lang="fr-FR" dirty="0"/>
              <a:t> </a:t>
            </a:r>
            <a:r>
              <a:rPr lang="fr-FR" dirty="0" err="1"/>
              <a:t>Andronicus</a:t>
            </a:r>
            <a:r>
              <a:rPr lang="fr-FR" dirty="0"/>
              <a:t> à Sidoine Apollinaire, tandis que </a:t>
            </a:r>
            <a:r>
              <a:rPr lang="fr-FR" dirty="0" err="1"/>
              <a:t>Sicco</a:t>
            </a:r>
            <a:r>
              <a:rPr lang="fr-FR" dirty="0"/>
              <a:t> avait inclus </a:t>
            </a:r>
            <a:r>
              <a:rPr lang="fr-FR" dirty="0" err="1"/>
              <a:t>Lovato</a:t>
            </a:r>
            <a:r>
              <a:rPr lang="fr-FR" dirty="0"/>
              <a:t> dei </a:t>
            </a:r>
            <a:r>
              <a:rPr lang="fr-FR" dirty="0" err="1"/>
              <a:t>Lovati</a:t>
            </a:r>
            <a:r>
              <a:rPr lang="fr-FR" dirty="0"/>
              <a:t>, Dante, Pétrarque et d'autres « modernes </a:t>
            </a:r>
            <a:r>
              <a:rPr lang="fr-FR" dirty="0" smtClean="0"/>
              <a:t>».</a:t>
            </a:r>
          </a:p>
          <a:p>
            <a:pPr algn="just"/>
            <a:r>
              <a:rPr lang="fr-FR" dirty="0" smtClean="0"/>
              <a:t>Pour </a:t>
            </a:r>
            <a:r>
              <a:rPr lang="fr-FR" dirty="0" err="1" smtClean="0"/>
              <a:t>Celenza</a:t>
            </a:r>
            <a:r>
              <a:rPr lang="fr-FR" dirty="0" smtClean="0"/>
              <a:t> : « </a:t>
            </a:r>
            <a:r>
              <a:rPr lang="fr-FR" dirty="0" err="1" smtClean="0"/>
              <a:t>Sicco</a:t>
            </a:r>
            <a:r>
              <a:rPr lang="fr-FR" dirty="0" smtClean="0"/>
              <a:t> </a:t>
            </a:r>
            <a:r>
              <a:rPr lang="fr-FR" dirty="0"/>
              <a:t>se préoccupe davantage de la vie et du contexte historique des personnages sur lesquels il écrit, énumérant toujours leurs œuvres connues, tandis que </a:t>
            </a:r>
            <a:r>
              <a:rPr lang="fr-FR" dirty="0" err="1"/>
              <a:t>Crinitus</a:t>
            </a:r>
            <a:r>
              <a:rPr lang="fr-FR" dirty="0"/>
              <a:t> se concentre, dans chaque vie, uniquement sur les éléments biographiques qui semblent directement liés au style et à la production poétique de l'auteur considéré</a:t>
            </a:r>
            <a:r>
              <a:rPr lang="fr-FR" dirty="0" smtClean="0"/>
              <a:t>. » (Assertion que nous vérifierons ou non pour les premiers poètes)</a:t>
            </a:r>
          </a:p>
        </p:txBody>
      </p:sp>
    </p:spTree>
    <p:extLst>
      <p:ext uri="{BB962C8B-B14F-4D97-AF65-F5344CB8AC3E}">
        <p14:creationId xmlns:p14="http://schemas.microsoft.com/office/powerpoint/2010/main" val="130308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Les poètes</a:t>
            </a:r>
            <a:endParaRPr lang="fr-FR" dirty="0"/>
          </a:p>
        </p:txBody>
      </p:sp>
      <p:sp>
        <p:nvSpPr>
          <p:cNvPr id="3" name="Content Placeholder 2"/>
          <p:cNvSpPr>
            <a:spLocks noGrp="1"/>
          </p:cNvSpPr>
          <p:nvPr>
            <p:ph idx="1"/>
          </p:nvPr>
        </p:nvSpPr>
        <p:spPr>
          <a:xfrm>
            <a:off x="581192" y="1715956"/>
            <a:ext cx="11029615" cy="4667259"/>
          </a:xfrm>
        </p:spPr>
        <p:txBody>
          <a:bodyPr>
            <a:normAutofit/>
          </a:bodyPr>
          <a:lstStyle/>
          <a:p>
            <a:pPr algn="just"/>
            <a:r>
              <a:rPr lang="fr-FR" dirty="0"/>
              <a:t>Exemple chez </a:t>
            </a:r>
            <a:r>
              <a:rPr lang="fr-FR" dirty="0" err="1"/>
              <a:t>Celenza</a:t>
            </a:r>
            <a:r>
              <a:rPr lang="fr-FR" dirty="0"/>
              <a:t> pour la vie de Sidoine Apollinaire </a:t>
            </a:r>
            <a:r>
              <a:rPr lang="fr-FR" dirty="0" smtClean="0"/>
              <a:t>:</a:t>
            </a:r>
          </a:p>
          <a:p>
            <a:pPr lvl="1" algn="just"/>
            <a:r>
              <a:rPr lang="fr-FR" dirty="0" err="1" smtClean="0"/>
              <a:t>Sicco</a:t>
            </a:r>
            <a:r>
              <a:rPr lang="fr-FR" dirty="0" smtClean="0"/>
              <a:t> </a:t>
            </a:r>
            <a:r>
              <a:rPr lang="fr-FR" dirty="0"/>
              <a:t>relate les circonstances politiques de la vie de Sidoine, soulignant la manière dont un environnement ravagé par la guerre a poussé Sidoine à quitter l'arène politique séculière pour l'arène ecclésiastique. D'un autre côté, </a:t>
            </a:r>
            <a:r>
              <a:rPr lang="fr-FR" dirty="0" err="1"/>
              <a:t>Crinitus</a:t>
            </a:r>
            <a:r>
              <a:rPr lang="fr-FR" dirty="0"/>
              <a:t> ne prête presque aucune attention à ces circonstances politiques, se concentrant davantage, dans sa description biographique, sur l'éducation de </a:t>
            </a:r>
            <a:r>
              <a:rPr lang="fr-FR" dirty="0" smtClean="0"/>
              <a:t>Sidoine.</a:t>
            </a:r>
          </a:p>
          <a:p>
            <a:pPr lvl="1" algn="just"/>
            <a:r>
              <a:rPr lang="fr-FR" dirty="0" smtClean="0"/>
              <a:t>Autre différence : </a:t>
            </a:r>
            <a:r>
              <a:rPr lang="fr-FR" dirty="0" err="1"/>
              <a:t>Sicco</a:t>
            </a:r>
            <a:r>
              <a:rPr lang="fr-FR" dirty="0"/>
              <a:t> n'émet aucun jugement critique sur l'œuvre de Sidoine (si ce n'est pour dire que Sidoine était savant et qu'il possédait un talent pour la prose comme pour la poésie) ; il termine ensuite par une liste des œuvres connues de Sidoine. </a:t>
            </a:r>
            <a:r>
              <a:rPr lang="fr-FR" dirty="0" err="1"/>
              <a:t>Crinitus</a:t>
            </a:r>
            <a:r>
              <a:rPr lang="fr-FR" dirty="0"/>
              <a:t>, en revanche, écrit que la prose de Sidoine (telle qu'elle apparaît dans ses </a:t>
            </a:r>
            <a:r>
              <a:rPr lang="fr-FR" i="1" dirty="0"/>
              <a:t>Lettres</a:t>
            </a:r>
            <a:r>
              <a:rPr lang="fr-FR" dirty="0"/>
              <a:t>) « fleure quelque chose d'étranger et de gaulois » (une caractéristique que </a:t>
            </a:r>
            <a:r>
              <a:rPr lang="fr-FR" dirty="0" err="1"/>
              <a:t>Crinitus</a:t>
            </a:r>
            <a:r>
              <a:rPr lang="fr-FR" dirty="0"/>
              <a:t> lie au déclin culturel général accompagnant la chute de l'Empire romain). </a:t>
            </a:r>
            <a:r>
              <a:rPr lang="fr-FR" dirty="0" err="1"/>
              <a:t>Crinitus</a:t>
            </a:r>
            <a:r>
              <a:rPr lang="fr-FR" dirty="0"/>
              <a:t> poursuit : « Sidoine a donc recueilli beaucoup plus d'éloges pour ses poèmes et ses vers hendécasyllabes, car on y trouve beaucoup de talent et un niveau d'élégance qui n'est pas du tout commun. Il est également loué pour ces panégyriques qu'il dédia à </a:t>
            </a:r>
            <a:r>
              <a:rPr lang="fr-FR" dirty="0" err="1"/>
              <a:t>Anthémius</a:t>
            </a:r>
            <a:r>
              <a:rPr lang="fr-FR" dirty="0"/>
              <a:t> et Majorien, des hommes très célèbres de rang consulaire. »</a:t>
            </a:r>
          </a:p>
        </p:txBody>
      </p:sp>
    </p:spTree>
    <p:extLst>
      <p:ext uri="{BB962C8B-B14F-4D97-AF65-F5344CB8AC3E}">
        <p14:creationId xmlns:p14="http://schemas.microsoft.com/office/powerpoint/2010/main" val="35947382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Les poètes</a:t>
            </a:r>
            <a:endParaRPr lang="fr-FR" dirty="0"/>
          </a:p>
        </p:txBody>
      </p:sp>
      <p:sp>
        <p:nvSpPr>
          <p:cNvPr id="3" name="Content Placeholder 2"/>
          <p:cNvSpPr>
            <a:spLocks noGrp="1"/>
          </p:cNvSpPr>
          <p:nvPr>
            <p:ph idx="1"/>
          </p:nvPr>
        </p:nvSpPr>
        <p:spPr>
          <a:xfrm>
            <a:off x="581192" y="1715956"/>
            <a:ext cx="11029615" cy="4667259"/>
          </a:xfrm>
        </p:spPr>
        <p:txBody>
          <a:bodyPr>
            <a:normAutofit/>
          </a:bodyPr>
          <a:lstStyle/>
          <a:p>
            <a:pPr algn="just"/>
            <a:r>
              <a:rPr lang="fr-FR" dirty="0" smtClean="0"/>
              <a:t>But de l’ouvrage : offrir non </a:t>
            </a:r>
            <a:r>
              <a:rPr lang="fr-FR" dirty="0"/>
              <a:t>pas un catalogue exhaustif de tout ce qu'un auteur a écrit, mais plutôt une sorte de vue d'ensemble des principaux talents de l'auteur considéré, avec l'évocation occasionnelle d'une œuvre exemplaire pour appuyer les points avancés. </a:t>
            </a:r>
            <a:endParaRPr lang="fr-FR" dirty="0" smtClean="0"/>
          </a:p>
          <a:p>
            <a:pPr algn="just"/>
            <a:r>
              <a:rPr lang="fr-FR" dirty="0" smtClean="0"/>
              <a:t>Œuvre de </a:t>
            </a:r>
            <a:r>
              <a:rPr lang="fr-FR" dirty="0" err="1"/>
              <a:t>Sicco</a:t>
            </a:r>
            <a:r>
              <a:rPr lang="fr-FR" dirty="0"/>
              <a:t> </a:t>
            </a:r>
            <a:r>
              <a:rPr lang="fr-FR" dirty="0" smtClean="0"/>
              <a:t>= une </a:t>
            </a:r>
            <a:r>
              <a:rPr lang="fr-FR" dirty="0"/>
              <a:t>vie de collecte, d’édition et de compilation, le tout à l’époque du </a:t>
            </a:r>
            <a:r>
              <a:rPr lang="fr-FR" dirty="0" smtClean="0"/>
              <a:t>manuscrit, </a:t>
            </a:r>
            <a:r>
              <a:rPr lang="fr-FR" dirty="0"/>
              <a:t>une œuvre révisée à maintes </a:t>
            </a:r>
            <a:r>
              <a:rPr lang="fr-FR" dirty="0" smtClean="0"/>
              <a:t>reprises.</a:t>
            </a:r>
          </a:p>
          <a:p>
            <a:pPr algn="just"/>
            <a:r>
              <a:rPr lang="fr-FR" dirty="0" err="1" smtClean="0"/>
              <a:t>Crinitus</a:t>
            </a:r>
            <a:r>
              <a:rPr lang="fr-FR" dirty="0" smtClean="0"/>
              <a:t> écrit </a:t>
            </a:r>
            <a:r>
              <a:rPr lang="fr-FR" dirty="0"/>
              <a:t>après que les plus grands efforts de collecte du XVe siècle ont déjà été </a:t>
            </a:r>
            <a:r>
              <a:rPr lang="fr-FR" dirty="0" smtClean="0"/>
              <a:t>accomplis, possible travail directement </a:t>
            </a:r>
            <a:r>
              <a:rPr lang="fr-FR" dirty="0"/>
              <a:t>avec des imprimeurs, et à un moment où les ouvrages de référence de toutes sortes font l'objet de théories et de rédactions. </a:t>
            </a:r>
            <a:endParaRPr lang="fr-FR" dirty="0" smtClean="0"/>
          </a:p>
          <a:p>
            <a:pPr algn="just"/>
            <a:r>
              <a:rPr lang="fr-FR" dirty="0" smtClean="0"/>
              <a:t>Chez </a:t>
            </a:r>
            <a:r>
              <a:rPr lang="fr-FR" dirty="0" err="1"/>
              <a:t>Crinitus</a:t>
            </a:r>
            <a:r>
              <a:rPr lang="fr-FR" dirty="0"/>
              <a:t> </a:t>
            </a:r>
            <a:r>
              <a:rPr lang="fr-FR" dirty="0" smtClean="0"/>
              <a:t>&gt; </a:t>
            </a:r>
            <a:r>
              <a:rPr lang="fr-FR" dirty="0"/>
              <a:t>manifestation spécifique d'un changement générationnel.</a:t>
            </a:r>
          </a:p>
        </p:txBody>
      </p:sp>
    </p:spTree>
    <p:extLst>
      <p:ext uri="{BB962C8B-B14F-4D97-AF65-F5344CB8AC3E}">
        <p14:creationId xmlns:p14="http://schemas.microsoft.com/office/powerpoint/2010/main" val="20327513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Les poètes</a:t>
            </a:r>
            <a:endParaRPr lang="fr-FR" dirty="0"/>
          </a:p>
        </p:txBody>
      </p:sp>
      <p:sp>
        <p:nvSpPr>
          <p:cNvPr id="3" name="Content Placeholder 2"/>
          <p:cNvSpPr>
            <a:spLocks noGrp="1"/>
          </p:cNvSpPr>
          <p:nvPr>
            <p:ph idx="1"/>
          </p:nvPr>
        </p:nvSpPr>
        <p:spPr>
          <a:xfrm>
            <a:off x="581192" y="1973525"/>
            <a:ext cx="11029615" cy="4409690"/>
          </a:xfrm>
        </p:spPr>
        <p:txBody>
          <a:bodyPr>
            <a:normAutofit/>
          </a:bodyPr>
          <a:lstStyle/>
          <a:p>
            <a:pPr algn="just"/>
            <a:r>
              <a:rPr lang="fr-FR" dirty="0" smtClean="0"/>
              <a:t>Autre </a:t>
            </a:r>
            <a:r>
              <a:rPr lang="fr-FR" dirty="0"/>
              <a:t>façon de comprendre les </a:t>
            </a:r>
            <a:r>
              <a:rPr lang="fr-FR" dirty="0" smtClean="0"/>
              <a:t>objectifs et </a:t>
            </a:r>
            <a:r>
              <a:rPr lang="fr-FR" dirty="0"/>
              <a:t>les méthodes de recherche </a:t>
            </a:r>
            <a:r>
              <a:rPr lang="fr-FR" dirty="0" smtClean="0"/>
              <a:t>: aborder </a:t>
            </a:r>
            <a:r>
              <a:rPr lang="fr-FR" dirty="0"/>
              <a:t>son œuvre à travers les manuscrits qui documentent ses travaux de jeunesse. </a:t>
            </a:r>
            <a:endParaRPr lang="fr-FR" dirty="0" smtClean="0"/>
          </a:p>
          <a:p>
            <a:pPr algn="just"/>
            <a:r>
              <a:rPr lang="fr-FR" dirty="0" smtClean="0"/>
              <a:t>Dans </a:t>
            </a:r>
            <a:r>
              <a:rPr lang="fr-FR" dirty="0"/>
              <a:t>la préface du </a:t>
            </a:r>
            <a:r>
              <a:rPr lang="fr-FR" i="1" dirty="0"/>
              <a:t>De </a:t>
            </a:r>
            <a:r>
              <a:rPr lang="fr-FR" i="1" dirty="0" err="1"/>
              <a:t>poetis</a:t>
            </a:r>
            <a:r>
              <a:rPr lang="fr-FR" i="1" dirty="0"/>
              <a:t> </a:t>
            </a:r>
            <a:r>
              <a:rPr lang="fr-FR" i="1" dirty="0" err="1" smtClean="0"/>
              <a:t>latinis</a:t>
            </a:r>
            <a:r>
              <a:rPr lang="fr-FR" dirty="0" smtClean="0"/>
              <a:t>, écrit que </a:t>
            </a:r>
            <a:r>
              <a:rPr lang="fr-FR" dirty="0"/>
              <a:t>l'œuvre de Pontano et </a:t>
            </a:r>
            <a:r>
              <a:rPr lang="fr-FR" dirty="0" err="1"/>
              <a:t>Marullus</a:t>
            </a:r>
            <a:r>
              <a:rPr lang="fr-FR" dirty="0"/>
              <a:t> prouve que la poésie latine moderne prend un meilleur </a:t>
            </a:r>
            <a:r>
              <a:rPr lang="fr-FR" dirty="0" smtClean="0"/>
              <a:t>élan.</a:t>
            </a:r>
          </a:p>
          <a:p>
            <a:pPr algn="just"/>
            <a:r>
              <a:rPr lang="fr-FR" dirty="0" smtClean="0"/>
              <a:t>Un manuscrit de </a:t>
            </a:r>
            <a:r>
              <a:rPr lang="fr-FR" dirty="0"/>
              <a:t>la Bibliothèque Laurentienne </a:t>
            </a:r>
            <a:r>
              <a:rPr lang="fr-FR" dirty="0" smtClean="0"/>
              <a:t>prouve </a:t>
            </a:r>
            <a:r>
              <a:rPr lang="fr-FR" dirty="0"/>
              <a:t>que </a:t>
            </a:r>
            <a:r>
              <a:rPr lang="fr-FR" dirty="0" err="1"/>
              <a:t>Crinitus</a:t>
            </a:r>
            <a:r>
              <a:rPr lang="fr-FR" dirty="0"/>
              <a:t> a rassemblé et étudié des parties de l'</a:t>
            </a:r>
            <a:r>
              <a:rPr lang="fr-FR" i="1" dirty="0" err="1"/>
              <a:t>Urania</a:t>
            </a:r>
            <a:r>
              <a:rPr lang="fr-FR" dirty="0"/>
              <a:t> de </a:t>
            </a:r>
            <a:r>
              <a:rPr lang="fr-FR" dirty="0" smtClean="0"/>
              <a:t>Pontano et certain </a:t>
            </a:r>
            <a:r>
              <a:rPr lang="fr-FR" dirty="0"/>
              <a:t>nombre d'autres </a:t>
            </a:r>
            <a:r>
              <a:rPr lang="fr-FR" dirty="0" smtClean="0"/>
              <a:t>textes.</a:t>
            </a:r>
          </a:p>
          <a:p>
            <a:pPr algn="just"/>
            <a:r>
              <a:rPr lang="fr-FR" dirty="0" smtClean="0"/>
              <a:t>L'habitude</a:t>
            </a:r>
            <a:r>
              <a:rPr lang="fr-FR" dirty="0"/>
              <a:t>, chez Politien et les membres de son cercle (une habitude à laquelle </a:t>
            </a:r>
            <a:r>
              <a:rPr lang="fr-FR" dirty="0" err="1"/>
              <a:t>Crinitus</a:t>
            </a:r>
            <a:r>
              <a:rPr lang="fr-FR" dirty="0"/>
              <a:t> adhérait), était d'annoter les textes qu'ils étudiaient par une « souscription » indiquant la date, le lieu et les circonstances dans lesquelles ils avaient achevé leur étude. </a:t>
            </a:r>
            <a:r>
              <a:rPr lang="fr-FR" dirty="0" smtClean="0"/>
              <a:t>Dans ce manuscrit, </a:t>
            </a:r>
            <a:r>
              <a:rPr lang="fr-FR" dirty="0"/>
              <a:t>dix souscriptions </a:t>
            </a:r>
            <a:r>
              <a:rPr lang="fr-FR" dirty="0" smtClean="0"/>
              <a:t>distinctes indiquent que </a:t>
            </a:r>
            <a:r>
              <a:rPr lang="fr-FR" dirty="0" err="1"/>
              <a:t>Crinitus</a:t>
            </a:r>
            <a:r>
              <a:rPr lang="fr-FR" dirty="0"/>
              <a:t> a travaillé sur les textes contenus dans le manuscrit de la fin de 1496 jusqu'en août 1499. </a:t>
            </a:r>
            <a:endParaRPr lang="fr-FR" dirty="0" smtClean="0"/>
          </a:p>
          <a:p>
            <a:pPr algn="just"/>
            <a:r>
              <a:rPr lang="fr-FR" dirty="0" smtClean="0"/>
              <a:t>Donc, donner </a:t>
            </a:r>
            <a:r>
              <a:rPr lang="fr-FR" dirty="0"/>
              <a:t>un </a:t>
            </a:r>
            <a:r>
              <a:rPr lang="fr-FR" dirty="0" smtClean="0"/>
              <a:t>sens et une organisation </a:t>
            </a:r>
            <a:r>
              <a:rPr lang="fr-FR" dirty="0"/>
              <a:t>à </a:t>
            </a:r>
            <a:r>
              <a:rPr lang="fr-FR" dirty="0" smtClean="0"/>
              <a:t>un </a:t>
            </a:r>
            <a:r>
              <a:rPr lang="fr-FR" dirty="0"/>
              <a:t>immense héritage, dans le monde graphique </a:t>
            </a:r>
            <a:r>
              <a:rPr lang="fr-FR" dirty="0" err="1"/>
              <a:t>pré-moderne</a:t>
            </a:r>
            <a:r>
              <a:rPr lang="fr-FR" dirty="0"/>
              <a:t> </a:t>
            </a:r>
            <a:r>
              <a:rPr lang="fr-FR" dirty="0" smtClean="0"/>
              <a:t>désordonné.</a:t>
            </a:r>
            <a:endParaRPr lang="fr-FR" dirty="0"/>
          </a:p>
        </p:txBody>
      </p:sp>
    </p:spTree>
    <p:extLst>
      <p:ext uri="{BB962C8B-B14F-4D97-AF65-F5344CB8AC3E}">
        <p14:creationId xmlns:p14="http://schemas.microsoft.com/office/powerpoint/2010/main" val="2453393606"/>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1205</TotalTime>
  <Words>5117</Words>
  <Application>Microsoft Office PowerPoint</Application>
  <PresentationFormat>Widescreen</PresentationFormat>
  <Paragraphs>293</Paragraphs>
  <Slides>49</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Calibri</vt:lpstr>
      <vt:lpstr>Gill Sans MT</vt:lpstr>
      <vt:lpstr>Liberation Sans</vt:lpstr>
      <vt:lpstr>Lohit Devanagari</vt:lpstr>
      <vt:lpstr>Noto Sans CJK SC</vt:lpstr>
      <vt:lpstr>StarSymbol</vt:lpstr>
      <vt:lpstr>Wingdings 2</vt:lpstr>
      <vt:lpstr>Dividend</vt:lpstr>
      <vt:lpstr>Réception de l’antiquité </vt:lpstr>
      <vt:lpstr>ENVIRONNEMENT NUMérique</vt:lpstr>
      <vt:lpstr>Quelques repères de littérature latine</vt:lpstr>
      <vt:lpstr>Quelques repères chronologiques Repères politiques</vt:lpstr>
      <vt:lpstr>Quelques repères chronologiques Repères politiques</vt:lpstr>
      <vt:lpstr>SOURCES ÉCRITES ET Littérature</vt:lpstr>
      <vt:lpstr>Prémices de culture littéraire  Tradition orale</vt:lpstr>
      <vt:lpstr>Prémices de culture littéraire  Exemple – Les carmina convivalia</vt:lpstr>
      <vt:lpstr>Prémices de culture littéraire  Exemple – Les carmina convivalia</vt:lpstr>
      <vt:lpstr>Les débuts de la littérature </vt:lpstr>
      <vt:lpstr>Littérature latine vs littérature en langue latine</vt:lpstr>
      <vt:lpstr>Néo-Latin</vt:lpstr>
      <vt:lpstr>Néo-Latin : Baudelaire</vt:lpstr>
      <vt:lpstr>Transmission des textes antiques</vt:lpstr>
      <vt:lpstr>lITTérature latine ETAT DES LIEUX (A.F.  Wert)</vt:lpstr>
      <vt:lpstr>Livius andronicus</vt:lpstr>
      <vt:lpstr>Livius Andronicus</vt:lpstr>
      <vt:lpstr>Livius Andronicus</vt:lpstr>
      <vt:lpstr>Livius Andronicus</vt:lpstr>
      <vt:lpstr>Livius Andronicus Fragments</vt:lpstr>
      <vt:lpstr>Livius Andronicus Fragments</vt:lpstr>
      <vt:lpstr>Livius Andronicus</vt:lpstr>
      <vt:lpstr>Livius Andronicus</vt:lpstr>
      <vt:lpstr>Livius Andronicus Chez Cicéron</vt:lpstr>
      <vt:lpstr>Livius Andronicus chez Horace</vt:lpstr>
      <vt:lpstr>Livius Andronicus chez Horace</vt:lpstr>
      <vt:lpstr>Livius Andronicus chez Horace</vt:lpstr>
      <vt:lpstr>Petrus crinitus</vt:lpstr>
      <vt:lpstr>Petrus crinitus Contexte</vt:lpstr>
      <vt:lpstr>Petrus crinitus Contexte</vt:lpstr>
      <vt:lpstr>Petrus crinitus Repères</vt:lpstr>
      <vt:lpstr>Petrus crinitus Lien avec Ange Politien</vt:lpstr>
      <vt:lpstr>Petrus crinitus ŒUVRES Encyclopédique</vt:lpstr>
      <vt:lpstr>Petrus crinitus De poetis latinis</vt:lpstr>
      <vt:lpstr>Petrus crinitus DE POETIS LATINIS</vt:lpstr>
      <vt:lpstr>Petrus crinitus De poetis latinis</vt:lpstr>
      <vt:lpstr>Petrus crinitus isidore et les QUATRE Périodes</vt:lpstr>
      <vt:lpstr>Petrus crinitus Débat sur la langue latine</vt:lpstr>
      <vt:lpstr>Petrus crinitus Souci de la chronologie</vt:lpstr>
      <vt:lpstr>Petrus crinitus Intérêt pour le fait religieux</vt:lpstr>
      <vt:lpstr>Petrus crinitus Littérature et politique</vt:lpstr>
      <vt:lpstr>Petrus crinitus Littérature et politique</vt:lpstr>
      <vt:lpstr>Petrus crinitus Littérature et politique</vt:lpstr>
      <vt:lpstr>Petrus crinitus Littérature et politique</vt:lpstr>
      <vt:lpstr>Petrus crinitus Les poètes</vt:lpstr>
      <vt:lpstr>Petrus crinitus Les poètes</vt:lpstr>
      <vt:lpstr>Petrus crinitus Les poètes</vt:lpstr>
      <vt:lpstr>Petrus crinitus Les poètes</vt:lpstr>
      <vt:lpstr>Petrus crinitus Les poètes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Réception de l’antiquité</dc:title>
  <dc:creator>Anonyme</dc:creator>
  <cp:lastModifiedBy>Anonyme</cp:lastModifiedBy>
  <cp:revision>41</cp:revision>
  <dcterms:created xsi:type="dcterms:W3CDTF">2026-01-13T20:31:16Z</dcterms:created>
  <dcterms:modified xsi:type="dcterms:W3CDTF">2026-01-22T14:28:41Z</dcterms:modified>
</cp:coreProperties>
</file>
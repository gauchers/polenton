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sldIdLst>
    <p:sldId id="256" r:id="rId2"/>
    <p:sldId id="257" r:id="rId3"/>
    <p:sldId id="258" r:id="rId4"/>
    <p:sldId id="259" r:id="rId5"/>
    <p:sldId id="292" r:id="rId6"/>
    <p:sldId id="293"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5" r:id="rId21"/>
    <p:sldId id="278" r:id="rId22"/>
    <p:sldId id="279" r:id="rId23"/>
    <p:sldId id="280" r:id="rId24"/>
    <p:sldId id="281" r:id="rId25"/>
    <p:sldId id="282" r:id="rId26"/>
    <p:sldId id="289" r:id="rId27"/>
    <p:sldId id="295" r:id="rId28"/>
    <p:sldId id="290" r:id="rId29"/>
    <p:sldId id="288" r:id="rId30"/>
    <p:sldId id="291" r:id="rId31"/>
    <p:sldId id="276" r:id="rId32"/>
    <p:sldId id="283" r:id="rId33"/>
    <p:sldId id="284" r:id="rId34"/>
    <p:sldId id="285" r:id="rId35"/>
    <p:sldId id="286" r:id="rId36"/>
    <p:sldId id="287" r:id="rId37"/>
    <p:sldId id="294" r:id="rId38"/>
    <p:sldId id="296"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390E70E-0C1F-4035-BC32-0CF1E8216255}" type="datetimeFigureOut">
              <a:rPr lang="fr-FR" smtClean="0"/>
              <a:t>21/01/2026</a:t>
            </a:fld>
            <a:endParaRPr lang="fr-F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fr-F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81E2B5AF-2CC4-42A0-AEE7-F37D224B8908}" type="slidenum">
              <a:rPr lang="fr-FR" smtClean="0"/>
              <a:t>‹#›</a:t>
            </a:fld>
            <a:endParaRPr lang="fr-FR"/>
          </a:p>
        </p:txBody>
      </p:sp>
    </p:spTree>
    <p:extLst>
      <p:ext uri="{BB962C8B-B14F-4D97-AF65-F5344CB8AC3E}">
        <p14:creationId xmlns:p14="http://schemas.microsoft.com/office/powerpoint/2010/main" val="1403338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90E70E-0C1F-4035-BC32-0CF1E8216255}" type="datetimeFigureOut">
              <a:rPr lang="fr-FR" smtClean="0"/>
              <a:t>21/01/2026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a:xfrm>
            <a:off x="10558300" y="5956137"/>
            <a:ext cx="1052508" cy="365125"/>
          </a:xfrm>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3028668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9390E70E-0C1F-4035-BC32-0CF1E8216255}" type="datetimeFigureOut">
              <a:rPr lang="fr-FR" smtClean="0"/>
              <a:t>21/01/2026</a:t>
            </a:fld>
            <a:endParaRPr lang="fr-F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fr-F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81E2B5AF-2CC4-42A0-AEE7-F37D224B8908}" type="slidenum">
              <a:rPr lang="fr-FR" smtClean="0"/>
              <a:t>‹#›</a:t>
            </a:fld>
            <a:endParaRPr lang="fr-FR"/>
          </a:p>
        </p:txBody>
      </p:sp>
    </p:spTree>
    <p:extLst>
      <p:ext uri="{BB962C8B-B14F-4D97-AF65-F5344CB8AC3E}">
        <p14:creationId xmlns:p14="http://schemas.microsoft.com/office/powerpoint/2010/main" val="3853155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390E70E-0C1F-4035-BC32-0CF1E8216255}" type="datetimeFigureOut">
              <a:rPr lang="fr-FR" smtClean="0"/>
              <a:t>21/01/2026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4188196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390E70E-0C1F-4035-BC32-0CF1E8216255}" type="datetimeFigureOut">
              <a:rPr lang="fr-FR" smtClean="0"/>
              <a:t>21/01/2026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4215819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90E70E-0C1F-4035-BC32-0CF1E8216255}" type="datetimeFigureOut">
              <a:rPr lang="fr-FR" smtClean="0"/>
              <a:t>21/01/2026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3248652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90E70E-0C1F-4035-BC32-0CF1E8216255}" type="datetimeFigureOut">
              <a:rPr lang="fr-FR" smtClean="0"/>
              <a:t>21/01/2026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2551534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9390E70E-0C1F-4035-BC32-0CF1E8216255}" type="datetimeFigureOut">
              <a:rPr lang="fr-FR" smtClean="0"/>
              <a:t>21/01/2026</a:t>
            </a:fld>
            <a:endParaRPr lang="fr-F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81E2B5AF-2CC4-42A0-AEE7-F37D224B8908}" type="slidenum">
              <a:rPr lang="fr-FR" smtClean="0"/>
              <a:t>‹#›</a:t>
            </a:fld>
            <a:endParaRPr lang="fr-FR"/>
          </a:p>
        </p:txBody>
      </p:sp>
    </p:spTree>
    <p:extLst>
      <p:ext uri="{BB962C8B-B14F-4D97-AF65-F5344CB8AC3E}">
        <p14:creationId xmlns:p14="http://schemas.microsoft.com/office/powerpoint/2010/main" val="1197400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390E70E-0C1F-4035-BC32-0CF1E8216255}" type="datetimeFigureOut">
              <a:rPr lang="fr-FR" smtClean="0"/>
              <a:t>21/01/2026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256081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390E70E-0C1F-4035-BC32-0CF1E8216255}" type="datetimeFigureOut">
              <a:rPr lang="fr-FR" smtClean="0"/>
              <a:t>21/01/2026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81E2B5AF-2CC4-42A0-AEE7-F37D224B8908}" type="slidenum">
              <a:rPr lang="fr-FR" smtClean="0"/>
              <a:t>‹#›</a:t>
            </a:fld>
            <a:endParaRPr lang="fr-FR"/>
          </a:p>
        </p:txBody>
      </p:sp>
    </p:spTree>
    <p:extLst>
      <p:ext uri="{BB962C8B-B14F-4D97-AF65-F5344CB8AC3E}">
        <p14:creationId xmlns:p14="http://schemas.microsoft.com/office/powerpoint/2010/main" val="834378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9390E70E-0C1F-4035-BC32-0CF1E8216255}" type="datetimeFigureOut">
              <a:rPr lang="fr-FR" smtClean="0"/>
              <a:t>21/01/2026</a:t>
            </a:fld>
            <a:endParaRPr lang="fr-FR"/>
          </a:p>
        </p:txBody>
      </p:sp>
      <p:sp>
        <p:nvSpPr>
          <p:cNvPr id="5" name="Footer Placeholder 4"/>
          <p:cNvSpPr>
            <a:spLocks noGrp="1"/>
          </p:cNvSpPr>
          <p:nvPr>
            <p:ph type="ftr" sz="quarter" idx="11"/>
          </p:nvPr>
        </p:nvSpPr>
        <p:spPr>
          <a:xfrm>
            <a:off x="774923" y="5951811"/>
            <a:ext cx="7896279" cy="365125"/>
          </a:xfrm>
        </p:spPr>
        <p:txBody>
          <a:bodyPr/>
          <a:lstStyle/>
          <a:p>
            <a:endParaRPr lang="fr-F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81E2B5AF-2CC4-42A0-AEE7-F37D224B8908}" type="slidenum">
              <a:rPr lang="fr-FR" smtClean="0"/>
              <a:t>‹#›</a:t>
            </a:fld>
            <a:endParaRPr lang="fr-FR"/>
          </a:p>
        </p:txBody>
      </p:sp>
    </p:spTree>
    <p:extLst>
      <p:ext uri="{BB962C8B-B14F-4D97-AF65-F5344CB8AC3E}">
        <p14:creationId xmlns:p14="http://schemas.microsoft.com/office/powerpoint/2010/main" val="3588032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9390E70E-0C1F-4035-BC32-0CF1E8216255}" type="datetimeFigureOut">
              <a:rPr lang="fr-FR" smtClean="0"/>
              <a:t>21/01/2026</a:t>
            </a:fld>
            <a:endParaRPr lang="fr-F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fr-F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81E2B5AF-2CC4-42A0-AEE7-F37D224B8908}" type="slidenum">
              <a:rPr lang="fr-FR" smtClean="0"/>
              <a:t>‹#›</a:t>
            </a:fld>
            <a:endParaRPr lang="fr-F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640429374"/>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ithac.elan-numerique.fr/" TargetMode="External"/><Relationship Id="rId2" Type="http://schemas.openxmlformats.org/officeDocument/2006/relationships/hyperlink" Target="https://elan.gricad-pages.univ-grenoble-alpes.fr/fragman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gauchers.github.io/polento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digi.vatlib.it/view/MSS_Ott.lat.1915" TargetMode="External"/><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s://ithac.elan-numerique.fr/p/Eu1562_Xylander_p2" TargetMode="External"/><Relationship Id="rId3" Type="http://schemas.openxmlformats.org/officeDocument/2006/relationships/hyperlink" Target="https://ithac.elan-numerique.fr/p/Te1499_Petrarca_p1" TargetMode="External"/><Relationship Id="rId7" Type="http://schemas.openxmlformats.org/officeDocument/2006/relationships/hyperlink" Target="https://ithac.elan-numerique.fr/p/Soph1556_Camerarius_p4" TargetMode="External"/><Relationship Id="rId2" Type="http://schemas.openxmlformats.org/officeDocument/2006/relationships/hyperlink" Target="http://hyperdonat.huma-num.fr/editions/html/DonVit.html" TargetMode="External"/><Relationship Id="rId1" Type="http://schemas.openxmlformats.org/officeDocument/2006/relationships/slideLayout" Target="../slideLayouts/slideLayout2.xml"/><Relationship Id="rId6" Type="http://schemas.openxmlformats.org/officeDocument/2006/relationships/hyperlink" Target="https://ithac.elan-numerique.fr/p/Ae1552_Gyraldus_p1" TargetMode="External"/><Relationship Id="rId5" Type="http://schemas.openxmlformats.org/officeDocument/2006/relationships/hyperlink" Target="https://ithac.elan-numerique.fr/p/Pla1512_Charpentarius_p2a" TargetMode="External"/><Relationship Id="rId4" Type="http://schemas.openxmlformats.org/officeDocument/2006/relationships/hyperlink" Target="https://ithac.elan-numerique.fr/p/Sq1506_Crinito_p1" TargetMode="External"/><Relationship Id="rId9" Type="http://schemas.openxmlformats.org/officeDocument/2006/relationships/hyperlink" Target="https://ithac.elan-numerique.fr/p/Ar1625_Maire_p2"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fr-FR" dirty="0" smtClean="0"/>
              <a:t>Réception de l’antiquité	</a:t>
            </a:r>
            <a:endParaRPr lang="fr-FR" dirty="0"/>
          </a:p>
        </p:txBody>
      </p:sp>
      <p:sp>
        <p:nvSpPr>
          <p:cNvPr id="3" name="Subtitle 2"/>
          <p:cNvSpPr>
            <a:spLocks noGrp="1"/>
          </p:cNvSpPr>
          <p:nvPr>
            <p:ph type="subTitle" idx="1"/>
          </p:nvPr>
        </p:nvSpPr>
        <p:spPr/>
        <p:txBody>
          <a:bodyPr>
            <a:normAutofit/>
          </a:bodyPr>
          <a:lstStyle/>
          <a:p>
            <a:r>
              <a:rPr lang="fr-FR" dirty="0" smtClean="0"/>
              <a:t>Université </a:t>
            </a:r>
            <a:r>
              <a:rPr lang="fr-FR" dirty="0" err="1" smtClean="0"/>
              <a:t>grenoble</a:t>
            </a:r>
            <a:r>
              <a:rPr lang="fr-FR" dirty="0" smtClean="0"/>
              <a:t> alpes – S2 </a:t>
            </a:r>
            <a:r>
              <a:rPr lang="fr-FR" dirty="0" smtClean="0"/>
              <a:t>2025/2026												</a:t>
            </a:r>
            <a:r>
              <a:rPr lang="fr-FR" smtClean="0"/>
              <a:t>	Séance 1</a:t>
            </a:r>
            <a:r>
              <a:rPr lang="fr-FR" dirty="0" smtClean="0"/>
              <a:t/>
            </a:r>
            <a:br>
              <a:rPr lang="fr-FR" dirty="0" smtClean="0"/>
            </a:br>
            <a:r>
              <a:rPr lang="fr-FR" dirty="0" smtClean="0"/>
              <a:t>Sarah gaucher</a:t>
            </a:r>
          </a:p>
        </p:txBody>
      </p:sp>
    </p:spTree>
    <p:extLst>
      <p:ext uri="{BB962C8B-B14F-4D97-AF65-F5344CB8AC3E}">
        <p14:creationId xmlns:p14="http://schemas.microsoft.com/office/powerpoint/2010/main" val="33162652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Résumé du cours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algn="just">
              <a:lnSpc>
                <a:spcPct val="110000"/>
              </a:lnSpc>
            </a:pPr>
            <a:r>
              <a:rPr lang="fr-FR" b="1" dirty="0"/>
              <a:t>Titre:</a:t>
            </a:r>
            <a:r>
              <a:rPr lang="fr-FR" dirty="0"/>
              <a:t> </a:t>
            </a:r>
            <a:r>
              <a:rPr lang="fr-FR" dirty="0" smtClean="0"/>
              <a:t>"Sources antiques et représentation des auteurs dans le livre II des </a:t>
            </a:r>
            <a:r>
              <a:rPr lang="fr-FR" i="1" dirty="0" err="1" smtClean="0"/>
              <a:t>Scriptorum</a:t>
            </a:r>
            <a:r>
              <a:rPr lang="fr-FR" i="1" dirty="0" smtClean="0"/>
              <a:t> </a:t>
            </a:r>
            <a:r>
              <a:rPr lang="fr-FR" i="1" dirty="0" err="1" smtClean="0"/>
              <a:t>illustrium</a:t>
            </a:r>
            <a:r>
              <a:rPr lang="fr-FR" i="1" dirty="0" smtClean="0"/>
              <a:t> </a:t>
            </a:r>
            <a:r>
              <a:rPr lang="fr-FR" i="1" dirty="0" err="1" smtClean="0"/>
              <a:t>Latinae</a:t>
            </a:r>
            <a:r>
              <a:rPr lang="fr-FR" i="1" dirty="0" smtClean="0"/>
              <a:t> linguae </a:t>
            </a:r>
            <a:r>
              <a:rPr lang="fr-FR" i="1" dirty="0" err="1" smtClean="0"/>
              <a:t>libri</a:t>
            </a:r>
            <a:r>
              <a:rPr lang="fr-FR" i="1" dirty="0" smtClean="0"/>
              <a:t> </a:t>
            </a:r>
            <a:r>
              <a:rPr lang="fr-FR" dirty="0" smtClean="0"/>
              <a:t>de </a:t>
            </a:r>
            <a:r>
              <a:rPr lang="fr-FR" dirty="0" err="1" smtClean="0"/>
              <a:t>Sicco</a:t>
            </a:r>
            <a:r>
              <a:rPr lang="fr-FR" dirty="0" smtClean="0"/>
              <a:t> </a:t>
            </a:r>
            <a:r>
              <a:rPr lang="fr-FR" dirty="0" err="1" smtClean="0"/>
              <a:t>Polenton</a:t>
            </a:r>
            <a:r>
              <a:rPr lang="fr-FR" dirty="0" smtClean="0"/>
              <a:t>"</a:t>
            </a:r>
          </a:p>
          <a:p>
            <a:pPr marL="0" indent="0" algn="just">
              <a:lnSpc>
                <a:spcPct val="110000"/>
              </a:lnSpc>
              <a:buNone/>
            </a:pPr>
            <a:r>
              <a:rPr lang="fr-FR" dirty="0" smtClean="0"/>
              <a:t>Les </a:t>
            </a:r>
            <a:r>
              <a:rPr lang="fr-FR" i="1" dirty="0" err="1" smtClean="0"/>
              <a:t>Scriptorum</a:t>
            </a:r>
            <a:r>
              <a:rPr lang="fr-FR" i="1" dirty="0" smtClean="0"/>
              <a:t> </a:t>
            </a:r>
            <a:r>
              <a:rPr lang="fr-FR" i="1" dirty="0" err="1" smtClean="0"/>
              <a:t>illustrium</a:t>
            </a:r>
            <a:r>
              <a:rPr lang="fr-FR" i="1" dirty="0" smtClean="0"/>
              <a:t> </a:t>
            </a:r>
            <a:r>
              <a:rPr lang="fr-FR" i="1" dirty="0" err="1" smtClean="0"/>
              <a:t>Latinae</a:t>
            </a:r>
            <a:r>
              <a:rPr lang="fr-FR" i="1" dirty="0" smtClean="0"/>
              <a:t> linguae </a:t>
            </a:r>
            <a:r>
              <a:rPr lang="fr-FR" i="1" dirty="0" err="1" smtClean="0"/>
              <a:t>libri</a:t>
            </a:r>
            <a:r>
              <a:rPr lang="fr-FR" dirty="0" smtClean="0"/>
              <a:t> de l'humaniste vénitien </a:t>
            </a:r>
            <a:r>
              <a:rPr lang="fr-FR" dirty="0" err="1" smtClean="0"/>
              <a:t>Sicco</a:t>
            </a:r>
            <a:r>
              <a:rPr lang="fr-FR" dirty="0" smtClean="0"/>
              <a:t> </a:t>
            </a:r>
            <a:r>
              <a:rPr lang="fr-FR" dirty="0" err="1" smtClean="0"/>
              <a:t>Polenton</a:t>
            </a:r>
            <a:r>
              <a:rPr lang="fr-FR" dirty="0" smtClean="0"/>
              <a:t> (1376-1447) peuvent être considérés, à bien des égards, comme la première histoire organique de la littérature latine antique produite à l'époque moderne. Cet ouvrage est le fruit d'un travail colossal, qui a duré plus de vingt-cinq ans, de lecture et de réorganisation du matériel biographique et historico-littéraire provenant des auteurs latins eux-mêmes, mis en relation avec la tradition savante médiévale et les chantiers de recherche philologique et savante ouverts au début de l'humanisme. Le livre II ouvre la série des livres consacrés à la poésie latine : il se concentre sur les débuts de la poésie à Rome et sur les premiers auteurs, essentiellement fragmentaires, dont les œuvres n’ont pas subsisté intégralement et que </a:t>
            </a:r>
            <a:r>
              <a:rPr lang="fr-FR" dirty="0" err="1" smtClean="0"/>
              <a:t>Polenton</a:t>
            </a:r>
            <a:r>
              <a:rPr lang="fr-FR" dirty="0" smtClean="0"/>
              <a:t> ne connaît que de manière médiée, par le biais de sources secondaires.</a:t>
            </a:r>
          </a:p>
          <a:p>
            <a:pPr algn="just">
              <a:lnSpc>
                <a:spcPct val="110000"/>
              </a:lnSpc>
            </a:pPr>
            <a:endParaRPr lang="fr-FR" dirty="0"/>
          </a:p>
        </p:txBody>
      </p:sp>
    </p:spTree>
    <p:extLst>
      <p:ext uri="{BB962C8B-B14F-4D97-AF65-F5344CB8AC3E}">
        <p14:creationId xmlns:p14="http://schemas.microsoft.com/office/powerpoint/2010/main" val="23320544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Résumé du cours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marL="0" indent="0">
              <a:buNone/>
            </a:pPr>
            <a:r>
              <a:rPr lang="fr-FR" b="1" dirty="0"/>
              <a:t>Objectif du cours : </a:t>
            </a:r>
            <a:endParaRPr lang="fr-FR" dirty="0"/>
          </a:p>
          <a:p>
            <a:r>
              <a:rPr lang="fr-FR" dirty="0"/>
              <a:t>Relever, référencer et analyser les sources de </a:t>
            </a:r>
            <a:r>
              <a:rPr lang="fr-FR" dirty="0" err="1"/>
              <a:t>Polenton</a:t>
            </a:r>
            <a:r>
              <a:rPr lang="fr-FR" dirty="0"/>
              <a:t>.</a:t>
            </a:r>
          </a:p>
          <a:p>
            <a:r>
              <a:rPr lang="fr-FR" dirty="0"/>
              <a:t>Dégager les jugements et les représentations des poètes dessinés par </a:t>
            </a:r>
            <a:r>
              <a:rPr lang="fr-FR" dirty="0" err="1"/>
              <a:t>Polenton</a:t>
            </a:r>
            <a:r>
              <a:rPr lang="fr-FR" dirty="0"/>
              <a:t>.</a:t>
            </a:r>
          </a:p>
          <a:p>
            <a:r>
              <a:rPr lang="fr-FR" dirty="0"/>
              <a:t>Examiner les phénomènes d’ordonnancement et de hiérarchisation des auteurs en lien avec les jugements produits dans les sources.</a:t>
            </a:r>
          </a:p>
          <a:p>
            <a:r>
              <a:rPr lang="fr-FR" dirty="0"/>
              <a:t>Comparer la méthode et la structuration de </a:t>
            </a:r>
            <a:r>
              <a:rPr lang="fr-FR" dirty="0" err="1"/>
              <a:t>Polenton</a:t>
            </a:r>
            <a:r>
              <a:rPr lang="fr-FR" dirty="0"/>
              <a:t> avec des ouvrages postérieurs, notamment les </a:t>
            </a:r>
            <a:r>
              <a:rPr lang="fr-FR" i="1" dirty="0"/>
              <a:t>vitae</a:t>
            </a:r>
            <a:r>
              <a:rPr lang="fr-FR" dirty="0"/>
              <a:t> humanistes, afin d'évaluer l'influence de </a:t>
            </a:r>
            <a:r>
              <a:rPr lang="fr-FR" dirty="0" err="1"/>
              <a:t>Polenton</a:t>
            </a:r>
            <a:r>
              <a:rPr lang="fr-FR" dirty="0"/>
              <a:t> sur ses successeurs.</a:t>
            </a:r>
          </a:p>
          <a:p>
            <a:pPr marL="0" indent="0" algn="just">
              <a:lnSpc>
                <a:spcPct val="110000"/>
              </a:lnSpc>
              <a:buNone/>
            </a:pPr>
            <a:endParaRPr lang="fr-FR" dirty="0"/>
          </a:p>
        </p:txBody>
      </p:sp>
    </p:spTree>
    <p:extLst>
      <p:ext uri="{BB962C8B-B14F-4D97-AF65-F5344CB8AC3E}">
        <p14:creationId xmlns:p14="http://schemas.microsoft.com/office/powerpoint/2010/main" val="341473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Résumé du cours</a:t>
            </a:r>
            <a:endParaRPr lang="fr-FR" dirty="0"/>
          </a:p>
        </p:txBody>
      </p:sp>
      <p:sp>
        <p:nvSpPr>
          <p:cNvPr id="3" name="Content Placeholder 2"/>
          <p:cNvSpPr>
            <a:spLocks noGrp="1"/>
          </p:cNvSpPr>
          <p:nvPr>
            <p:ph idx="1"/>
          </p:nvPr>
        </p:nvSpPr>
        <p:spPr>
          <a:xfrm>
            <a:off x="581192" y="2066192"/>
            <a:ext cx="11029615" cy="4791808"/>
          </a:xfrm>
        </p:spPr>
        <p:txBody>
          <a:bodyPr>
            <a:normAutofit/>
          </a:bodyPr>
          <a:lstStyle/>
          <a:p>
            <a:pPr marL="0" indent="0">
              <a:buNone/>
            </a:pPr>
            <a:r>
              <a:rPr lang="fr-FR" b="1" dirty="0"/>
              <a:t>Objectif du cours : </a:t>
            </a:r>
            <a:endParaRPr lang="fr-FR" dirty="0"/>
          </a:p>
          <a:p>
            <a:r>
              <a:rPr lang="fr-FR" dirty="0"/>
              <a:t>Relever, référencer et analyser les sources de </a:t>
            </a:r>
            <a:r>
              <a:rPr lang="fr-FR" dirty="0" err="1"/>
              <a:t>Polenton</a:t>
            </a:r>
            <a:r>
              <a:rPr lang="fr-FR" dirty="0"/>
              <a:t>.</a:t>
            </a:r>
          </a:p>
          <a:p>
            <a:r>
              <a:rPr lang="fr-FR" dirty="0"/>
              <a:t>Dégager les jugements et les représentations des poètes dessinés par </a:t>
            </a:r>
            <a:r>
              <a:rPr lang="fr-FR" dirty="0" err="1"/>
              <a:t>Polenton</a:t>
            </a:r>
            <a:r>
              <a:rPr lang="fr-FR" dirty="0"/>
              <a:t>.</a:t>
            </a:r>
          </a:p>
          <a:p>
            <a:r>
              <a:rPr lang="fr-FR" dirty="0"/>
              <a:t>Examiner les phénomènes d’ordonnancement et de hiérarchisation des auteurs en lien avec les jugements produits dans les sources.</a:t>
            </a:r>
          </a:p>
          <a:p>
            <a:r>
              <a:rPr lang="fr-FR" dirty="0"/>
              <a:t>Comparer la méthode et la structuration de </a:t>
            </a:r>
            <a:r>
              <a:rPr lang="fr-FR" dirty="0" err="1"/>
              <a:t>Polenton</a:t>
            </a:r>
            <a:r>
              <a:rPr lang="fr-FR" dirty="0"/>
              <a:t> avec des ouvrages postérieurs, notamment les </a:t>
            </a:r>
            <a:r>
              <a:rPr lang="fr-FR" i="1" dirty="0"/>
              <a:t>vitae</a:t>
            </a:r>
            <a:r>
              <a:rPr lang="fr-FR" dirty="0"/>
              <a:t> humanistes, afin d'évaluer l'influence de </a:t>
            </a:r>
            <a:r>
              <a:rPr lang="fr-FR" dirty="0" err="1"/>
              <a:t>Polenton</a:t>
            </a:r>
            <a:r>
              <a:rPr lang="fr-FR" dirty="0"/>
              <a:t> sur ses successeurs.</a:t>
            </a:r>
          </a:p>
          <a:p>
            <a:pPr marL="0" indent="0" algn="just">
              <a:lnSpc>
                <a:spcPct val="110000"/>
              </a:lnSpc>
              <a:buNone/>
            </a:pPr>
            <a:endParaRPr lang="fr-FR" dirty="0"/>
          </a:p>
        </p:txBody>
      </p:sp>
    </p:spTree>
    <p:extLst>
      <p:ext uri="{BB962C8B-B14F-4D97-AF65-F5344CB8AC3E}">
        <p14:creationId xmlns:p14="http://schemas.microsoft.com/office/powerpoint/2010/main" val="8148475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smtClean="0"/>
              <a:t>Le pourquoi du comment…</a:t>
            </a:r>
            <a:endParaRPr lang="fr-FR" dirty="0"/>
          </a:p>
        </p:txBody>
      </p:sp>
      <p:sp>
        <p:nvSpPr>
          <p:cNvPr id="3" name="Content Placeholder 2"/>
          <p:cNvSpPr>
            <a:spLocks noGrp="1"/>
          </p:cNvSpPr>
          <p:nvPr>
            <p:ph idx="1"/>
          </p:nvPr>
        </p:nvSpPr>
        <p:spPr/>
        <p:txBody>
          <a:bodyPr>
            <a:normAutofit/>
          </a:bodyPr>
          <a:lstStyle/>
          <a:p>
            <a:pPr marL="0" indent="0" algn="ctr">
              <a:buNone/>
            </a:pPr>
            <a:r>
              <a:rPr lang="fr-FR" sz="3200" dirty="0">
                <a:latin typeface="Times New Roman" panose="02020603050405020304" pitchFamily="18" charset="0"/>
                <a:cs typeface="Times New Roman" panose="02020603050405020304" pitchFamily="18" charset="0"/>
                <a:hlinkClick r:id="rId2"/>
              </a:rPr>
              <a:t>https://elan.gricad-pages.univ-grenoble-alpes.fr/fragmant</a:t>
            </a:r>
            <a:r>
              <a:rPr lang="fr-FR" sz="3200" dirty="0" smtClean="0">
                <a:latin typeface="Times New Roman" panose="02020603050405020304" pitchFamily="18" charset="0"/>
                <a:cs typeface="Times New Roman" panose="02020603050405020304" pitchFamily="18" charset="0"/>
                <a:hlinkClick r:id="rId2"/>
              </a:rPr>
              <a:t>/</a:t>
            </a:r>
            <a:endParaRPr lang="fr-FR" sz="3200" dirty="0" smtClean="0">
              <a:latin typeface="Times New Roman" panose="02020603050405020304" pitchFamily="18" charset="0"/>
              <a:cs typeface="Times New Roman" panose="02020603050405020304" pitchFamily="18" charset="0"/>
            </a:endParaRPr>
          </a:p>
          <a:p>
            <a:pPr marL="0" indent="0" algn="ctr">
              <a:buNone/>
            </a:pPr>
            <a:endParaRPr lang="fr-FR" sz="3200" dirty="0">
              <a:latin typeface="Times New Roman" panose="02020603050405020304" pitchFamily="18" charset="0"/>
              <a:cs typeface="Times New Roman" panose="02020603050405020304" pitchFamily="18" charset="0"/>
            </a:endParaRPr>
          </a:p>
          <a:p>
            <a:pPr marL="0" indent="0" algn="ctr">
              <a:buNone/>
            </a:pPr>
            <a:r>
              <a:rPr lang="fr-FR" sz="3200" dirty="0">
                <a:latin typeface="Times New Roman" panose="02020603050405020304" pitchFamily="18" charset="0"/>
                <a:cs typeface="Times New Roman" panose="02020603050405020304" pitchFamily="18" charset="0"/>
                <a:hlinkClick r:id="rId3"/>
              </a:rPr>
              <a:t>https://ithac.elan-numerique.fr</a:t>
            </a:r>
            <a:r>
              <a:rPr lang="fr-FR" sz="3200" dirty="0" smtClean="0">
                <a:latin typeface="Times New Roman" panose="02020603050405020304" pitchFamily="18" charset="0"/>
                <a:cs typeface="Times New Roman" panose="02020603050405020304" pitchFamily="18" charset="0"/>
                <a:hlinkClick r:id="rId3"/>
              </a:rPr>
              <a:t>/</a:t>
            </a:r>
            <a:r>
              <a:rPr lang="fr-FR" sz="3200" dirty="0" smtClean="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5508790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a:t>Libri</a:t>
            </a:r>
            <a:endParaRPr lang="fr-FR" dirty="0"/>
          </a:p>
        </p:txBody>
      </p:sp>
      <p:sp>
        <p:nvSpPr>
          <p:cNvPr id="3" name="Content Placeholder 2"/>
          <p:cNvSpPr>
            <a:spLocks noGrp="1"/>
          </p:cNvSpPr>
          <p:nvPr>
            <p:ph idx="1"/>
          </p:nvPr>
        </p:nvSpPr>
        <p:spPr/>
        <p:txBody>
          <a:bodyPr>
            <a:normAutofit/>
          </a:bodyPr>
          <a:lstStyle/>
          <a:p>
            <a:pPr marL="0" indent="0" algn="ctr">
              <a:buNone/>
            </a:pPr>
            <a:r>
              <a:rPr lang="fr-FR" sz="4000" dirty="0">
                <a:latin typeface="Times New Roman" panose="02020603050405020304" pitchFamily="18" charset="0"/>
                <a:cs typeface="Times New Roman" panose="02020603050405020304" pitchFamily="18" charset="0"/>
                <a:hlinkClick r:id="rId2"/>
              </a:rPr>
              <a:t>https://gauchers.github.io/polenton</a:t>
            </a:r>
            <a:r>
              <a:rPr lang="fr-FR" sz="4000" dirty="0" smtClean="0">
                <a:latin typeface="Times New Roman" panose="02020603050405020304" pitchFamily="18" charset="0"/>
                <a:cs typeface="Times New Roman" panose="02020603050405020304" pitchFamily="18" charset="0"/>
                <a:hlinkClick r:id="rId2"/>
              </a:rPr>
              <a:t>/</a:t>
            </a:r>
            <a:endParaRPr lang="fr-FR" sz="4000" dirty="0" smtClean="0">
              <a:latin typeface="Times New Roman" panose="02020603050405020304" pitchFamily="18" charset="0"/>
              <a:cs typeface="Times New Roman" panose="02020603050405020304" pitchFamily="18" charset="0"/>
            </a:endParaRPr>
          </a:p>
          <a:p>
            <a:pPr marL="0" indent="0" algn="ctr">
              <a:buNone/>
            </a:pPr>
            <a:endParaRPr lang="fr-FR"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14780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SICCO POLENTON</a:t>
            </a:r>
            <a:br>
              <a:rPr lang="fr-FR" dirty="0" smtClean="0"/>
            </a:br>
            <a:r>
              <a:rPr lang="fr-FR" dirty="0" err="1" smtClean="0"/>
              <a:t>élements</a:t>
            </a:r>
            <a:r>
              <a:rPr lang="fr-FR" dirty="0" smtClean="0"/>
              <a:t> biographiques</a:t>
            </a:r>
            <a:endParaRPr lang="fr-FR" dirty="0"/>
          </a:p>
        </p:txBody>
      </p:sp>
      <p:sp>
        <p:nvSpPr>
          <p:cNvPr id="3" name="Content Placeholder 2"/>
          <p:cNvSpPr>
            <a:spLocks noGrp="1"/>
          </p:cNvSpPr>
          <p:nvPr>
            <p:ph idx="1"/>
          </p:nvPr>
        </p:nvSpPr>
        <p:spPr/>
        <p:txBody>
          <a:bodyPr/>
          <a:lstStyle/>
          <a:p>
            <a:r>
              <a:rPr lang="fr-FR" dirty="0" smtClean="0"/>
              <a:t>Naissance en1375 ou 1376.</a:t>
            </a:r>
          </a:p>
          <a:p>
            <a:r>
              <a:rPr lang="fr-FR" dirty="0" smtClean="0"/>
              <a:t>Lieu </a:t>
            </a:r>
            <a:r>
              <a:rPr lang="fr-FR" dirty="0"/>
              <a:t>de sa naissance </a:t>
            </a:r>
            <a:r>
              <a:rPr lang="fr-FR" dirty="0" smtClean="0"/>
              <a:t>probablement Borgo </a:t>
            </a:r>
            <a:r>
              <a:rPr lang="fr-FR" dirty="0" err="1" smtClean="0"/>
              <a:t>Valsugana</a:t>
            </a:r>
            <a:r>
              <a:rPr lang="fr-FR" dirty="0" smtClean="0"/>
              <a:t>, </a:t>
            </a:r>
            <a:r>
              <a:rPr lang="fr-FR" dirty="0"/>
              <a:t>bien qu’il se dise lui-même originaire de </a:t>
            </a:r>
            <a:r>
              <a:rPr lang="fr-FR" dirty="0" err="1"/>
              <a:t>Levico</a:t>
            </a:r>
            <a:r>
              <a:rPr lang="fr-FR" dirty="0"/>
              <a:t> (près de Trente), qui était le foyer de la famille Ricci, à laquelle il </a:t>
            </a:r>
            <a:r>
              <a:rPr lang="fr-FR" dirty="0" smtClean="0"/>
              <a:t>appartenait.</a:t>
            </a:r>
          </a:p>
          <a:p>
            <a:r>
              <a:rPr lang="fr-FR" dirty="0" smtClean="0"/>
              <a:t>Benjamin </a:t>
            </a:r>
            <a:r>
              <a:rPr lang="fr-FR" dirty="0"/>
              <a:t>de dix-neuf enfants issus du premier mariage de son </a:t>
            </a:r>
            <a:r>
              <a:rPr lang="fr-FR" dirty="0" smtClean="0"/>
              <a:t>père.</a:t>
            </a:r>
          </a:p>
          <a:p>
            <a:r>
              <a:rPr lang="fr-FR" dirty="0" smtClean="0"/>
              <a:t>Encore </a:t>
            </a:r>
            <a:r>
              <a:rPr lang="fr-FR" dirty="0"/>
              <a:t>enfant, </a:t>
            </a:r>
            <a:r>
              <a:rPr lang="fr-FR" dirty="0" smtClean="0"/>
              <a:t>amené </a:t>
            </a:r>
            <a:r>
              <a:rPr lang="fr-FR" dirty="0"/>
              <a:t>à Padoue, patrie ancestrale de la famille. </a:t>
            </a:r>
            <a:r>
              <a:rPr lang="fr-FR" dirty="0" smtClean="0"/>
              <a:t>Demeure dans </a:t>
            </a:r>
            <a:r>
              <a:rPr lang="fr-FR" dirty="0"/>
              <a:t>cette ville toute sa vie et s’y </a:t>
            </a:r>
            <a:r>
              <a:rPr lang="fr-FR" dirty="0" smtClean="0"/>
              <a:t>identifie </a:t>
            </a:r>
            <a:r>
              <a:rPr lang="fr-FR" dirty="0"/>
              <a:t>si complètement qu’il faut le considérer comme un </a:t>
            </a:r>
            <a:r>
              <a:rPr lang="fr-FR" dirty="0" err="1"/>
              <a:t>Paduan</a:t>
            </a:r>
            <a:r>
              <a:rPr lang="fr-FR" dirty="0" smtClean="0"/>
              <a:t>.</a:t>
            </a:r>
          </a:p>
          <a:p>
            <a:r>
              <a:rPr lang="fr-FR" dirty="0" smtClean="0"/>
              <a:t>Témoin </a:t>
            </a:r>
            <a:r>
              <a:rPr lang="fr-FR" dirty="0"/>
              <a:t>de la découverte du tombeau </a:t>
            </a:r>
            <a:r>
              <a:rPr lang="fr-FR" dirty="0" smtClean="0"/>
              <a:t>supposé de Tite-Live (</a:t>
            </a:r>
            <a:r>
              <a:rPr lang="fr-FR" dirty="0" err="1" smtClean="0"/>
              <a:t>Sicco</a:t>
            </a:r>
            <a:r>
              <a:rPr lang="fr-FR" dirty="0" smtClean="0"/>
              <a:t> rend compte de la </a:t>
            </a:r>
            <a:r>
              <a:rPr lang="fr-FR" dirty="0"/>
              <a:t>joie des Padouans </a:t>
            </a:r>
            <a:r>
              <a:rPr lang="fr-FR" dirty="0" smtClean="0"/>
              <a:t>à </a:t>
            </a:r>
            <a:r>
              <a:rPr lang="fr-FR" dirty="0" err="1"/>
              <a:t>Niccolò</a:t>
            </a:r>
            <a:r>
              <a:rPr lang="fr-FR" dirty="0"/>
              <a:t> </a:t>
            </a:r>
            <a:r>
              <a:rPr lang="fr-FR" dirty="0" err="1"/>
              <a:t>Niccoli</a:t>
            </a:r>
            <a:r>
              <a:rPr lang="fr-FR" dirty="0"/>
              <a:t> dans une lettre publiée dans les </a:t>
            </a:r>
            <a:r>
              <a:rPr lang="fr-FR" i="1" dirty="0"/>
              <a:t>Origines </a:t>
            </a:r>
            <a:r>
              <a:rPr lang="fr-FR" i="1" dirty="0" err="1"/>
              <a:t>Patavinæ</a:t>
            </a:r>
            <a:r>
              <a:rPr lang="fr-FR" i="1" dirty="0"/>
              <a:t> </a:t>
            </a:r>
            <a:r>
              <a:rPr lang="fr-FR" dirty="0"/>
              <a:t>de </a:t>
            </a:r>
            <a:r>
              <a:rPr lang="fr-FR" dirty="0" err="1" smtClean="0"/>
              <a:t>Pignoria</a:t>
            </a:r>
            <a:r>
              <a:rPr lang="fr-FR" dirty="0" smtClean="0"/>
              <a:t>).</a:t>
            </a:r>
          </a:p>
          <a:p>
            <a:r>
              <a:rPr lang="fr-FR" dirty="0" smtClean="0"/>
              <a:t>Met </a:t>
            </a:r>
            <a:r>
              <a:rPr lang="fr-FR" dirty="0"/>
              <a:t>en latin les Statuts de la ville de Padoue et mourut en </a:t>
            </a:r>
            <a:r>
              <a:rPr lang="fr-FR" dirty="0" smtClean="0"/>
              <a:t>1447. </a:t>
            </a:r>
            <a:endParaRPr lang="fr-FR" dirty="0"/>
          </a:p>
        </p:txBody>
      </p:sp>
    </p:spTree>
    <p:extLst>
      <p:ext uri="{BB962C8B-B14F-4D97-AF65-F5344CB8AC3E}">
        <p14:creationId xmlns:p14="http://schemas.microsoft.com/office/powerpoint/2010/main" val="386396601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SICCO POLENTON</a:t>
            </a:r>
            <a:br>
              <a:rPr lang="fr-FR" dirty="0" smtClean="0"/>
            </a:br>
            <a:r>
              <a:rPr lang="fr-FR" dirty="0" smtClean="0"/>
              <a:t>profession</a:t>
            </a:r>
            <a:endParaRPr lang="fr-FR" dirty="0"/>
          </a:p>
        </p:txBody>
      </p:sp>
      <p:sp>
        <p:nvSpPr>
          <p:cNvPr id="3" name="Content Placeholder 2"/>
          <p:cNvSpPr>
            <a:spLocks noGrp="1"/>
          </p:cNvSpPr>
          <p:nvPr>
            <p:ph idx="1"/>
          </p:nvPr>
        </p:nvSpPr>
        <p:spPr>
          <a:xfrm>
            <a:off x="581192" y="2180496"/>
            <a:ext cx="11029615" cy="4413735"/>
          </a:xfrm>
        </p:spPr>
        <p:txBody>
          <a:bodyPr/>
          <a:lstStyle/>
          <a:p>
            <a:r>
              <a:rPr lang="fr-FR" dirty="0" smtClean="0"/>
              <a:t>En </a:t>
            </a:r>
            <a:r>
              <a:rPr lang="fr-FR" dirty="0"/>
              <a:t>1396, </a:t>
            </a:r>
            <a:r>
              <a:rPr lang="fr-FR" dirty="0" err="1"/>
              <a:t>Sicco</a:t>
            </a:r>
            <a:r>
              <a:rPr lang="fr-FR" dirty="0"/>
              <a:t> </a:t>
            </a:r>
            <a:r>
              <a:rPr lang="fr-FR" dirty="0" smtClean="0"/>
              <a:t>devient </a:t>
            </a:r>
            <a:r>
              <a:rPr lang="fr-FR" dirty="0"/>
              <a:t>notaire de la famille dirigeante des </a:t>
            </a:r>
            <a:r>
              <a:rPr lang="fr-FR" dirty="0" smtClean="0"/>
              <a:t>Carrare.</a:t>
            </a:r>
          </a:p>
          <a:p>
            <a:r>
              <a:rPr lang="fr-FR" dirty="0" smtClean="0"/>
              <a:t>Obtient </a:t>
            </a:r>
            <a:r>
              <a:rPr lang="fr-FR" dirty="0"/>
              <a:t>la citoyenneté padouane entre le 15 mars 1402 et le 29 juin </a:t>
            </a:r>
            <a:r>
              <a:rPr lang="fr-FR" dirty="0" smtClean="0"/>
              <a:t>1403.</a:t>
            </a:r>
          </a:p>
          <a:p>
            <a:r>
              <a:rPr lang="fr-FR" dirty="0" smtClean="0"/>
              <a:t>Peu </a:t>
            </a:r>
            <a:r>
              <a:rPr lang="fr-FR" dirty="0"/>
              <a:t>après, peut-être, il devint notaire public, bien que nous ne puissions être certains que cela se produisit avant 1411. </a:t>
            </a:r>
            <a:endParaRPr lang="fr-FR" dirty="0" smtClean="0"/>
          </a:p>
          <a:p>
            <a:r>
              <a:rPr lang="fr-FR" dirty="0" smtClean="0"/>
              <a:t>Selon </a:t>
            </a:r>
            <a:r>
              <a:rPr lang="fr-FR" dirty="0" err="1" smtClean="0"/>
              <a:t>Segarizzi</a:t>
            </a:r>
            <a:r>
              <a:rPr lang="fr-FR" dirty="0" smtClean="0"/>
              <a:t>, il est </a:t>
            </a:r>
            <a:r>
              <a:rPr lang="fr-FR" dirty="0"/>
              <a:t>chancelier de Padoue en 1404, mais l’argument en faveur de cette date incroyablement précoce repose </a:t>
            </a:r>
            <a:r>
              <a:rPr lang="fr-FR" dirty="0" smtClean="0"/>
              <a:t>sans doute sur </a:t>
            </a:r>
            <a:r>
              <a:rPr lang="fr-FR" dirty="0"/>
              <a:t>une interprétation erronée. </a:t>
            </a:r>
            <a:r>
              <a:rPr lang="fr-FR" dirty="0" smtClean="0"/>
              <a:t>Retenir plutôt la </a:t>
            </a:r>
            <a:r>
              <a:rPr lang="fr-FR" dirty="0"/>
              <a:t>date de </a:t>
            </a:r>
            <a:r>
              <a:rPr lang="fr-FR" dirty="0" smtClean="0"/>
              <a:t>1415-1416, peut-être 1417.</a:t>
            </a:r>
          </a:p>
          <a:p>
            <a:r>
              <a:rPr lang="fr-FR" dirty="0" smtClean="0"/>
              <a:t>De </a:t>
            </a:r>
            <a:r>
              <a:rPr lang="fr-FR" dirty="0"/>
              <a:t>fait, il est clair qu’il n’était pas encore chancelier en 1413. Cette année-là, il acheva les </a:t>
            </a:r>
            <a:r>
              <a:rPr lang="fr-FR" i="1" dirty="0"/>
              <a:t>Argumenta</a:t>
            </a:r>
            <a:r>
              <a:rPr lang="fr-FR" dirty="0"/>
              <a:t>, un ouvrage donnant des plans de plusieurs discours de Cicéron, en continuation d’un travail similaire d’Antonio </a:t>
            </a:r>
            <a:r>
              <a:rPr lang="fr-FR" dirty="0" err="1"/>
              <a:t>Loschi</a:t>
            </a:r>
            <a:r>
              <a:rPr lang="fr-FR" dirty="0" smtClean="0"/>
              <a:t>.</a:t>
            </a:r>
          </a:p>
        </p:txBody>
      </p:sp>
    </p:spTree>
    <p:extLst>
      <p:ext uri="{BB962C8B-B14F-4D97-AF65-F5344CB8AC3E}">
        <p14:creationId xmlns:p14="http://schemas.microsoft.com/office/powerpoint/2010/main" val="366946113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SICCO POLENTON</a:t>
            </a:r>
            <a:br>
              <a:rPr lang="fr-FR" dirty="0" smtClean="0"/>
            </a:br>
            <a:r>
              <a:rPr lang="fr-FR" dirty="0" smtClean="0"/>
              <a:t>Formation et ouvrages</a:t>
            </a:r>
            <a:endParaRPr lang="fr-FR" dirty="0"/>
          </a:p>
        </p:txBody>
      </p:sp>
      <p:sp>
        <p:nvSpPr>
          <p:cNvPr id="3" name="Content Placeholder 2"/>
          <p:cNvSpPr>
            <a:spLocks noGrp="1"/>
          </p:cNvSpPr>
          <p:nvPr>
            <p:ph idx="1"/>
          </p:nvPr>
        </p:nvSpPr>
        <p:spPr>
          <a:xfrm>
            <a:off x="581192" y="2180496"/>
            <a:ext cx="11029615" cy="4413735"/>
          </a:xfrm>
        </p:spPr>
        <p:txBody>
          <a:bodyPr/>
          <a:lstStyle/>
          <a:p>
            <a:pPr algn="just"/>
            <a:r>
              <a:rPr lang="fr-FR" dirty="0"/>
              <a:t>Son maître le plus éminent : Giovanni da </a:t>
            </a:r>
            <a:r>
              <a:rPr lang="fr-FR" dirty="0" err="1"/>
              <a:t>Ravenna</a:t>
            </a:r>
            <a:r>
              <a:rPr lang="fr-FR" dirty="0"/>
              <a:t>, qui enseigna à Padoue de 1392 à 1404.</a:t>
            </a:r>
          </a:p>
          <a:p>
            <a:pPr algn="just"/>
            <a:r>
              <a:rPr lang="fr-FR" dirty="0" smtClean="0"/>
              <a:t>Avant, récits </a:t>
            </a:r>
            <a:r>
              <a:rPr lang="fr-FR" dirty="0"/>
              <a:t>d’aventures de son père soldat lui </a:t>
            </a:r>
            <a:r>
              <a:rPr lang="fr-FR" dirty="0" smtClean="0"/>
              <a:t>donnent une </a:t>
            </a:r>
            <a:r>
              <a:rPr lang="fr-FR" dirty="0"/>
              <a:t>intense curiosité pour le monde et pour les hommes, qui fut un trait si important du mouvement </a:t>
            </a:r>
            <a:r>
              <a:rPr lang="fr-FR" dirty="0" smtClean="0"/>
              <a:t>humaniste.</a:t>
            </a:r>
          </a:p>
          <a:p>
            <a:pPr algn="just"/>
            <a:r>
              <a:rPr lang="fr-FR" dirty="0" smtClean="0"/>
              <a:t>Présence </a:t>
            </a:r>
            <a:r>
              <a:rPr lang="fr-FR" dirty="0"/>
              <a:t>à Padoue du cicéronien </a:t>
            </a:r>
            <a:r>
              <a:rPr lang="fr-FR" dirty="0" err="1"/>
              <a:t>Gasparino</a:t>
            </a:r>
            <a:r>
              <a:rPr lang="fr-FR" dirty="0"/>
              <a:t> </a:t>
            </a:r>
            <a:r>
              <a:rPr lang="fr-FR" dirty="0" err="1"/>
              <a:t>Barzizza</a:t>
            </a:r>
            <a:r>
              <a:rPr lang="fr-FR" dirty="0"/>
              <a:t>, que </a:t>
            </a:r>
            <a:r>
              <a:rPr lang="fr-FR" dirty="0" err="1"/>
              <a:t>Sicco</a:t>
            </a:r>
            <a:r>
              <a:rPr lang="fr-FR" dirty="0"/>
              <a:t> ait été ou non son élève, </a:t>
            </a:r>
            <a:r>
              <a:rPr lang="fr-FR" dirty="0" smtClean="0"/>
              <a:t>joue peut-être </a:t>
            </a:r>
            <a:r>
              <a:rPr lang="fr-FR" dirty="0"/>
              <a:t>un rôle dans la formation de ses </a:t>
            </a:r>
            <a:r>
              <a:rPr lang="fr-FR" dirty="0" smtClean="0"/>
              <a:t>intérêts.</a:t>
            </a:r>
          </a:p>
          <a:p>
            <a:pPr algn="just"/>
            <a:r>
              <a:rPr lang="fr-FR" dirty="0" smtClean="0"/>
              <a:t>Première </a:t>
            </a:r>
            <a:r>
              <a:rPr lang="fr-FR" dirty="0"/>
              <a:t>œuvre littéraire de </a:t>
            </a:r>
            <a:r>
              <a:rPr lang="fr-FR" dirty="0" err="1"/>
              <a:t>Sicco</a:t>
            </a:r>
            <a:r>
              <a:rPr lang="fr-FR" dirty="0"/>
              <a:t> ait été les </a:t>
            </a:r>
            <a:r>
              <a:rPr lang="fr-FR" i="1" dirty="0"/>
              <a:t>Argumenta</a:t>
            </a:r>
            <a:r>
              <a:rPr lang="fr-FR" dirty="0"/>
              <a:t>, une série de plans de certains discours de </a:t>
            </a:r>
            <a:r>
              <a:rPr lang="fr-FR" dirty="0" smtClean="0"/>
              <a:t>Cicéron.</a:t>
            </a:r>
          </a:p>
          <a:p>
            <a:pPr algn="just"/>
            <a:r>
              <a:rPr lang="fr-FR" dirty="0" smtClean="0"/>
              <a:t>En 1415, </a:t>
            </a:r>
            <a:r>
              <a:rPr lang="fr-FR" dirty="0" err="1"/>
              <a:t>Sicco</a:t>
            </a:r>
            <a:r>
              <a:rPr lang="fr-FR" dirty="0"/>
              <a:t> </a:t>
            </a:r>
            <a:r>
              <a:rPr lang="fr-FR" dirty="0" smtClean="0"/>
              <a:t>écrit le </a:t>
            </a:r>
            <a:r>
              <a:rPr lang="fr-FR" i="1" dirty="0"/>
              <a:t>De </a:t>
            </a:r>
            <a:r>
              <a:rPr lang="fr-FR" i="1" dirty="0" err="1"/>
              <a:t>ratione</a:t>
            </a:r>
            <a:r>
              <a:rPr lang="fr-FR" i="1" dirty="0"/>
              <a:t> </a:t>
            </a:r>
            <a:r>
              <a:rPr lang="fr-FR" i="1" dirty="0" err="1"/>
              <a:t>studendi</a:t>
            </a:r>
            <a:r>
              <a:rPr lang="fr-FR" dirty="0"/>
              <a:t>, </a:t>
            </a:r>
            <a:r>
              <a:rPr lang="fr-FR" dirty="0" smtClean="0"/>
              <a:t>un traité aujourd’hui </a:t>
            </a:r>
            <a:r>
              <a:rPr lang="fr-FR" dirty="0"/>
              <a:t>perdu. </a:t>
            </a:r>
            <a:endParaRPr lang="fr-FR" dirty="0" smtClean="0"/>
          </a:p>
          <a:p>
            <a:pPr algn="just"/>
            <a:r>
              <a:rPr lang="fr-FR" dirty="0" smtClean="0"/>
              <a:t>Vers </a:t>
            </a:r>
            <a:r>
              <a:rPr lang="fr-FR" dirty="0"/>
              <a:t>1419, </a:t>
            </a:r>
            <a:r>
              <a:rPr lang="fr-FR" dirty="0" smtClean="0"/>
              <a:t>il écrit une </a:t>
            </a:r>
            <a:r>
              <a:rPr lang="fr-FR" dirty="0"/>
              <a:t>comédie, la </a:t>
            </a:r>
            <a:r>
              <a:rPr lang="fr-FR" i="1" dirty="0" err="1"/>
              <a:t>Catinia</a:t>
            </a:r>
            <a:r>
              <a:rPr lang="fr-FR" dirty="0"/>
              <a:t>, célèbre pour être l’une des premières comédies latines de la Renaissance.</a:t>
            </a:r>
            <a:endParaRPr lang="fr-FR" dirty="0" smtClean="0"/>
          </a:p>
        </p:txBody>
      </p:sp>
    </p:spTree>
    <p:extLst>
      <p:ext uri="{BB962C8B-B14F-4D97-AF65-F5344CB8AC3E}">
        <p14:creationId xmlns:p14="http://schemas.microsoft.com/office/powerpoint/2010/main" val="17092515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smtClean="0"/>
              <a:t/>
            </a:r>
            <a:br>
              <a:rPr lang="fr-FR" dirty="0" smtClean="0"/>
            </a:br>
            <a:r>
              <a:rPr lang="fr-FR" dirty="0" smtClean="0"/>
              <a:t>généralités</a:t>
            </a:r>
            <a:endParaRPr lang="fr-FR" dirty="0"/>
          </a:p>
        </p:txBody>
      </p:sp>
      <p:sp>
        <p:nvSpPr>
          <p:cNvPr id="3" name="Content Placeholder 2"/>
          <p:cNvSpPr>
            <a:spLocks noGrp="1"/>
          </p:cNvSpPr>
          <p:nvPr>
            <p:ph idx="1"/>
          </p:nvPr>
        </p:nvSpPr>
        <p:spPr>
          <a:xfrm>
            <a:off x="581192" y="1715956"/>
            <a:ext cx="11029615" cy="4878275"/>
          </a:xfrm>
        </p:spPr>
        <p:txBody>
          <a:bodyPr>
            <a:normAutofit/>
          </a:bodyPr>
          <a:lstStyle/>
          <a:p>
            <a:pPr algn="just"/>
            <a:r>
              <a:rPr lang="fr-FR" dirty="0" smtClean="0"/>
              <a:t>18 livres. </a:t>
            </a:r>
            <a:r>
              <a:rPr lang="fr-FR" i="1" dirty="0" smtClean="0"/>
              <a:t>Magnum </a:t>
            </a:r>
            <a:r>
              <a:rPr lang="fr-FR" i="1" dirty="0"/>
              <a:t>opus</a:t>
            </a:r>
            <a:r>
              <a:rPr lang="fr-FR" dirty="0"/>
              <a:t>, </a:t>
            </a:r>
            <a:r>
              <a:rPr lang="fr-FR" dirty="0" smtClean="0"/>
              <a:t>pour laquelle il a rassemblé des matériaux des années durant. </a:t>
            </a:r>
          </a:p>
          <a:p>
            <a:pPr algn="just"/>
            <a:r>
              <a:rPr lang="fr-FR" dirty="0"/>
              <a:t>P</a:t>
            </a:r>
            <a:r>
              <a:rPr lang="fr-FR" dirty="0" smtClean="0"/>
              <a:t>remière </a:t>
            </a:r>
            <a:r>
              <a:rPr lang="fr-FR" dirty="0"/>
              <a:t>version de cette œuvre, moins complète que la forme définitive</a:t>
            </a:r>
            <a:r>
              <a:rPr lang="fr-FR" dirty="0" smtClean="0"/>
              <a:t>, </a:t>
            </a:r>
            <a:r>
              <a:rPr lang="fr-FR" dirty="0"/>
              <a:t>dans un unique manuscrit conservé à la bibliothèque </a:t>
            </a:r>
            <a:r>
              <a:rPr lang="fr-FR" dirty="0" err="1"/>
              <a:t>Riccardiana</a:t>
            </a:r>
            <a:r>
              <a:rPr lang="fr-FR" dirty="0"/>
              <a:t> de Florence. </a:t>
            </a:r>
            <a:r>
              <a:rPr lang="fr-FR" dirty="0" smtClean="0"/>
              <a:t>Travaille </a:t>
            </a:r>
            <a:r>
              <a:rPr lang="fr-FR" dirty="0"/>
              <a:t>à cette version jusqu’aux environs de </a:t>
            </a:r>
            <a:r>
              <a:rPr lang="fr-FR" dirty="0" smtClean="0"/>
              <a:t>1426.</a:t>
            </a:r>
          </a:p>
          <a:p>
            <a:pPr algn="just"/>
            <a:r>
              <a:rPr lang="fr-FR" dirty="0" smtClean="0"/>
              <a:t>Certains supposent </a:t>
            </a:r>
            <a:r>
              <a:rPr lang="fr-FR" dirty="0"/>
              <a:t>qu’il l’abandonna alors </a:t>
            </a:r>
            <a:r>
              <a:rPr lang="fr-FR" dirty="0" smtClean="0"/>
              <a:t>pour </a:t>
            </a:r>
            <a:r>
              <a:rPr lang="fr-FR" dirty="0"/>
              <a:t>recommencer entièrement avec une seconde </a:t>
            </a:r>
            <a:r>
              <a:rPr lang="fr-FR" dirty="0" smtClean="0"/>
              <a:t>version.</a:t>
            </a:r>
          </a:p>
          <a:p>
            <a:pPr algn="just"/>
            <a:r>
              <a:rPr lang="fr-FR" dirty="0" smtClean="0"/>
              <a:t>Autre interprétation : le </a:t>
            </a:r>
            <a:r>
              <a:rPr lang="fr-FR" dirty="0"/>
              <a:t>manuscrit de la </a:t>
            </a:r>
            <a:r>
              <a:rPr lang="fr-FR" dirty="0" err="1"/>
              <a:t>Riccardiana</a:t>
            </a:r>
            <a:r>
              <a:rPr lang="fr-FR" dirty="0"/>
              <a:t> n’a pas été écrit de la main de </a:t>
            </a:r>
            <a:r>
              <a:rPr lang="fr-FR" dirty="0" err="1" smtClean="0"/>
              <a:t>Sicco</a:t>
            </a:r>
            <a:r>
              <a:rPr lang="fr-FR" dirty="0" smtClean="0"/>
              <a:t>, et ne </a:t>
            </a:r>
            <a:r>
              <a:rPr lang="fr-FR" dirty="0"/>
              <a:t>contient aucune addition ni correction de sa main. </a:t>
            </a:r>
            <a:r>
              <a:rPr lang="fr-FR" dirty="0" smtClean="0"/>
              <a:t>Probable que </a:t>
            </a:r>
            <a:r>
              <a:rPr lang="fr-FR" dirty="0"/>
              <a:t>cette copie ait été réalisée pour l’un </a:t>
            </a:r>
            <a:r>
              <a:rPr lang="fr-FR" dirty="0" smtClean="0"/>
              <a:t>de ses amis, </a:t>
            </a:r>
            <a:r>
              <a:rPr lang="fr-FR" dirty="0"/>
              <a:t>avant que le livre ne </a:t>
            </a:r>
            <a:r>
              <a:rPr lang="fr-FR" dirty="0" smtClean="0"/>
              <a:t>soit </a:t>
            </a:r>
            <a:r>
              <a:rPr lang="fr-FR" dirty="0"/>
              <a:t>achevé et prêt à être publié. </a:t>
            </a:r>
            <a:r>
              <a:rPr lang="fr-FR" dirty="0" err="1"/>
              <a:t>Sicco</a:t>
            </a:r>
            <a:r>
              <a:rPr lang="fr-FR" dirty="0"/>
              <a:t> </a:t>
            </a:r>
            <a:r>
              <a:rPr lang="fr-FR" dirty="0" smtClean="0"/>
              <a:t>ajoute </a:t>
            </a:r>
            <a:r>
              <a:rPr lang="fr-FR" dirty="0"/>
              <a:t>et à </a:t>
            </a:r>
            <a:r>
              <a:rPr lang="fr-FR" dirty="0" smtClean="0"/>
              <a:t>corrige </a:t>
            </a:r>
            <a:r>
              <a:rPr lang="fr-FR" dirty="0"/>
              <a:t>son texte jusqu’à ce que l’ouvrage prenne sa forme définitive</a:t>
            </a:r>
            <a:r>
              <a:rPr lang="fr-FR" dirty="0" smtClean="0"/>
              <a:t>.</a:t>
            </a:r>
          </a:p>
          <a:p>
            <a:pPr algn="just"/>
            <a:r>
              <a:rPr lang="fr-FR" dirty="0"/>
              <a:t>La soi-disant seconde édition fut le travail de vingt-cinq années, comme </a:t>
            </a:r>
            <a:r>
              <a:rPr lang="fr-FR" dirty="0" err="1"/>
              <a:t>Sicco</a:t>
            </a:r>
            <a:r>
              <a:rPr lang="fr-FR" dirty="0"/>
              <a:t> nous l’apprend dans une lettre écrite en </a:t>
            </a:r>
            <a:r>
              <a:rPr lang="fr-FR" dirty="0" smtClean="0"/>
              <a:t>1437. L’idée d’écrire un tel ouvrage lui vint de Pétrarque et de Jérôme.</a:t>
            </a:r>
          </a:p>
        </p:txBody>
      </p:sp>
    </p:spTree>
    <p:extLst>
      <p:ext uri="{BB962C8B-B14F-4D97-AF65-F5344CB8AC3E}">
        <p14:creationId xmlns:p14="http://schemas.microsoft.com/office/powerpoint/2010/main" val="381975363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smtClean="0"/>
              <a:t/>
            </a:r>
            <a:br>
              <a:rPr lang="fr-FR" dirty="0" smtClean="0"/>
            </a:br>
            <a:r>
              <a:rPr lang="fr-FR" dirty="0" smtClean="0"/>
              <a:t>Précédents</a:t>
            </a:r>
            <a:endParaRPr lang="fr-FR" dirty="0"/>
          </a:p>
        </p:txBody>
      </p:sp>
      <p:sp>
        <p:nvSpPr>
          <p:cNvPr id="3" name="Content Placeholder 2"/>
          <p:cNvSpPr>
            <a:spLocks noGrp="1"/>
          </p:cNvSpPr>
          <p:nvPr>
            <p:ph idx="1"/>
          </p:nvPr>
        </p:nvSpPr>
        <p:spPr>
          <a:xfrm>
            <a:off x="581192" y="1715956"/>
            <a:ext cx="11029615" cy="4878275"/>
          </a:xfrm>
        </p:spPr>
        <p:txBody>
          <a:bodyPr>
            <a:normAutofit/>
          </a:bodyPr>
          <a:lstStyle/>
          <a:p>
            <a:pPr algn="just"/>
            <a:r>
              <a:rPr lang="fr-FR" dirty="0" smtClean="0"/>
              <a:t>Dans l’œuvre, il énumère ses prédécesseurs : les noms sont empruntés à la préface de Jérôme à son </a:t>
            </a:r>
            <a:r>
              <a:rPr lang="fr-FR" i="1" dirty="0" smtClean="0"/>
              <a:t>De </a:t>
            </a:r>
            <a:r>
              <a:rPr lang="fr-FR" i="1" dirty="0" err="1" smtClean="0"/>
              <a:t>Viris</a:t>
            </a:r>
            <a:r>
              <a:rPr lang="fr-FR" i="1" dirty="0" smtClean="0"/>
              <a:t> </a:t>
            </a:r>
            <a:r>
              <a:rPr lang="fr-FR" i="1" dirty="0" err="1" smtClean="0"/>
              <a:t>Illustribus</a:t>
            </a:r>
            <a:r>
              <a:rPr lang="fr-FR" dirty="0" smtClean="0"/>
              <a:t>, à l’exception de Pomponius Rufus, de Pétrarque, de </a:t>
            </a:r>
            <a:r>
              <a:rPr lang="fr-FR" dirty="0" err="1" smtClean="0"/>
              <a:t>Gennadius</a:t>
            </a:r>
            <a:r>
              <a:rPr lang="fr-FR" dirty="0" smtClean="0"/>
              <a:t> et d’Isidore. Ces deux derniers sont mentionnés pour leurs biographies d’écrivains chrétiens, aux côtés de Jérôme, dont ils poursuivirent l’œuvre. </a:t>
            </a:r>
            <a:r>
              <a:rPr lang="fr-FR" dirty="0" err="1" smtClean="0"/>
              <a:t>Sicco</a:t>
            </a:r>
            <a:r>
              <a:rPr lang="fr-FR" dirty="0" smtClean="0"/>
              <a:t> trouva le nom de Pomponius Rufus chez Valère Maxime (IV, 4, préface).</a:t>
            </a:r>
          </a:p>
          <a:p>
            <a:pPr algn="just"/>
            <a:r>
              <a:rPr lang="fr-FR" dirty="0"/>
              <a:t>Il doit cependant très peu à ces </a:t>
            </a:r>
            <a:r>
              <a:rPr lang="fr-FR" dirty="0" smtClean="0"/>
              <a:t>prédécesseurs. Ne </a:t>
            </a:r>
            <a:r>
              <a:rPr lang="fr-FR" dirty="0"/>
              <a:t>doit pratiquement rien au </a:t>
            </a:r>
            <a:r>
              <a:rPr lang="fr-FR" i="1" dirty="0"/>
              <a:t>De </a:t>
            </a:r>
            <a:r>
              <a:rPr lang="fr-FR" i="1" dirty="0" err="1"/>
              <a:t>Viris</a:t>
            </a:r>
            <a:r>
              <a:rPr lang="fr-FR" i="1" dirty="0"/>
              <a:t> </a:t>
            </a:r>
            <a:r>
              <a:rPr lang="fr-FR" i="1" dirty="0" err="1"/>
              <a:t>Illustribus</a:t>
            </a:r>
            <a:r>
              <a:rPr lang="fr-FR" dirty="0"/>
              <a:t> de Pétrarque. En revanche, </a:t>
            </a:r>
            <a:r>
              <a:rPr lang="fr-FR" dirty="0" smtClean="0"/>
              <a:t>certain </a:t>
            </a:r>
            <a:r>
              <a:rPr lang="fr-FR" dirty="0"/>
              <a:t>usage des </a:t>
            </a:r>
            <a:r>
              <a:rPr lang="fr-FR" i="1" dirty="0" err="1"/>
              <a:t>Rerum</a:t>
            </a:r>
            <a:r>
              <a:rPr lang="fr-FR" i="1" dirty="0"/>
              <a:t> </a:t>
            </a:r>
            <a:r>
              <a:rPr lang="fr-FR" i="1" dirty="0" err="1"/>
              <a:t>Memorandarum</a:t>
            </a:r>
            <a:r>
              <a:rPr lang="fr-FR" i="1" dirty="0"/>
              <a:t> </a:t>
            </a:r>
            <a:r>
              <a:rPr lang="fr-FR" i="1" dirty="0" err="1"/>
              <a:t>Libri</a:t>
            </a:r>
            <a:r>
              <a:rPr lang="fr-FR" dirty="0"/>
              <a:t> du même </a:t>
            </a:r>
            <a:r>
              <a:rPr lang="fr-FR" dirty="0" smtClean="0"/>
              <a:t>auteur.</a:t>
            </a:r>
          </a:p>
          <a:p>
            <a:pPr algn="just"/>
            <a:r>
              <a:rPr lang="fr-FR" dirty="0" smtClean="0"/>
              <a:t>L’œuvre </a:t>
            </a:r>
            <a:r>
              <a:rPr lang="fr-FR" dirty="0"/>
              <a:t>de </a:t>
            </a:r>
            <a:r>
              <a:rPr lang="fr-FR" dirty="0" err="1"/>
              <a:t>Sicco</a:t>
            </a:r>
            <a:r>
              <a:rPr lang="fr-FR" dirty="0"/>
              <a:t> semble être la première histoire moderne de la littérature </a:t>
            </a:r>
            <a:r>
              <a:rPr lang="fr-FR" dirty="0" smtClean="0"/>
              <a:t>romaine.</a:t>
            </a:r>
          </a:p>
          <a:p>
            <a:pPr algn="just"/>
            <a:r>
              <a:rPr lang="fr-FR" dirty="0" smtClean="0"/>
              <a:t>Filippo Villani (</a:t>
            </a:r>
            <a:r>
              <a:rPr lang="la-Latn" i="1" dirty="0"/>
              <a:t>Liber de origine civitatis Florentiae et eiusdem famosis </a:t>
            </a:r>
            <a:r>
              <a:rPr lang="la-Latn" i="1" dirty="0" smtClean="0"/>
              <a:t>civibus</a:t>
            </a:r>
            <a:r>
              <a:rPr lang="fr-FR" i="1" dirty="0" smtClean="0"/>
              <a:t>)</a:t>
            </a:r>
            <a:r>
              <a:rPr lang="fr-FR" dirty="0" smtClean="0"/>
              <a:t> </a:t>
            </a:r>
            <a:r>
              <a:rPr lang="fr-FR" dirty="0"/>
              <a:t>et Domenico </a:t>
            </a:r>
            <a:r>
              <a:rPr lang="fr-FR" dirty="0" smtClean="0"/>
              <a:t>d’Arezzo (</a:t>
            </a:r>
            <a:r>
              <a:rPr lang="fr-FR" i="1" dirty="0"/>
              <a:t>Fons </a:t>
            </a:r>
            <a:r>
              <a:rPr lang="fr-FR" i="1" dirty="0" err="1"/>
              <a:t>memorabilium</a:t>
            </a:r>
            <a:r>
              <a:rPr lang="fr-FR" i="1" dirty="0"/>
              <a:t> </a:t>
            </a:r>
            <a:r>
              <a:rPr lang="fr-FR" i="1" dirty="0" err="1" smtClean="0"/>
              <a:t>universi</a:t>
            </a:r>
            <a:r>
              <a:rPr lang="fr-FR" dirty="0" smtClean="0"/>
              <a:t>), mais leurs </a:t>
            </a:r>
            <a:r>
              <a:rPr lang="fr-FR" dirty="0"/>
              <a:t>travaux n’étaient en rien comparables à celui de </a:t>
            </a:r>
            <a:r>
              <a:rPr lang="fr-FR" dirty="0" err="1"/>
              <a:t>Sicco</a:t>
            </a:r>
            <a:r>
              <a:rPr lang="fr-FR" dirty="0"/>
              <a:t>.</a:t>
            </a:r>
            <a:endParaRPr lang="fr-FR" dirty="0" smtClean="0"/>
          </a:p>
        </p:txBody>
      </p:sp>
    </p:spTree>
    <p:extLst>
      <p:ext uri="{BB962C8B-B14F-4D97-AF65-F5344CB8AC3E}">
        <p14:creationId xmlns:p14="http://schemas.microsoft.com/office/powerpoint/2010/main" val="13337360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smtClean="0"/>
              <a:t/>
            </a:r>
            <a:br>
              <a:rPr lang="fr-FR" dirty="0" smtClean="0"/>
            </a:br>
            <a:r>
              <a:rPr lang="fr-FR" dirty="0" smtClean="0"/>
              <a:t>Légende</a:t>
            </a:r>
            <a:endParaRPr lang="fr-FR" dirty="0"/>
          </a:p>
        </p:txBody>
      </p:sp>
      <p:sp>
        <p:nvSpPr>
          <p:cNvPr id="3" name="Content Placeholder 2"/>
          <p:cNvSpPr>
            <a:spLocks noGrp="1"/>
          </p:cNvSpPr>
          <p:nvPr>
            <p:ph idx="1"/>
          </p:nvPr>
        </p:nvSpPr>
        <p:spPr>
          <a:xfrm>
            <a:off x="581192" y="1715956"/>
            <a:ext cx="11029615" cy="4878275"/>
          </a:xfrm>
        </p:spPr>
        <p:txBody>
          <a:bodyPr>
            <a:normAutofit/>
          </a:bodyPr>
          <a:lstStyle/>
          <a:p>
            <a:pPr algn="just"/>
            <a:r>
              <a:rPr lang="fr-FR" dirty="0" smtClean="0"/>
              <a:t>Légende </a:t>
            </a:r>
            <a:r>
              <a:rPr lang="fr-FR" dirty="0"/>
              <a:t>selon laquelle </a:t>
            </a:r>
            <a:r>
              <a:rPr lang="fr-FR" dirty="0" err="1"/>
              <a:t>Sicco</a:t>
            </a:r>
            <a:r>
              <a:rPr lang="fr-FR" dirty="0"/>
              <a:t> aurait mis la main sur l’unique exemplaire existant du </a:t>
            </a:r>
            <a:r>
              <a:rPr lang="fr-FR" i="1" dirty="0"/>
              <a:t>De </a:t>
            </a:r>
            <a:r>
              <a:rPr lang="fr-FR" i="1" dirty="0" err="1"/>
              <a:t>Viris</a:t>
            </a:r>
            <a:r>
              <a:rPr lang="fr-FR" i="1" dirty="0"/>
              <a:t> </a:t>
            </a:r>
            <a:r>
              <a:rPr lang="fr-FR" i="1" dirty="0" err="1"/>
              <a:t>Illustribus</a:t>
            </a:r>
            <a:r>
              <a:rPr lang="fr-FR" dirty="0"/>
              <a:t> de </a:t>
            </a:r>
            <a:r>
              <a:rPr lang="fr-FR" dirty="0" smtClean="0"/>
              <a:t>Suétone.</a:t>
            </a:r>
          </a:p>
          <a:p>
            <a:pPr algn="just"/>
            <a:r>
              <a:rPr lang="fr-FR" dirty="0" smtClean="0"/>
              <a:t>Après </a:t>
            </a:r>
            <a:r>
              <a:rPr lang="fr-FR" dirty="0"/>
              <a:t>en avoir copié tout ce dont il avait </a:t>
            </a:r>
            <a:r>
              <a:rPr lang="fr-FR" dirty="0" smtClean="0"/>
              <a:t>besoin, </a:t>
            </a:r>
            <a:r>
              <a:rPr lang="fr-FR" dirty="0"/>
              <a:t>il l’aurait détruit afin d’empêcher qu’on ne découvre le plagiat et de se mettre à l’abri de toute </a:t>
            </a:r>
            <a:r>
              <a:rPr lang="fr-FR" dirty="0" smtClean="0"/>
              <a:t>concurrence.</a:t>
            </a:r>
          </a:p>
          <a:p>
            <a:pPr algn="just"/>
            <a:r>
              <a:rPr lang="fr-FR" dirty="0" err="1" smtClean="0"/>
              <a:t>Reifferscheid</a:t>
            </a:r>
            <a:r>
              <a:rPr lang="fr-FR" dirty="0" smtClean="0"/>
              <a:t> a démontré </a:t>
            </a:r>
            <a:r>
              <a:rPr lang="fr-FR" dirty="0"/>
              <a:t>que cette histoire, généralement </a:t>
            </a:r>
            <a:r>
              <a:rPr lang="fr-FR" dirty="0" smtClean="0"/>
              <a:t>attribuée </a:t>
            </a:r>
            <a:r>
              <a:rPr lang="fr-FR" dirty="0"/>
              <a:t>à </a:t>
            </a:r>
            <a:r>
              <a:rPr lang="fr-FR" dirty="0" smtClean="0"/>
              <a:t>Pontano (à tort), </a:t>
            </a:r>
            <a:r>
              <a:rPr lang="fr-FR" dirty="0"/>
              <a:t>est </a:t>
            </a:r>
            <a:r>
              <a:rPr lang="fr-FR" dirty="0" smtClean="0"/>
              <a:t>fausse.</a:t>
            </a:r>
          </a:p>
        </p:txBody>
      </p:sp>
    </p:spTree>
    <p:extLst>
      <p:ext uri="{BB962C8B-B14F-4D97-AF65-F5344CB8AC3E}">
        <p14:creationId xmlns:p14="http://schemas.microsoft.com/office/powerpoint/2010/main" val="31786483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smtClean="0"/>
              <a:t/>
            </a:r>
            <a:br>
              <a:rPr lang="fr-FR" dirty="0" smtClean="0"/>
            </a:br>
            <a:r>
              <a:rPr lang="fr-FR" dirty="0" smtClean="0"/>
              <a:t>contenu</a:t>
            </a:r>
            <a:endParaRPr lang="fr-FR" dirty="0"/>
          </a:p>
        </p:txBody>
      </p:sp>
      <p:sp>
        <p:nvSpPr>
          <p:cNvPr id="3" name="Content Placeholder 2"/>
          <p:cNvSpPr>
            <a:spLocks noGrp="1"/>
          </p:cNvSpPr>
          <p:nvPr>
            <p:ph idx="1"/>
          </p:nvPr>
        </p:nvSpPr>
        <p:spPr>
          <a:xfrm>
            <a:off x="581192" y="1715956"/>
            <a:ext cx="11029615" cy="4878275"/>
          </a:xfrm>
        </p:spPr>
        <p:txBody>
          <a:bodyPr>
            <a:normAutofit/>
          </a:bodyPr>
          <a:lstStyle/>
          <a:p>
            <a:pPr algn="just"/>
            <a:r>
              <a:rPr lang="fr-FR" dirty="0" smtClean="0"/>
              <a:t>Divisé </a:t>
            </a:r>
            <a:r>
              <a:rPr lang="fr-FR" dirty="0"/>
              <a:t>en dix-huit </a:t>
            </a:r>
            <a:r>
              <a:rPr lang="fr-FR" dirty="0" smtClean="0"/>
              <a:t>livres.</a:t>
            </a:r>
          </a:p>
          <a:p>
            <a:pPr algn="just"/>
            <a:r>
              <a:rPr lang="fr-FR" dirty="0" smtClean="0"/>
              <a:t>Avant </a:t>
            </a:r>
            <a:r>
              <a:rPr lang="fr-FR" dirty="0"/>
              <a:t>le premier se trouve un index des auteurs traités, où figurent plus de cent noms, parmi lesquels quelques écrivains médiévaux et certains premiers </a:t>
            </a:r>
            <a:r>
              <a:rPr lang="fr-FR" dirty="0" smtClean="0"/>
              <a:t>humanistes.</a:t>
            </a:r>
          </a:p>
          <a:p>
            <a:pPr algn="just"/>
            <a:r>
              <a:rPr lang="fr-FR" dirty="0" smtClean="0"/>
              <a:t>Les </a:t>
            </a:r>
            <a:r>
              <a:rPr lang="fr-FR" dirty="0"/>
              <a:t>auteurs vivants n’y sont pas inclus ; </a:t>
            </a:r>
            <a:r>
              <a:rPr lang="fr-FR" dirty="0" err="1"/>
              <a:t>Sicco</a:t>
            </a:r>
            <a:r>
              <a:rPr lang="fr-FR" dirty="0"/>
              <a:t> appelle cet index une </a:t>
            </a:r>
            <a:r>
              <a:rPr lang="fr-FR" i="1" dirty="0" smtClean="0"/>
              <a:t>épitomé (</a:t>
            </a:r>
            <a:r>
              <a:rPr lang="fr-FR" dirty="0"/>
              <a:t>Abrégé d'histoire </a:t>
            </a:r>
            <a:r>
              <a:rPr lang="fr-FR" dirty="0" smtClean="0"/>
              <a:t>antique), </a:t>
            </a:r>
            <a:r>
              <a:rPr lang="fr-FR" dirty="0"/>
              <a:t>ce qui a induit certains en erreur en leur faisant attribuer ce titre à l’ensemble de </a:t>
            </a:r>
            <a:r>
              <a:rPr lang="fr-FR" dirty="0" smtClean="0"/>
              <a:t>l’ouvrage.</a:t>
            </a:r>
          </a:p>
        </p:txBody>
      </p:sp>
    </p:spTree>
    <p:extLst>
      <p:ext uri="{BB962C8B-B14F-4D97-AF65-F5344CB8AC3E}">
        <p14:creationId xmlns:p14="http://schemas.microsoft.com/office/powerpoint/2010/main" val="9517552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smtClean="0"/>
              <a:t/>
            </a:r>
            <a:br>
              <a:rPr lang="fr-FR" dirty="0" smtClean="0"/>
            </a:br>
            <a:r>
              <a:rPr lang="fr-FR" dirty="0" smtClean="0"/>
              <a:t>contenu</a:t>
            </a:r>
            <a:endParaRPr lang="fr-FR" dirty="0"/>
          </a:p>
        </p:txBody>
      </p:sp>
      <p:sp>
        <p:nvSpPr>
          <p:cNvPr id="3" name="Content Placeholder 2"/>
          <p:cNvSpPr>
            <a:spLocks noGrp="1"/>
          </p:cNvSpPr>
          <p:nvPr>
            <p:ph idx="1"/>
          </p:nvPr>
        </p:nvSpPr>
        <p:spPr>
          <a:xfrm>
            <a:off x="581192" y="1715956"/>
            <a:ext cx="11029615" cy="4878275"/>
          </a:xfrm>
        </p:spPr>
        <p:txBody>
          <a:bodyPr>
            <a:normAutofit/>
          </a:bodyPr>
          <a:lstStyle/>
          <a:p>
            <a:pPr algn="just"/>
            <a:r>
              <a:rPr lang="fr-FR" dirty="0"/>
              <a:t>Le livre I traite de l’origine de l’alphabet et des arts et des </a:t>
            </a:r>
            <a:r>
              <a:rPr lang="fr-FR" dirty="0" smtClean="0"/>
              <a:t>sciences</a:t>
            </a:r>
          </a:p>
          <a:p>
            <a:pPr algn="just"/>
            <a:r>
              <a:rPr lang="fr-FR" dirty="0" smtClean="0"/>
              <a:t>Les </a:t>
            </a:r>
            <a:r>
              <a:rPr lang="fr-FR" dirty="0"/>
              <a:t>livres II à IV sont consacrés aux poètes romains, de </a:t>
            </a:r>
            <a:r>
              <a:rPr lang="fr-FR" dirty="0" err="1"/>
              <a:t>Livius</a:t>
            </a:r>
            <a:r>
              <a:rPr lang="fr-FR" dirty="0"/>
              <a:t> </a:t>
            </a:r>
            <a:r>
              <a:rPr lang="fr-FR" dirty="0" err="1"/>
              <a:t>Andronicus</a:t>
            </a:r>
            <a:r>
              <a:rPr lang="fr-FR" dirty="0"/>
              <a:t> à </a:t>
            </a:r>
            <a:r>
              <a:rPr lang="fr-FR" dirty="0" smtClean="0"/>
              <a:t>Pétrarque</a:t>
            </a:r>
          </a:p>
          <a:p>
            <a:pPr algn="just"/>
            <a:r>
              <a:rPr lang="fr-FR" dirty="0" smtClean="0"/>
              <a:t>Les </a:t>
            </a:r>
            <a:r>
              <a:rPr lang="fr-FR" dirty="0"/>
              <a:t>livres V à VIII portent sur les </a:t>
            </a:r>
            <a:r>
              <a:rPr lang="fr-FR" dirty="0" smtClean="0"/>
              <a:t>historiens</a:t>
            </a:r>
          </a:p>
          <a:p>
            <a:pPr algn="just"/>
            <a:r>
              <a:rPr lang="fr-FR" dirty="0" smtClean="0"/>
              <a:t>Le </a:t>
            </a:r>
            <a:r>
              <a:rPr lang="fr-FR" dirty="0"/>
              <a:t>livre IX ouvre le sujet de l’éloquence et traite de Caton et de </a:t>
            </a:r>
            <a:r>
              <a:rPr lang="fr-FR" dirty="0" smtClean="0"/>
              <a:t>Varron</a:t>
            </a:r>
          </a:p>
          <a:p>
            <a:pPr algn="just"/>
            <a:r>
              <a:rPr lang="fr-FR" dirty="0"/>
              <a:t>L</a:t>
            </a:r>
            <a:r>
              <a:rPr lang="fr-FR" dirty="0" smtClean="0"/>
              <a:t>es </a:t>
            </a:r>
            <a:r>
              <a:rPr lang="fr-FR" dirty="0"/>
              <a:t>livres X à XVI sont consacrés à Cicéron — sept livres, car, comme le dit </a:t>
            </a:r>
            <a:r>
              <a:rPr lang="fr-FR" dirty="0" err="1"/>
              <a:t>Sicco</a:t>
            </a:r>
            <a:r>
              <a:rPr lang="fr-FR" dirty="0"/>
              <a:t>, </a:t>
            </a:r>
            <a:r>
              <a:rPr lang="fr-FR" i="1" dirty="0"/>
              <a:t>magna </a:t>
            </a:r>
            <a:r>
              <a:rPr lang="fr-FR" i="1" dirty="0" err="1"/>
              <a:t>res</a:t>
            </a:r>
            <a:r>
              <a:rPr lang="fr-FR" i="1" dirty="0"/>
              <a:t> est </a:t>
            </a:r>
            <a:r>
              <a:rPr lang="fr-FR" i="1" dirty="0" smtClean="0"/>
              <a:t>Cicero</a:t>
            </a:r>
            <a:endParaRPr lang="fr-FR" dirty="0" smtClean="0"/>
          </a:p>
          <a:p>
            <a:pPr algn="just"/>
            <a:r>
              <a:rPr lang="fr-FR" dirty="0" smtClean="0"/>
              <a:t>Le </a:t>
            </a:r>
            <a:r>
              <a:rPr lang="fr-FR" dirty="0"/>
              <a:t>livre XVII traite de </a:t>
            </a:r>
            <a:r>
              <a:rPr lang="fr-FR" dirty="0" smtClean="0"/>
              <a:t>Sénèque</a:t>
            </a:r>
          </a:p>
          <a:p>
            <a:pPr algn="just"/>
            <a:r>
              <a:rPr lang="fr-FR" dirty="0"/>
              <a:t>L</a:t>
            </a:r>
            <a:r>
              <a:rPr lang="fr-FR" dirty="0" smtClean="0"/>
              <a:t>e </a:t>
            </a:r>
            <a:r>
              <a:rPr lang="fr-FR" dirty="0"/>
              <a:t>livre XVIII réunit un certain nombre d’auteurs mineurs sur des sujets divers.</a:t>
            </a:r>
            <a:endParaRPr lang="fr-FR" dirty="0" smtClean="0"/>
          </a:p>
        </p:txBody>
      </p:sp>
    </p:spTree>
    <p:extLst>
      <p:ext uri="{BB962C8B-B14F-4D97-AF65-F5344CB8AC3E}">
        <p14:creationId xmlns:p14="http://schemas.microsoft.com/office/powerpoint/2010/main" val="7240630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smtClean="0"/>
              <a:t/>
            </a:r>
            <a:br>
              <a:rPr lang="fr-FR" dirty="0" smtClean="0"/>
            </a:br>
            <a:r>
              <a:rPr lang="fr-FR" dirty="0" smtClean="0"/>
              <a:t>irrégularités du plan</a:t>
            </a:r>
            <a:endParaRPr lang="fr-FR" dirty="0"/>
          </a:p>
        </p:txBody>
      </p:sp>
      <p:sp>
        <p:nvSpPr>
          <p:cNvPr id="3" name="Content Placeholder 2"/>
          <p:cNvSpPr>
            <a:spLocks noGrp="1"/>
          </p:cNvSpPr>
          <p:nvPr>
            <p:ph idx="1"/>
          </p:nvPr>
        </p:nvSpPr>
        <p:spPr>
          <a:xfrm>
            <a:off x="581192" y="1715956"/>
            <a:ext cx="11029615" cy="4878275"/>
          </a:xfrm>
        </p:spPr>
        <p:txBody>
          <a:bodyPr>
            <a:normAutofit/>
          </a:bodyPr>
          <a:lstStyle/>
          <a:p>
            <a:pPr algn="just"/>
            <a:r>
              <a:rPr lang="fr-FR" dirty="0" smtClean="0"/>
              <a:t>Plan </a:t>
            </a:r>
            <a:r>
              <a:rPr lang="fr-FR" dirty="0"/>
              <a:t>de l’ouvrage </a:t>
            </a:r>
            <a:r>
              <a:rPr lang="fr-FR" dirty="0" smtClean="0"/>
              <a:t>irrégulier, semble avoir été modifié à </a:t>
            </a:r>
            <a:r>
              <a:rPr lang="fr-FR" dirty="0"/>
              <a:t>plusieurs reprises. </a:t>
            </a:r>
            <a:r>
              <a:rPr lang="fr-FR" dirty="0" smtClean="0"/>
              <a:t>Par exemple, le </a:t>
            </a:r>
            <a:r>
              <a:rPr lang="fr-FR" dirty="0"/>
              <a:t>livre VI de la première version </a:t>
            </a:r>
            <a:r>
              <a:rPr lang="fr-FR" dirty="0" smtClean="0"/>
              <a:t>devient </a:t>
            </a:r>
            <a:r>
              <a:rPr lang="fr-FR" dirty="0"/>
              <a:t>les livres VI et VII </a:t>
            </a:r>
            <a:r>
              <a:rPr lang="fr-FR" dirty="0" smtClean="0"/>
              <a:t>dans </a:t>
            </a:r>
            <a:r>
              <a:rPr lang="fr-FR" dirty="0"/>
              <a:t>la seconde. </a:t>
            </a:r>
            <a:r>
              <a:rPr lang="fr-FR" dirty="0" err="1" smtClean="0"/>
              <a:t>Aurélius</a:t>
            </a:r>
            <a:r>
              <a:rPr lang="fr-FR" dirty="0" smtClean="0"/>
              <a:t> </a:t>
            </a:r>
            <a:r>
              <a:rPr lang="fr-FR" dirty="0"/>
              <a:t>Victor est traité au livre VII, mais l’« Épitomé » renvoie à tort au livre </a:t>
            </a:r>
            <a:r>
              <a:rPr lang="fr-FR" dirty="0" smtClean="0"/>
              <a:t>VIII (ce qui n’est a priori pas une erreur de copie).</a:t>
            </a:r>
          </a:p>
          <a:p>
            <a:pPr algn="just"/>
            <a:r>
              <a:rPr lang="fr-FR" dirty="0" smtClean="0"/>
              <a:t>Préface du </a:t>
            </a:r>
            <a:r>
              <a:rPr lang="fr-FR" dirty="0"/>
              <a:t>livre </a:t>
            </a:r>
            <a:r>
              <a:rPr lang="fr-FR" dirty="0" smtClean="0"/>
              <a:t>X : </a:t>
            </a:r>
            <a:r>
              <a:rPr lang="fr-FR" dirty="0" err="1" smtClean="0"/>
              <a:t>Sicco</a:t>
            </a:r>
            <a:r>
              <a:rPr lang="fr-FR" dirty="0" smtClean="0"/>
              <a:t> </a:t>
            </a:r>
            <a:r>
              <a:rPr lang="fr-FR" dirty="0"/>
              <a:t>déclare qu’il n’avait pas prévu d’inclure une vie de </a:t>
            </a:r>
            <a:r>
              <a:rPr lang="fr-FR" dirty="0" smtClean="0"/>
              <a:t>Cicéron, </a:t>
            </a:r>
            <a:r>
              <a:rPr lang="fr-FR" dirty="0"/>
              <a:t>fort bien écrite peu auparavant par Leonardo </a:t>
            </a:r>
            <a:r>
              <a:rPr lang="fr-FR" dirty="0" smtClean="0"/>
              <a:t>Bruni. Il cède aux </a:t>
            </a:r>
            <a:r>
              <a:rPr lang="fr-FR" dirty="0"/>
              <a:t>instances de son fils Lazzaro et de certains amis</a:t>
            </a:r>
            <a:r>
              <a:rPr lang="fr-FR" dirty="0" smtClean="0"/>
              <a:t>.</a:t>
            </a:r>
          </a:p>
          <a:p>
            <a:pPr algn="just"/>
            <a:r>
              <a:rPr lang="fr-FR" dirty="0" smtClean="0"/>
              <a:t>Traite </a:t>
            </a:r>
            <a:r>
              <a:rPr lang="fr-FR" dirty="0"/>
              <a:t>brièvement de l’origine de l’éloquence dans l’introduction générale aux arts du livre I, puis affirme que l’étude de l’histoire et de la poésie devrait logiquement venir </a:t>
            </a:r>
            <a:r>
              <a:rPr lang="fr-FR" dirty="0" smtClean="0"/>
              <a:t>ensuite, </a:t>
            </a:r>
            <a:r>
              <a:rPr lang="fr-FR" dirty="0"/>
              <a:t>mais qu’il en différera l’examen jusqu’à ce qu’il aborde les écrivains </a:t>
            </a:r>
            <a:r>
              <a:rPr lang="fr-FR" dirty="0" smtClean="0"/>
              <a:t>eux-mêmes.</a:t>
            </a:r>
          </a:p>
          <a:p>
            <a:pPr algn="just"/>
            <a:r>
              <a:rPr lang="fr-FR" dirty="0" smtClean="0"/>
              <a:t>À </a:t>
            </a:r>
            <a:r>
              <a:rPr lang="fr-FR" dirty="0"/>
              <a:t>la fin du livre XVII, il parle des « livres suivants », mais un seul fut écrit. Même le livre XVIII ne semble pas avoir été achevé. Le dernier auteur, Isidore, est traité très brièvement, et la dernière phrase est incomplète. Il est probable que </a:t>
            </a:r>
            <a:r>
              <a:rPr lang="fr-FR" dirty="0" err="1"/>
              <a:t>Sicco</a:t>
            </a:r>
            <a:r>
              <a:rPr lang="fr-FR" dirty="0"/>
              <a:t> avait l’intention de dire quelque chose sur les </a:t>
            </a:r>
            <a:r>
              <a:rPr lang="fr-FR" i="1" dirty="0"/>
              <a:t>Étymologies</a:t>
            </a:r>
            <a:r>
              <a:rPr lang="fr-FR" dirty="0"/>
              <a:t>, qu’il cite à plusieurs reprises. Appelé ailleurs, il oublia apparemment que sa dernière phrase manquait d’un verbe.</a:t>
            </a:r>
            <a:endParaRPr lang="fr-FR" dirty="0" smtClean="0"/>
          </a:p>
        </p:txBody>
      </p:sp>
    </p:spTree>
    <p:extLst>
      <p:ext uri="{BB962C8B-B14F-4D97-AF65-F5344CB8AC3E}">
        <p14:creationId xmlns:p14="http://schemas.microsoft.com/office/powerpoint/2010/main" val="32992452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a:t>Libri</a:t>
            </a:r>
            <a:endParaRPr lang="fr-FR" dirty="0"/>
          </a:p>
        </p:txBody>
      </p:sp>
      <p:sp>
        <p:nvSpPr>
          <p:cNvPr id="3" name="Content Placeholder 2"/>
          <p:cNvSpPr>
            <a:spLocks noGrp="1"/>
          </p:cNvSpPr>
          <p:nvPr>
            <p:ph idx="1"/>
          </p:nvPr>
        </p:nvSpPr>
        <p:spPr>
          <a:xfrm>
            <a:off x="581192" y="1855177"/>
            <a:ext cx="11029615" cy="4739054"/>
          </a:xfrm>
        </p:spPr>
        <p:txBody>
          <a:bodyPr>
            <a:normAutofit fontScale="92500" lnSpcReduction="20000"/>
          </a:bodyPr>
          <a:lstStyle/>
          <a:p>
            <a:pPr algn="just"/>
            <a:r>
              <a:rPr lang="fr-FR" dirty="0" smtClean="0"/>
              <a:t>Plan </a:t>
            </a:r>
            <a:r>
              <a:rPr lang="fr-FR" dirty="0"/>
              <a:t>de l’ouvrage </a:t>
            </a:r>
            <a:r>
              <a:rPr lang="fr-FR" dirty="0" smtClean="0"/>
              <a:t>irrégulier, semble avoir été modifié à </a:t>
            </a:r>
            <a:r>
              <a:rPr lang="fr-FR" dirty="0"/>
              <a:t>plusieurs reprises. </a:t>
            </a:r>
            <a:r>
              <a:rPr lang="fr-FR" dirty="0" smtClean="0"/>
              <a:t>Par exemple, le </a:t>
            </a:r>
            <a:r>
              <a:rPr lang="fr-FR" dirty="0"/>
              <a:t>livre VI de la première version </a:t>
            </a:r>
            <a:r>
              <a:rPr lang="fr-FR" dirty="0" smtClean="0"/>
              <a:t>devient </a:t>
            </a:r>
            <a:r>
              <a:rPr lang="fr-FR" dirty="0"/>
              <a:t>les livres VI et VII </a:t>
            </a:r>
            <a:r>
              <a:rPr lang="fr-FR" dirty="0" smtClean="0"/>
              <a:t>dans </a:t>
            </a:r>
            <a:r>
              <a:rPr lang="fr-FR" dirty="0"/>
              <a:t>la seconde. </a:t>
            </a:r>
            <a:r>
              <a:rPr lang="fr-FR" dirty="0" err="1" smtClean="0"/>
              <a:t>Aurélius</a:t>
            </a:r>
            <a:r>
              <a:rPr lang="fr-FR" dirty="0" smtClean="0"/>
              <a:t> </a:t>
            </a:r>
            <a:r>
              <a:rPr lang="fr-FR" dirty="0"/>
              <a:t>Victor est traité au livre VII, mais l’« Épitomé » renvoie à tort au livre </a:t>
            </a:r>
            <a:r>
              <a:rPr lang="fr-FR" dirty="0" smtClean="0"/>
              <a:t>VIII (ce qui n’est a priori pas une erreur de copie).</a:t>
            </a:r>
          </a:p>
          <a:p>
            <a:pPr algn="just"/>
            <a:r>
              <a:rPr lang="fr-FR" dirty="0" smtClean="0"/>
              <a:t>Préface du </a:t>
            </a:r>
            <a:r>
              <a:rPr lang="fr-FR" dirty="0"/>
              <a:t>livre </a:t>
            </a:r>
            <a:r>
              <a:rPr lang="fr-FR" dirty="0" smtClean="0"/>
              <a:t>X : </a:t>
            </a:r>
            <a:r>
              <a:rPr lang="fr-FR" dirty="0" err="1" smtClean="0"/>
              <a:t>Sicco</a:t>
            </a:r>
            <a:r>
              <a:rPr lang="fr-FR" dirty="0" smtClean="0"/>
              <a:t> </a:t>
            </a:r>
            <a:r>
              <a:rPr lang="fr-FR" dirty="0"/>
              <a:t>déclare qu’il n’avait pas prévu d’inclure une vie de </a:t>
            </a:r>
            <a:r>
              <a:rPr lang="fr-FR" dirty="0" smtClean="0"/>
              <a:t>Cicéron, </a:t>
            </a:r>
            <a:r>
              <a:rPr lang="fr-FR" dirty="0"/>
              <a:t>fort bien écrite peu auparavant par Leonardo </a:t>
            </a:r>
            <a:r>
              <a:rPr lang="fr-FR" dirty="0" smtClean="0"/>
              <a:t>Bruni. Il cède aux </a:t>
            </a:r>
            <a:r>
              <a:rPr lang="fr-FR" dirty="0"/>
              <a:t>instances de son fils Lazzaro et de certains amis</a:t>
            </a:r>
            <a:r>
              <a:rPr lang="fr-FR" dirty="0" smtClean="0"/>
              <a:t>.</a:t>
            </a:r>
          </a:p>
          <a:p>
            <a:pPr algn="just"/>
            <a:r>
              <a:rPr lang="fr-FR" dirty="0" smtClean="0"/>
              <a:t>Traite </a:t>
            </a:r>
            <a:r>
              <a:rPr lang="fr-FR" dirty="0"/>
              <a:t>brièvement de l’origine de l’éloquence dans l’introduction générale aux arts du livre I, puis affirme que l’étude de l’histoire et de la poésie devrait logiquement venir </a:t>
            </a:r>
            <a:r>
              <a:rPr lang="fr-FR" dirty="0" smtClean="0"/>
              <a:t>ensuite, </a:t>
            </a:r>
            <a:r>
              <a:rPr lang="fr-FR" dirty="0"/>
              <a:t>mais qu’il en différera l’examen jusqu’à ce qu’il aborde les écrivains </a:t>
            </a:r>
            <a:r>
              <a:rPr lang="fr-FR" dirty="0" smtClean="0"/>
              <a:t>eux-mêmes.</a:t>
            </a:r>
          </a:p>
          <a:p>
            <a:pPr algn="just"/>
            <a:r>
              <a:rPr lang="fr-FR" dirty="0" smtClean="0"/>
              <a:t>À </a:t>
            </a:r>
            <a:r>
              <a:rPr lang="fr-FR" dirty="0"/>
              <a:t>la fin du livre XVII, il parle des « livres suivants », mais un seul fut écrit. Même le livre XVIII ne semble pas avoir été achevé. Le dernier auteur, Isidore, est traité très brièvement, et la dernière phrase est incomplète. Il est probable que </a:t>
            </a:r>
            <a:r>
              <a:rPr lang="fr-FR" dirty="0" err="1"/>
              <a:t>Sicco</a:t>
            </a:r>
            <a:r>
              <a:rPr lang="fr-FR" dirty="0"/>
              <a:t> avait l’intention de dire quelque chose sur les </a:t>
            </a:r>
            <a:r>
              <a:rPr lang="fr-FR" i="1" dirty="0"/>
              <a:t>Étymologies</a:t>
            </a:r>
            <a:r>
              <a:rPr lang="fr-FR" dirty="0"/>
              <a:t>, qu’il cite à plusieurs reprises. Appelé ailleurs, </a:t>
            </a:r>
            <a:r>
              <a:rPr lang="fr-FR" dirty="0" smtClean="0"/>
              <a:t>il oublie apparemment </a:t>
            </a:r>
            <a:r>
              <a:rPr lang="fr-FR" dirty="0"/>
              <a:t>que sa dernière phrase manquait d’un verbe</a:t>
            </a:r>
            <a:r>
              <a:rPr lang="fr-FR" dirty="0" smtClean="0"/>
              <a:t>.</a:t>
            </a:r>
          </a:p>
          <a:p>
            <a:pPr algn="just"/>
            <a:r>
              <a:rPr lang="fr-FR" dirty="0"/>
              <a:t>Le livre XVII, contenant la vie de Sénèque, fut publié séparément avant les autres. Ce faisant, </a:t>
            </a:r>
            <a:r>
              <a:rPr lang="fr-FR" dirty="0" err="1"/>
              <a:t>Sicco</a:t>
            </a:r>
            <a:r>
              <a:rPr lang="fr-FR" dirty="0"/>
              <a:t> accéda à la demande de ses amis, car il souhaitait connaître leur </a:t>
            </a:r>
            <a:r>
              <a:rPr lang="fr-FR" dirty="0" smtClean="0"/>
              <a:t>réaction. L’introduction de ce livre semble </a:t>
            </a:r>
            <a:r>
              <a:rPr lang="fr-FR" dirty="0"/>
              <a:t>mieux convenir au livre IX et a manifestement été écrite avant les livres consacrés à Cicéron (X–XVI), puisqu’il y dit avoir traité des poètes et des historiens et affirme qu’il serait désormais approprié de parler de la philosophie et de l’éloquence. Il est évident que la vie de Sénèque (aujourd’hui livre XVII) devait suivre le livre XVIII, mais qu’elle fut placée avant celui-ci afin que Sénèque puisse être traité immédiatement après Cicéron.</a:t>
            </a:r>
            <a:endParaRPr lang="fr-FR" dirty="0" smtClean="0"/>
          </a:p>
        </p:txBody>
      </p:sp>
    </p:spTree>
    <p:extLst>
      <p:ext uri="{BB962C8B-B14F-4D97-AF65-F5344CB8AC3E}">
        <p14:creationId xmlns:p14="http://schemas.microsoft.com/office/powerpoint/2010/main" val="22181460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smtClean="0"/>
              <a:t/>
            </a:r>
            <a:br>
              <a:rPr lang="fr-FR" dirty="0" smtClean="0"/>
            </a:br>
            <a:r>
              <a:rPr lang="fr-FR" dirty="0" smtClean="0"/>
              <a:t>Conception de la littérature</a:t>
            </a:r>
            <a:endParaRPr lang="fr-FR" dirty="0"/>
          </a:p>
        </p:txBody>
      </p:sp>
      <p:sp>
        <p:nvSpPr>
          <p:cNvPr id="3" name="Content Placeholder 2"/>
          <p:cNvSpPr>
            <a:spLocks noGrp="1"/>
          </p:cNvSpPr>
          <p:nvPr>
            <p:ph idx="1"/>
          </p:nvPr>
        </p:nvSpPr>
        <p:spPr>
          <a:xfrm>
            <a:off x="581192" y="1715956"/>
            <a:ext cx="11029615" cy="4878275"/>
          </a:xfrm>
        </p:spPr>
        <p:txBody>
          <a:bodyPr>
            <a:normAutofit/>
          </a:bodyPr>
          <a:lstStyle/>
          <a:p>
            <a:pPr algn="just"/>
            <a:r>
              <a:rPr lang="fr-FR" dirty="0" err="1"/>
              <a:t>Sicco</a:t>
            </a:r>
            <a:r>
              <a:rPr lang="fr-FR" dirty="0"/>
              <a:t> fut peut-être l’un des premiers à concevoir son </a:t>
            </a:r>
            <a:r>
              <a:rPr lang="fr-FR" dirty="0" smtClean="0"/>
              <a:t>époque </a:t>
            </a:r>
            <a:r>
              <a:rPr lang="fr-FR" dirty="0"/>
              <a:t>comme un réveil. </a:t>
            </a:r>
            <a:r>
              <a:rPr lang="fr-FR" dirty="0" smtClean="0"/>
              <a:t> Après </a:t>
            </a:r>
            <a:r>
              <a:rPr lang="fr-FR" dirty="0"/>
              <a:t>avoir parlé de Juvénal, il affirme </a:t>
            </a:r>
            <a:r>
              <a:rPr lang="fr-FR" dirty="0" smtClean="0"/>
              <a:t>que </a:t>
            </a:r>
            <a:r>
              <a:rPr lang="fr-FR" dirty="0"/>
              <a:t>le talent poétique et l’éloquence s’étaient endormis. Puis, </a:t>
            </a:r>
            <a:r>
              <a:rPr lang="fr-FR" dirty="0" smtClean="0"/>
              <a:t>évoquant Dante, </a:t>
            </a:r>
            <a:r>
              <a:rPr lang="fr-FR" dirty="0"/>
              <a:t>il remarque que les Muses se réveillaient lentement, comme après un très long sommeil de mille ans, qu’elles remuaient leurs membres, se frottaient les yeux et </a:t>
            </a:r>
            <a:r>
              <a:rPr lang="fr-FR" dirty="0" smtClean="0"/>
              <a:t>s’étiraient.</a:t>
            </a:r>
          </a:p>
          <a:p>
            <a:pPr algn="just"/>
            <a:r>
              <a:rPr lang="fr-FR" dirty="0" smtClean="0"/>
              <a:t>De </a:t>
            </a:r>
            <a:r>
              <a:rPr lang="fr-FR" dirty="0"/>
              <a:t>même, il déclare </a:t>
            </a:r>
            <a:r>
              <a:rPr lang="fr-FR" dirty="0" smtClean="0"/>
              <a:t>que </a:t>
            </a:r>
            <a:r>
              <a:rPr lang="fr-FR" dirty="0"/>
              <a:t>Pétrarque fut </a:t>
            </a:r>
            <a:r>
              <a:rPr lang="fr-FR" i="1" dirty="0"/>
              <a:t>princeps et </a:t>
            </a:r>
            <a:r>
              <a:rPr lang="fr-FR" i="1" dirty="0" err="1"/>
              <a:t>auctor</a:t>
            </a:r>
            <a:r>
              <a:rPr lang="fr-FR" dirty="0"/>
              <a:t> pour ranimer l’intérêt pour la poésie et l’éloquence, qui avaient été négligées et étaient restées en </a:t>
            </a:r>
            <a:r>
              <a:rPr lang="fr-FR" dirty="0" smtClean="0"/>
              <a:t>sommeil. </a:t>
            </a:r>
            <a:r>
              <a:rPr lang="fr-FR" dirty="0" err="1"/>
              <a:t>Sicco</a:t>
            </a:r>
            <a:r>
              <a:rPr lang="fr-FR" dirty="0"/>
              <a:t> écrivait cela bien avant que </a:t>
            </a:r>
            <a:r>
              <a:rPr lang="fr-FR" dirty="0" err="1"/>
              <a:t>Ciriaco</a:t>
            </a:r>
            <a:r>
              <a:rPr lang="fr-FR" dirty="0"/>
              <a:t> d’</a:t>
            </a:r>
            <a:r>
              <a:rPr lang="fr-FR" dirty="0" err="1"/>
              <a:t>Ancona</a:t>
            </a:r>
            <a:r>
              <a:rPr lang="fr-FR" dirty="0"/>
              <a:t> ne dise « je vais réveiller les morts » et avant l’apparition du mot « Renaissance » et de termes </a:t>
            </a:r>
            <a:r>
              <a:rPr lang="fr-FR" dirty="0" smtClean="0"/>
              <a:t>analogues.</a:t>
            </a:r>
            <a:endParaRPr lang="fr-FR" dirty="0"/>
          </a:p>
          <a:p>
            <a:pPr algn="just"/>
            <a:r>
              <a:rPr lang="fr-FR" dirty="0" err="1" smtClean="0"/>
              <a:t>Sicco</a:t>
            </a:r>
            <a:r>
              <a:rPr lang="fr-FR" dirty="0" smtClean="0"/>
              <a:t> se </a:t>
            </a:r>
            <a:r>
              <a:rPr lang="fr-FR" dirty="0"/>
              <a:t>réjouit de vivre à une époque où le génie fleurit, par contraste avec la stérilité des temps </a:t>
            </a:r>
            <a:r>
              <a:rPr lang="fr-FR" dirty="0" smtClean="0"/>
              <a:t>antérieurs. </a:t>
            </a:r>
            <a:r>
              <a:rPr lang="fr-FR" dirty="0"/>
              <a:t>Cette idée lui fut suggérée par les nombreuses traductions du grec qui étaient alors réalisées en raison du nouvel intérêt pour cette langue. </a:t>
            </a:r>
            <a:endParaRPr lang="fr-FR" dirty="0" smtClean="0"/>
          </a:p>
          <a:p>
            <a:pPr algn="just"/>
            <a:r>
              <a:rPr lang="fr-FR" dirty="0" smtClean="0"/>
              <a:t>Dans l’introduction : « </a:t>
            </a:r>
            <a:r>
              <a:rPr lang="fr-FR" dirty="0"/>
              <a:t>Quelle occupation plus noble y </a:t>
            </a:r>
            <a:r>
              <a:rPr lang="fr-FR" dirty="0" err="1"/>
              <a:t>a-t-il</a:t>
            </a:r>
            <a:r>
              <a:rPr lang="fr-FR" dirty="0"/>
              <a:t> que de feuilleter des livres, qui, même s’ils semblent muets et morts, sont pourtant des maîtres de vie et rendent ceux qui les étudient à la fois meilleurs hommes et savants plus instruits ? »</a:t>
            </a:r>
          </a:p>
        </p:txBody>
      </p:sp>
    </p:spTree>
    <p:extLst>
      <p:ext uri="{BB962C8B-B14F-4D97-AF65-F5344CB8AC3E}">
        <p14:creationId xmlns:p14="http://schemas.microsoft.com/office/powerpoint/2010/main" val="21156403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smtClean="0"/>
              <a:t/>
            </a:r>
            <a:br>
              <a:rPr lang="fr-FR" dirty="0" smtClean="0"/>
            </a:br>
            <a:r>
              <a:rPr lang="fr-FR" dirty="0" smtClean="0"/>
              <a:t>Manuscrit de l’édition</a:t>
            </a:r>
            <a:endParaRPr lang="fr-FR" dirty="0"/>
          </a:p>
        </p:txBody>
      </p:sp>
      <p:pic>
        <p:nvPicPr>
          <p:cNvPr id="4" name="Content Placeholder 3"/>
          <p:cNvPicPr>
            <a:picLocks noGrp="1" noChangeAspect="1"/>
          </p:cNvPicPr>
          <p:nvPr>
            <p:ph sz="half" idx="1"/>
          </p:nvPr>
        </p:nvPicPr>
        <p:blipFill>
          <a:blip r:embed="rId2"/>
          <a:stretch>
            <a:fillRect/>
          </a:stretch>
        </p:blipFill>
        <p:spPr>
          <a:xfrm>
            <a:off x="864042" y="2227263"/>
            <a:ext cx="4856866" cy="3633787"/>
          </a:xfrm>
          <a:prstGeom prst="rect">
            <a:avLst/>
          </a:prstGeom>
        </p:spPr>
      </p:pic>
      <p:sp>
        <p:nvSpPr>
          <p:cNvPr id="6" name="Content Placeholder 5"/>
          <p:cNvSpPr>
            <a:spLocks noGrp="1"/>
          </p:cNvSpPr>
          <p:nvPr>
            <p:ph sz="half" idx="2"/>
          </p:nvPr>
        </p:nvSpPr>
        <p:spPr/>
        <p:txBody>
          <a:bodyPr/>
          <a:lstStyle/>
          <a:p>
            <a:r>
              <a:rPr lang="fr-FR" dirty="0" smtClean="0"/>
              <a:t>Texte sur lequel nous </a:t>
            </a:r>
            <a:r>
              <a:rPr lang="fr-FR" dirty="0"/>
              <a:t>nous appuyons : </a:t>
            </a:r>
            <a:r>
              <a:rPr lang="fr-FR" dirty="0" smtClean="0"/>
              <a:t>manuscrit </a:t>
            </a:r>
            <a:r>
              <a:rPr lang="fr-FR" dirty="0"/>
              <a:t>autographe conservé au Vatican, </a:t>
            </a:r>
            <a:r>
              <a:rPr lang="fr-FR" dirty="0" err="1"/>
              <a:t>Ottob</a:t>
            </a:r>
            <a:r>
              <a:rPr lang="fr-FR" dirty="0"/>
              <a:t>. lat. 1915 (O</a:t>
            </a:r>
            <a:r>
              <a:rPr lang="fr-FR" dirty="0" smtClean="0"/>
              <a:t>)</a:t>
            </a:r>
          </a:p>
          <a:p>
            <a:pPr marL="0" indent="0" algn="ctr">
              <a:buNone/>
            </a:pPr>
            <a:r>
              <a:rPr lang="fr-FR" dirty="0">
                <a:hlinkClick r:id="rId3"/>
              </a:rPr>
              <a:t>https://</a:t>
            </a:r>
            <a:r>
              <a:rPr lang="fr-FR" dirty="0" smtClean="0">
                <a:hlinkClick r:id="rId3"/>
              </a:rPr>
              <a:t>digi.vatlib.it/view/MSS_Ott.lat.1915</a:t>
            </a:r>
            <a:r>
              <a:rPr lang="fr-FR" dirty="0" smtClean="0"/>
              <a:t> </a:t>
            </a:r>
          </a:p>
          <a:p>
            <a:r>
              <a:rPr lang="fr-FR" dirty="0" smtClean="0"/>
              <a:t>Transcrit par B.L. </a:t>
            </a:r>
            <a:r>
              <a:rPr lang="fr-FR" dirty="0" err="1" smtClean="0"/>
              <a:t>Ullman</a:t>
            </a:r>
            <a:r>
              <a:rPr lang="fr-FR" dirty="0" smtClean="0"/>
              <a:t> (1928)</a:t>
            </a:r>
            <a:endParaRPr lang="fr-FR" dirty="0"/>
          </a:p>
        </p:txBody>
      </p:sp>
    </p:spTree>
    <p:extLst>
      <p:ext uri="{BB962C8B-B14F-4D97-AF65-F5344CB8AC3E}">
        <p14:creationId xmlns:p14="http://schemas.microsoft.com/office/powerpoint/2010/main" val="27076946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smtClean="0"/>
              <a:t/>
            </a:r>
            <a:br>
              <a:rPr lang="fr-FR" dirty="0" smtClean="0"/>
            </a:br>
            <a:r>
              <a:rPr lang="fr-FR" dirty="0" smtClean="0"/>
              <a:t>Caractère autographe</a:t>
            </a:r>
            <a:endParaRPr lang="fr-FR" dirty="0"/>
          </a:p>
        </p:txBody>
      </p:sp>
      <p:sp>
        <p:nvSpPr>
          <p:cNvPr id="3" name="Content Placeholder 2"/>
          <p:cNvSpPr>
            <a:spLocks noGrp="1"/>
          </p:cNvSpPr>
          <p:nvPr>
            <p:ph idx="1"/>
          </p:nvPr>
        </p:nvSpPr>
        <p:spPr/>
        <p:txBody>
          <a:bodyPr>
            <a:normAutofit fontScale="85000" lnSpcReduction="10000"/>
          </a:bodyPr>
          <a:lstStyle/>
          <a:p>
            <a:pPr algn="just"/>
            <a:r>
              <a:rPr lang="fr-FR" dirty="0" smtClean="0"/>
              <a:t>Il </a:t>
            </a:r>
            <a:r>
              <a:rPr lang="fr-FR" dirty="0"/>
              <a:t>est entièrement écrit de la main de </a:t>
            </a:r>
            <a:r>
              <a:rPr lang="fr-FR" dirty="0" err="1"/>
              <a:t>Sicco</a:t>
            </a:r>
            <a:r>
              <a:rPr lang="fr-FR" dirty="0"/>
              <a:t>. </a:t>
            </a:r>
            <a:r>
              <a:rPr lang="fr-FR" dirty="0" err="1"/>
              <a:t>Sicco</a:t>
            </a:r>
            <a:r>
              <a:rPr lang="fr-FR" dirty="0"/>
              <a:t> employait deux types </a:t>
            </a:r>
            <a:r>
              <a:rPr lang="fr-FR" dirty="0" smtClean="0"/>
              <a:t>d’écriture, constantes au cours de sa vie </a:t>
            </a:r>
            <a:r>
              <a:rPr lang="fr-FR" dirty="0"/>
              <a:t>: </a:t>
            </a:r>
            <a:r>
              <a:rPr lang="fr-FR" dirty="0" smtClean="0"/>
              <a:t>son </a:t>
            </a:r>
            <a:r>
              <a:rPr lang="fr-FR" dirty="0"/>
              <a:t>écriture </a:t>
            </a:r>
            <a:r>
              <a:rPr lang="fr-FR" dirty="0" smtClean="0"/>
              <a:t>notariale et son </a:t>
            </a:r>
            <a:r>
              <a:rPr lang="fr-FR" dirty="0"/>
              <a:t>écriture </a:t>
            </a:r>
            <a:r>
              <a:rPr lang="fr-FR" dirty="0" smtClean="0"/>
              <a:t>littéraire (les </a:t>
            </a:r>
            <a:r>
              <a:rPr lang="fr-FR" dirty="0"/>
              <a:t>deux </a:t>
            </a:r>
            <a:r>
              <a:rPr lang="fr-FR" dirty="0" smtClean="0"/>
              <a:t>étant </a:t>
            </a:r>
            <a:r>
              <a:rPr lang="fr-FR" dirty="0"/>
              <a:t>naturellement </a:t>
            </a:r>
            <a:r>
              <a:rPr lang="fr-FR" dirty="0" smtClean="0"/>
              <a:t>apparentées). </a:t>
            </a:r>
            <a:r>
              <a:rPr lang="fr-FR" dirty="0"/>
              <a:t>La caractéristique la plus frappante de l’écriture littéraire, dans laquelle </a:t>
            </a:r>
            <a:r>
              <a:rPr lang="fr-FR" dirty="0" smtClean="0"/>
              <a:t>le </a:t>
            </a:r>
            <a:r>
              <a:rPr lang="fr-FR" dirty="0"/>
              <a:t>manuscrit est </a:t>
            </a:r>
            <a:r>
              <a:rPr lang="fr-FR" dirty="0" smtClean="0"/>
              <a:t>rédigé, </a:t>
            </a:r>
            <a:r>
              <a:rPr lang="fr-FR" dirty="0"/>
              <a:t>est la forme du </a:t>
            </a:r>
            <a:r>
              <a:rPr lang="fr-FR" i="1" dirty="0"/>
              <a:t>s</a:t>
            </a:r>
            <a:r>
              <a:rPr lang="fr-FR" dirty="0"/>
              <a:t> </a:t>
            </a:r>
            <a:r>
              <a:rPr lang="fr-FR" dirty="0" smtClean="0"/>
              <a:t>final (pas </a:t>
            </a:r>
            <a:r>
              <a:rPr lang="fr-FR" dirty="0"/>
              <a:t>constante dans l’écriture notariale, elle n’y est nullement </a:t>
            </a:r>
            <a:r>
              <a:rPr lang="fr-FR" dirty="0" smtClean="0"/>
              <a:t>absente). </a:t>
            </a:r>
            <a:r>
              <a:rPr lang="fr-FR" dirty="0"/>
              <a:t>L’écriture notariale est clairement identifiable grâce aux nombreux documents portant sa signature. L’identification de l’écriture littéraire, quoique un peu moins évidente, est assurée non seulement par sa ressemblance avec l’écriture notariale, mais aussi par son emploi dans des manuscrits ayant manifestement appartenu à </a:t>
            </a:r>
            <a:r>
              <a:rPr lang="fr-FR" dirty="0" err="1"/>
              <a:t>Sicco</a:t>
            </a:r>
            <a:r>
              <a:rPr lang="fr-FR" dirty="0"/>
              <a:t>, tels que Vat. Pal. lat. </a:t>
            </a:r>
            <a:r>
              <a:rPr lang="fr-FR" dirty="0" smtClean="0"/>
              <a:t>888 </a:t>
            </a:r>
            <a:r>
              <a:rPr lang="fr-FR" dirty="0"/>
              <a:t>et Vat. Pal. lat. </a:t>
            </a:r>
            <a:r>
              <a:rPr lang="fr-FR" dirty="0" smtClean="0"/>
              <a:t>1478.</a:t>
            </a:r>
          </a:p>
          <a:p>
            <a:pPr algn="just"/>
            <a:r>
              <a:rPr lang="fr-FR" dirty="0" smtClean="0"/>
              <a:t>Pratiquement </a:t>
            </a:r>
            <a:r>
              <a:rPr lang="fr-FR" dirty="0"/>
              <a:t>toutes les corrections et additions dans O sont de la même main que le texte, bien qu’exécutées à des moments différents, comme le montrent la couleur de l’encre et l’épaisseur du trait. Les additions sont de celles que seul un auteur est susceptible de </a:t>
            </a:r>
            <a:r>
              <a:rPr lang="fr-FR" dirty="0" smtClean="0"/>
              <a:t>faire.</a:t>
            </a:r>
          </a:p>
          <a:p>
            <a:pPr algn="just"/>
            <a:r>
              <a:rPr lang="fr-FR" dirty="0"/>
              <a:t>Dans de nombreux cas, il est possible de reconstituer l’écriture primitive et d’établir, à partir de l’espacement ou du fait qu’un mot n’était pas achevé dans l’état initial, que les corrections ont été faites immédiatement, au cours même de la rédaction du manuscrit. Or certaines de ces corrections immédiates ne portent pas sur de simples erreurs de copiste, mais sur des modifications de formulation ou de contenu telles que seul un auteur peut les introduire lorsqu’il révise son texte en le recopiant. </a:t>
            </a:r>
            <a:endParaRPr lang="fr-FR" dirty="0" smtClean="0"/>
          </a:p>
          <a:p>
            <a:pPr algn="just"/>
            <a:r>
              <a:rPr lang="fr-FR" dirty="0"/>
              <a:t>Le fait que tous les autres manuscrits existants de la « seconde » version soient des copies directes ou indirectes de O constitue une preuve supplémentaire </a:t>
            </a:r>
            <a:r>
              <a:rPr lang="fr-FR" dirty="0" smtClean="0"/>
              <a:t>que </a:t>
            </a:r>
            <a:r>
              <a:rPr lang="fr-FR" dirty="0" err="1"/>
              <a:t>Sicco</a:t>
            </a:r>
            <a:r>
              <a:rPr lang="fr-FR" dirty="0"/>
              <a:t> possédait O et l’a très probablement écrit lui-même.</a:t>
            </a:r>
          </a:p>
        </p:txBody>
      </p:sp>
    </p:spTree>
    <p:extLst>
      <p:ext uri="{BB962C8B-B14F-4D97-AF65-F5344CB8AC3E}">
        <p14:creationId xmlns:p14="http://schemas.microsoft.com/office/powerpoint/2010/main" val="28285592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a:t/>
            </a:r>
            <a:br>
              <a:rPr lang="fr-FR" dirty="0"/>
            </a:br>
            <a:r>
              <a:rPr lang="fr-FR" dirty="0" smtClean="0"/>
              <a:t>Quelques autres manuscrits</a:t>
            </a:r>
            <a:endParaRPr lang="fr-FR" dirty="0"/>
          </a:p>
        </p:txBody>
      </p:sp>
      <p:sp>
        <p:nvSpPr>
          <p:cNvPr id="3" name="Content Placeholder 2"/>
          <p:cNvSpPr>
            <a:spLocks noGrp="1"/>
          </p:cNvSpPr>
          <p:nvPr>
            <p:ph idx="1"/>
          </p:nvPr>
        </p:nvSpPr>
        <p:spPr/>
        <p:txBody>
          <a:bodyPr>
            <a:normAutofit fontScale="85000" lnSpcReduction="20000"/>
          </a:bodyPr>
          <a:lstStyle/>
          <a:p>
            <a:pPr algn="just"/>
            <a:r>
              <a:rPr lang="fr-FR" dirty="0"/>
              <a:t>De la première version, </a:t>
            </a:r>
            <a:r>
              <a:rPr lang="fr-FR" dirty="0" smtClean="0"/>
              <a:t>manuscrit </a:t>
            </a:r>
            <a:r>
              <a:rPr lang="fr-FR" dirty="0"/>
              <a:t>florentin </a:t>
            </a:r>
            <a:r>
              <a:rPr lang="fr-FR" dirty="0" err="1"/>
              <a:t>Riccardiana</a:t>
            </a:r>
            <a:r>
              <a:rPr lang="fr-FR" dirty="0"/>
              <a:t> 121 (R) ainsi que quatre </a:t>
            </a:r>
            <a:r>
              <a:rPr lang="fr-FR" dirty="0" smtClean="0"/>
              <a:t>feuillets </a:t>
            </a:r>
            <a:r>
              <a:rPr lang="fr-FR" dirty="0"/>
              <a:t>utilisés comme gardes dans un autre ouvrage de </a:t>
            </a:r>
            <a:r>
              <a:rPr lang="fr-FR" dirty="0" err="1"/>
              <a:t>Sicco</a:t>
            </a:r>
            <a:r>
              <a:rPr lang="fr-FR" dirty="0"/>
              <a:t> (XXII, 559 de la </a:t>
            </a:r>
            <a:r>
              <a:rPr lang="fr-FR" dirty="0" err="1"/>
              <a:t>Biblioteca</a:t>
            </a:r>
            <a:r>
              <a:rPr lang="fr-FR" dirty="0"/>
              <a:t> </a:t>
            </a:r>
            <a:r>
              <a:rPr lang="fr-FR" dirty="0" err="1"/>
              <a:t>Antoniana</a:t>
            </a:r>
            <a:r>
              <a:rPr lang="fr-FR" dirty="0"/>
              <a:t> de Padoue</a:t>
            </a:r>
            <a:r>
              <a:rPr lang="fr-FR" dirty="0" smtClean="0"/>
              <a:t>).</a:t>
            </a:r>
          </a:p>
          <a:p>
            <a:pPr algn="just"/>
            <a:r>
              <a:rPr lang="fr-FR" dirty="0" smtClean="0"/>
              <a:t>Les </a:t>
            </a:r>
            <a:r>
              <a:rPr lang="fr-FR" dirty="0"/>
              <a:t>deux manuscrits sont remarquablement différents : le premier a été rédigé à la hâte sur papier, le second sur parchemin, dans une grande gothique soignée, typique de l’époque. Aucun des deux n’est autographe et aucun, apparemment, n’est une copie de </a:t>
            </a:r>
            <a:r>
              <a:rPr lang="fr-FR" dirty="0" smtClean="0"/>
              <a:t>l’autre. </a:t>
            </a:r>
            <a:r>
              <a:rPr lang="fr-FR" dirty="0"/>
              <a:t>Il est manifeste que la première version n’a pas connu une large diffusion</a:t>
            </a:r>
            <a:r>
              <a:rPr lang="fr-FR" dirty="0" smtClean="0"/>
              <a:t>.</a:t>
            </a:r>
          </a:p>
          <a:p>
            <a:pPr algn="just"/>
            <a:r>
              <a:rPr lang="fr-FR" dirty="0" smtClean="0"/>
              <a:t>Peut-être </a:t>
            </a:r>
            <a:r>
              <a:rPr lang="fr-FR" dirty="0"/>
              <a:t>un seul manuscrit (R) est-il jamais sorti de la possession de </a:t>
            </a:r>
            <a:r>
              <a:rPr lang="fr-FR" dirty="0" err="1"/>
              <a:t>Sicco</a:t>
            </a:r>
            <a:r>
              <a:rPr lang="fr-FR" dirty="0"/>
              <a:t>, offert en cadeau à quelque </a:t>
            </a:r>
            <a:r>
              <a:rPr lang="fr-FR" dirty="0" smtClean="0"/>
              <a:t>ami.</a:t>
            </a:r>
          </a:p>
          <a:p>
            <a:pPr algn="just"/>
            <a:r>
              <a:rPr lang="fr-FR" dirty="0"/>
              <a:t>Quant aux fragments de l’</a:t>
            </a:r>
            <a:r>
              <a:rPr lang="fr-FR" dirty="0" err="1"/>
              <a:t>Antoniana</a:t>
            </a:r>
            <a:r>
              <a:rPr lang="fr-FR" dirty="0"/>
              <a:t>, la seule explication raisonnable de leur utilisation comme gardes est que le manuscrit dont ils faisaient initialement partie </a:t>
            </a:r>
            <a:r>
              <a:rPr lang="fr-FR" dirty="0" smtClean="0"/>
              <a:t>— peut-être </a:t>
            </a:r>
            <a:r>
              <a:rPr lang="fr-FR" dirty="0"/>
              <a:t>l’exemplaire officiel de </a:t>
            </a:r>
            <a:r>
              <a:rPr lang="fr-FR" dirty="0" err="1"/>
              <a:t>Sicco</a:t>
            </a:r>
            <a:r>
              <a:rPr lang="fr-FR" dirty="0"/>
              <a:t> — fut démembré lorsque la seconde version fut </a:t>
            </a:r>
            <a:r>
              <a:rPr lang="fr-FR" dirty="0" smtClean="0"/>
              <a:t>achevée (manuscrit </a:t>
            </a:r>
            <a:r>
              <a:rPr lang="fr-FR" dirty="0"/>
              <a:t>pour lequel ces feuillets servirent de gardes contient une autre œuvre de </a:t>
            </a:r>
            <a:r>
              <a:rPr lang="fr-FR" dirty="0" err="1"/>
              <a:t>Sicco</a:t>
            </a:r>
            <a:r>
              <a:rPr lang="fr-FR" dirty="0"/>
              <a:t>, écrite en 1437, précisément à l’époque où la seconde version était en cours de </a:t>
            </a:r>
            <a:r>
              <a:rPr lang="fr-FR" dirty="0" smtClean="0"/>
              <a:t>publication). </a:t>
            </a:r>
            <a:r>
              <a:rPr lang="fr-FR" dirty="0"/>
              <a:t>La note qui donne la date de rédaction et le nom du copiste précise que le manuscrit fut offert par </a:t>
            </a:r>
            <a:r>
              <a:rPr lang="fr-FR" dirty="0" err="1"/>
              <a:t>Sicco</a:t>
            </a:r>
            <a:r>
              <a:rPr lang="fr-FR" dirty="0"/>
              <a:t> à la sacristie de l’église Saint-Antoine de Padoue. L’utilisation des feuillets de la première version comme gardes est donc due à </a:t>
            </a:r>
            <a:r>
              <a:rPr lang="fr-FR" dirty="0" err="1"/>
              <a:t>Sicco</a:t>
            </a:r>
            <a:r>
              <a:rPr lang="fr-FR" dirty="0"/>
              <a:t> lui-même. Le fait qu’un manuscrit d’une si belle qualité ait été détruit si peu de temps après sa rédaction est une indication significative que, pour </a:t>
            </a:r>
            <a:r>
              <a:rPr lang="fr-FR" dirty="0" err="1"/>
              <a:t>Sicco</a:t>
            </a:r>
            <a:r>
              <a:rPr lang="fr-FR" dirty="0"/>
              <a:t>, la première version était désormais entièrement remplacée par la seconde</a:t>
            </a:r>
            <a:r>
              <a:rPr lang="fr-FR" dirty="0" smtClean="0"/>
              <a:t>.</a:t>
            </a:r>
          </a:p>
          <a:p>
            <a:pPr algn="just"/>
            <a:r>
              <a:rPr lang="fr-FR" dirty="0"/>
              <a:t>On nous dit qu’un exemplaire autographe écrit en 1433 appartint autrefois à </a:t>
            </a:r>
            <a:r>
              <a:rPr lang="fr-FR" dirty="0" err="1"/>
              <a:t>Scardeonius</a:t>
            </a:r>
            <a:r>
              <a:rPr lang="fr-FR" dirty="0"/>
              <a:t>. Ce serait un manuscrit extrêmement intéressant à retrouver, si l’affirmation de </a:t>
            </a:r>
            <a:r>
              <a:rPr lang="fr-FR" dirty="0" err="1"/>
              <a:t>Scardeonius</a:t>
            </a:r>
            <a:r>
              <a:rPr lang="fr-FR" dirty="0"/>
              <a:t> est exacte, car il pourrait représenter une version intermédiaire entre la première et la seconde. Mais le fait qu’il soit autographe et sa date sont douteux</a:t>
            </a:r>
            <a:r>
              <a:rPr lang="fr-FR" dirty="0" smtClean="0"/>
              <a:t>.</a:t>
            </a:r>
            <a:endParaRPr lang="fr-FR" dirty="0"/>
          </a:p>
        </p:txBody>
      </p:sp>
    </p:spTree>
    <p:extLst>
      <p:ext uri="{BB962C8B-B14F-4D97-AF65-F5344CB8AC3E}">
        <p14:creationId xmlns:p14="http://schemas.microsoft.com/office/powerpoint/2010/main" val="11823086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a:t/>
            </a:r>
            <a:br>
              <a:rPr lang="fr-FR" dirty="0"/>
            </a:br>
            <a:r>
              <a:rPr lang="fr-FR" dirty="0" smtClean="0"/>
              <a:t>Sources</a:t>
            </a:r>
            <a:endParaRPr lang="fr-FR" dirty="0"/>
          </a:p>
        </p:txBody>
      </p:sp>
      <p:sp>
        <p:nvSpPr>
          <p:cNvPr id="3" name="Content Placeholder 2"/>
          <p:cNvSpPr>
            <a:spLocks noGrp="1"/>
          </p:cNvSpPr>
          <p:nvPr>
            <p:ph idx="1"/>
          </p:nvPr>
        </p:nvSpPr>
        <p:spPr/>
        <p:txBody>
          <a:bodyPr>
            <a:normAutofit/>
          </a:bodyPr>
          <a:lstStyle/>
          <a:p>
            <a:pPr algn="just"/>
            <a:r>
              <a:rPr lang="fr-FR" dirty="0" smtClean="0"/>
              <a:t>Introduction : </a:t>
            </a:r>
            <a:r>
              <a:rPr lang="fr-FR" dirty="0" err="1" smtClean="0"/>
              <a:t>Polenton</a:t>
            </a:r>
            <a:r>
              <a:rPr lang="fr-FR" dirty="0" smtClean="0"/>
              <a:t> </a:t>
            </a:r>
            <a:r>
              <a:rPr lang="fr-FR" dirty="0"/>
              <a:t>affirme que son objectif est de dire la vérité telle qu’il la découvre, et il met quiconque au défi de prouver qu’il a délibérément inventé ses </a:t>
            </a:r>
            <a:r>
              <a:rPr lang="fr-FR" dirty="0" smtClean="0"/>
              <a:t>affirmations. pas </a:t>
            </a:r>
            <a:r>
              <a:rPr lang="fr-FR" dirty="0"/>
              <a:t>prendre ce défi trop </a:t>
            </a:r>
            <a:r>
              <a:rPr lang="fr-FR" dirty="0" smtClean="0"/>
              <a:t>littéralement.</a:t>
            </a:r>
          </a:p>
          <a:p>
            <a:pPr algn="just"/>
            <a:r>
              <a:rPr lang="fr-FR" dirty="0" smtClean="0"/>
              <a:t>S’il </a:t>
            </a:r>
            <a:r>
              <a:rPr lang="fr-FR" dirty="0"/>
              <a:t>cite généreusement ses sources, surtout au début, il arrive parfois qu’il cite de manière inexacte, apparemment de </a:t>
            </a:r>
            <a:r>
              <a:rPr lang="fr-FR" dirty="0" smtClean="0"/>
              <a:t>mémoire : aime </a:t>
            </a:r>
            <a:r>
              <a:rPr lang="fr-FR" dirty="0"/>
              <a:t>aussi transformer des citations indirectes en citations </a:t>
            </a:r>
            <a:r>
              <a:rPr lang="fr-FR" dirty="0" smtClean="0"/>
              <a:t>directes. </a:t>
            </a:r>
          </a:p>
        </p:txBody>
      </p:sp>
    </p:spTree>
    <p:extLst>
      <p:ext uri="{BB962C8B-B14F-4D97-AF65-F5344CB8AC3E}">
        <p14:creationId xmlns:p14="http://schemas.microsoft.com/office/powerpoint/2010/main" val="20769099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a:t/>
            </a:r>
            <a:br>
              <a:rPr lang="fr-FR" dirty="0"/>
            </a:br>
            <a:r>
              <a:rPr lang="fr-FR" dirty="0" smtClean="0"/>
              <a:t>Sources</a:t>
            </a:r>
            <a:endParaRPr lang="fr-FR" dirty="0"/>
          </a:p>
        </p:txBody>
      </p:sp>
      <p:sp>
        <p:nvSpPr>
          <p:cNvPr id="3" name="Content Placeholder 2"/>
          <p:cNvSpPr>
            <a:spLocks noGrp="1"/>
          </p:cNvSpPr>
          <p:nvPr>
            <p:ph idx="1"/>
          </p:nvPr>
        </p:nvSpPr>
        <p:spPr>
          <a:xfrm>
            <a:off x="581192" y="2180496"/>
            <a:ext cx="11029615" cy="4308227"/>
          </a:xfrm>
        </p:spPr>
        <p:txBody>
          <a:bodyPr>
            <a:normAutofit fontScale="85000" lnSpcReduction="20000"/>
          </a:bodyPr>
          <a:lstStyle/>
          <a:p>
            <a:pPr marL="0" indent="0" algn="just">
              <a:buNone/>
            </a:pPr>
            <a:endParaRPr lang="fr-FR" dirty="0" smtClean="0"/>
          </a:p>
          <a:p>
            <a:pPr algn="just"/>
            <a:r>
              <a:rPr lang="fr-FR" sz="2000" dirty="0" smtClean="0"/>
              <a:t>Dans la </a:t>
            </a:r>
            <a:r>
              <a:rPr lang="fr-FR" sz="2000" dirty="0"/>
              <a:t>vie d’Horace tiré de la première édition de </a:t>
            </a:r>
            <a:r>
              <a:rPr lang="fr-FR" sz="2000" dirty="0" err="1"/>
              <a:t>Sicco</a:t>
            </a:r>
            <a:r>
              <a:rPr lang="fr-FR" sz="2000" dirty="0"/>
              <a:t> </a:t>
            </a:r>
            <a:r>
              <a:rPr lang="fr-FR" sz="2000" dirty="0" smtClean="0"/>
              <a:t>(R) : </a:t>
            </a:r>
            <a:r>
              <a:rPr lang="fr-FR" sz="2000" dirty="0"/>
              <a:t>« J’ai entendu quelqu’un affirmer avoir vu les élégies et les épîtres de ce poète écrites en prose, sous un titre où il semblait se recommander lui-même à </a:t>
            </a:r>
            <a:r>
              <a:rPr lang="fr-FR" sz="2000" dirty="0" smtClean="0"/>
              <a:t>Mécène ». </a:t>
            </a:r>
            <a:r>
              <a:rPr lang="fr-FR" sz="2000" dirty="0" err="1" smtClean="0"/>
              <a:t>Sabbadini</a:t>
            </a:r>
            <a:r>
              <a:rPr lang="fr-FR" sz="2000" dirty="0" smtClean="0"/>
              <a:t> </a:t>
            </a:r>
            <a:r>
              <a:rPr lang="fr-FR" sz="2000" dirty="0"/>
              <a:t>estime toutefois cela faux, et pense que ces épîtres ne contiennent rien du style ni de la gravité </a:t>
            </a:r>
            <a:r>
              <a:rPr lang="fr-FR" sz="2000" dirty="0" smtClean="0"/>
              <a:t>d’Horace. Pour </a:t>
            </a:r>
            <a:r>
              <a:rPr lang="fr-FR" sz="2000" dirty="0" err="1" smtClean="0"/>
              <a:t>Ullman</a:t>
            </a:r>
            <a:r>
              <a:rPr lang="fr-FR" sz="2000" dirty="0" smtClean="0"/>
              <a:t>, </a:t>
            </a:r>
            <a:r>
              <a:rPr lang="fr-FR" sz="2000" dirty="0"/>
              <a:t>l’ancienneté du manuscrit, la dignité de l’écriture et l’intitulé même </a:t>
            </a:r>
            <a:r>
              <a:rPr lang="fr-FR" sz="2000" dirty="0" smtClean="0"/>
              <a:t>persuadent </a:t>
            </a:r>
            <a:r>
              <a:rPr lang="fr-FR" sz="2000" dirty="0"/>
              <a:t>qu’il n’est pas invraisemblable qu’Horace ait écrit ces textes, bien qu’ils ne paraissent guère travaillés. </a:t>
            </a:r>
            <a:endParaRPr lang="fr-FR" sz="2000" dirty="0" smtClean="0"/>
          </a:p>
          <a:p>
            <a:pPr algn="just"/>
            <a:r>
              <a:rPr lang="fr-FR" sz="2000" dirty="0"/>
              <a:t>Tout en attirant l’attention sur la similitude entre la langue de </a:t>
            </a:r>
            <a:r>
              <a:rPr lang="fr-FR" sz="2000" dirty="0" err="1"/>
              <a:t>Sicco</a:t>
            </a:r>
            <a:r>
              <a:rPr lang="fr-FR" sz="2000" dirty="0"/>
              <a:t> et celle de Suétone dans sa Vie d’Horace, </a:t>
            </a:r>
            <a:r>
              <a:rPr lang="fr-FR" sz="2000" dirty="0" err="1"/>
              <a:t>Sabbadini</a:t>
            </a:r>
            <a:r>
              <a:rPr lang="fr-FR" sz="2000" dirty="0"/>
              <a:t> estime que ce passage montre que </a:t>
            </a:r>
            <a:r>
              <a:rPr lang="fr-FR" sz="2000" dirty="0" err="1"/>
              <a:t>Sicco</a:t>
            </a:r>
            <a:r>
              <a:rPr lang="fr-FR" sz="2000" dirty="0"/>
              <a:t> avait une connaissance personnelle, transmise par quelqu’un qui avait vu le manuscrit, et que, par conséquent, ces œuvres d’Horace existaient réellement à l’époque de </a:t>
            </a:r>
            <a:r>
              <a:rPr lang="fr-FR" sz="2000" dirty="0" err="1"/>
              <a:t>Sicco</a:t>
            </a:r>
            <a:r>
              <a:rPr lang="fr-FR" sz="2000" dirty="0"/>
              <a:t>. Plus </a:t>
            </a:r>
            <a:r>
              <a:rPr lang="fr-FR" sz="2000" dirty="0" smtClean="0"/>
              <a:t>tard, </a:t>
            </a:r>
            <a:r>
              <a:rPr lang="fr-FR" sz="2000" dirty="0" err="1"/>
              <a:t>Sabbadini</a:t>
            </a:r>
            <a:r>
              <a:rPr lang="fr-FR" sz="2000" dirty="0"/>
              <a:t> </a:t>
            </a:r>
            <a:r>
              <a:rPr lang="fr-FR" sz="2000" dirty="0" smtClean="0"/>
              <a:t>révise </a:t>
            </a:r>
            <a:r>
              <a:rPr lang="fr-FR" sz="2000" dirty="0"/>
              <a:t>son opinion et considéra l’affirmation de </a:t>
            </a:r>
            <a:r>
              <a:rPr lang="fr-FR" sz="2000" dirty="0" err="1"/>
              <a:t>Polenton</a:t>
            </a:r>
            <a:r>
              <a:rPr lang="fr-FR" sz="2000" dirty="0"/>
              <a:t> comme une simple erreur. Mais une autre explication est plus vraisemblable. Dans l’édition définitive, le passage fut réduit à ceci : « On rapporte aussi que des élégies et des épîtres en prose ont été écrites par lui. Le sujet est une recommandation adressée à Mécène. </a:t>
            </a:r>
            <a:r>
              <a:rPr lang="fr-FR" sz="2000" dirty="0" smtClean="0"/>
              <a:t>»</a:t>
            </a:r>
          </a:p>
          <a:p>
            <a:pPr algn="just"/>
            <a:r>
              <a:rPr lang="fr-FR" sz="2000" dirty="0" err="1" smtClean="0"/>
              <a:t>Ullman</a:t>
            </a:r>
            <a:r>
              <a:rPr lang="fr-FR" sz="2000" dirty="0" smtClean="0"/>
              <a:t> « Pourquoi </a:t>
            </a:r>
            <a:r>
              <a:rPr lang="fr-FR" sz="2000" dirty="0"/>
              <a:t>avoir supprimé un fait aussi frappant que celui mentionné dans la version antérieure ? Apparemment parce qu’il ne s’agissait pas d’un fait, et que </a:t>
            </a:r>
            <a:r>
              <a:rPr lang="fr-FR" sz="2000" dirty="0" err="1"/>
              <a:t>Sicco</a:t>
            </a:r>
            <a:r>
              <a:rPr lang="fr-FR" sz="2000" dirty="0"/>
              <a:t> voulait éviter de donner l’impression de tromper. L’affirmation originale n’était pas une invention pure et simple, mais un embellissement rhétorique des données fournies par Suétone, de la même manière que Cicéron (le maître et le modèle de </a:t>
            </a:r>
            <a:r>
              <a:rPr lang="fr-FR" sz="2000" dirty="0" err="1"/>
              <a:t>Sicco</a:t>
            </a:r>
            <a:r>
              <a:rPr lang="fr-FR" sz="2000" dirty="0"/>
              <a:t>) aime à rapporter comme tradition orale (par exemple dans le </a:t>
            </a:r>
            <a:r>
              <a:rPr lang="fr-FR" sz="2000" i="1" dirty="0"/>
              <a:t>De </a:t>
            </a:r>
            <a:r>
              <a:rPr lang="fr-FR" sz="2000" i="1" dirty="0" err="1"/>
              <a:t>Senectute</a:t>
            </a:r>
            <a:r>
              <a:rPr lang="fr-FR" sz="2000" dirty="0"/>
              <a:t>) ce qu’il a lu dans des livres. D’un genre assez voisin est l’élaboration par </a:t>
            </a:r>
            <a:r>
              <a:rPr lang="fr-FR" sz="2000" dirty="0" err="1"/>
              <a:t>Sicco</a:t>
            </a:r>
            <a:r>
              <a:rPr lang="fr-FR" sz="2000" dirty="0"/>
              <a:t> des lettres qui apparaissent dans la biographie </a:t>
            </a:r>
            <a:r>
              <a:rPr lang="fr-FR" sz="2000" dirty="0" err="1"/>
              <a:t>suétonienne</a:t>
            </a:r>
            <a:r>
              <a:rPr lang="fr-FR" sz="2000" dirty="0"/>
              <a:t>, par l’invention d’inscriptions qui les accompagnent</a:t>
            </a:r>
            <a:r>
              <a:rPr lang="fr-FR" sz="2000" dirty="0" smtClean="0"/>
              <a:t>. »</a:t>
            </a:r>
            <a:endParaRPr lang="fr-FR" sz="2000" dirty="0"/>
          </a:p>
        </p:txBody>
      </p:sp>
    </p:spTree>
    <p:extLst>
      <p:ext uri="{BB962C8B-B14F-4D97-AF65-F5344CB8AC3E}">
        <p14:creationId xmlns:p14="http://schemas.microsoft.com/office/powerpoint/2010/main" val="13240238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a:t/>
            </a:r>
            <a:br>
              <a:rPr lang="fr-FR" dirty="0"/>
            </a:br>
            <a:r>
              <a:rPr lang="fr-FR" dirty="0" smtClean="0"/>
              <a:t>Sources</a:t>
            </a:r>
            <a:endParaRPr lang="fr-FR" dirty="0"/>
          </a:p>
        </p:txBody>
      </p:sp>
      <p:sp>
        <p:nvSpPr>
          <p:cNvPr id="3" name="Content Placeholder 2"/>
          <p:cNvSpPr>
            <a:spLocks noGrp="1"/>
          </p:cNvSpPr>
          <p:nvPr>
            <p:ph idx="1"/>
          </p:nvPr>
        </p:nvSpPr>
        <p:spPr/>
        <p:txBody>
          <a:bodyPr>
            <a:normAutofit fontScale="92500" lnSpcReduction="20000"/>
          </a:bodyPr>
          <a:lstStyle/>
          <a:p>
            <a:pPr marL="0" indent="0" algn="just">
              <a:buNone/>
            </a:pPr>
            <a:endParaRPr lang="fr-FR" dirty="0" smtClean="0"/>
          </a:p>
          <a:p>
            <a:pPr algn="just"/>
            <a:r>
              <a:rPr lang="fr-FR" dirty="0" smtClean="0"/>
              <a:t>Toujours chez </a:t>
            </a:r>
            <a:r>
              <a:rPr lang="fr-FR" dirty="0" err="1" smtClean="0"/>
              <a:t>Ullman</a:t>
            </a:r>
            <a:r>
              <a:rPr lang="fr-FR" dirty="0" smtClean="0"/>
              <a:t> : « La </a:t>
            </a:r>
            <a:r>
              <a:rPr lang="fr-FR" dirty="0"/>
              <a:t>principale autorité de </a:t>
            </a:r>
            <a:r>
              <a:rPr lang="fr-FR" dirty="0" err="1"/>
              <a:t>Sicco</a:t>
            </a:r>
            <a:r>
              <a:rPr lang="fr-FR" dirty="0"/>
              <a:t>, comme il nous le dit </a:t>
            </a:r>
            <a:r>
              <a:rPr lang="fr-FR" dirty="0" smtClean="0"/>
              <a:t>lui-même, </a:t>
            </a:r>
            <a:r>
              <a:rPr lang="fr-FR" dirty="0"/>
              <a:t>est son compatriote padouan Tite-Live. Par moments, il se montre tout à fait scientifique dans ses raisonnements, comme lorsqu’il conclut que Cicéron n’a pu faire l’éloge de la sixième Églogue de </a:t>
            </a:r>
            <a:r>
              <a:rPr lang="fr-FR" dirty="0" smtClean="0"/>
              <a:t>Virgile, </a:t>
            </a:r>
            <a:r>
              <a:rPr lang="fr-FR" dirty="0"/>
              <a:t>ou lorsqu’il rejette les récits médiévaux concernant Virgile comme étant </a:t>
            </a:r>
            <a:r>
              <a:rPr lang="fr-FR" i="1" dirty="0"/>
              <a:t>rebus </a:t>
            </a:r>
            <a:r>
              <a:rPr lang="fr-FR" i="1" dirty="0" err="1"/>
              <a:t>magiis</a:t>
            </a:r>
            <a:r>
              <a:rPr lang="fr-FR" i="1" dirty="0"/>
              <a:t> </a:t>
            </a:r>
            <a:r>
              <a:rPr lang="fr-FR" i="1" dirty="0" err="1"/>
              <a:t>ac</a:t>
            </a:r>
            <a:r>
              <a:rPr lang="fr-FR" i="1" dirty="0"/>
              <a:t> </a:t>
            </a:r>
            <a:r>
              <a:rPr lang="fr-FR" i="1" dirty="0" err="1"/>
              <a:t>obsoletis</a:t>
            </a:r>
            <a:r>
              <a:rPr lang="fr-FR" i="1" dirty="0"/>
              <a:t> </a:t>
            </a:r>
            <a:r>
              <a:rPr lang="fr-FR" i="1" dirty="0" err="1"/>
              <a:t>plena</a:t>
            </a:r>
            <a:r>
              <a:rPr lang="fr-FR" i="1" dirty="0"/>
              <a:t> </a:t>
            </a:r>
            <a:r>
              <a:rPr lang="fr-FR" i="1" dirty="0" err="1"/>
              <a:t>dictaque</a:t>
            </a:r>
            <a:r>
              <a:rPr lang="fr-FR" i="1" dirty="0"/>
              <a:t> per </a:t>
            </a:r>
            <a:r>
              <a:rPr lang="fr-FR" i="1" dirty="0" err="1"/>
              <a:t>fabulam</a:t>
            </a:r>
            <a:r>
              <a:rPr lang="fr-FR" i="1" dirty="0"/>
              <a:t> </a:t>
            </a:r>
            <a:r>
              <a:rPr lang="fr-FR" i="1" dirty="0" err="1"/>
              <a:t>ac</a:t>
            </a:r>
            <a:r>
              <a:rPr lang="fr-FR" i="1" dirty="0"/>
              <a:t> </a:t>
            </a:r>
            <a:r>
              <a:rPr lang="fr-FR" i="1" dirty="0" err="1"/>
              <a:t>femineas</a:t>
            </a:r>
            <a:r>
              <a:rPr lang="fr-FR" i="1" dirty="0"/>
              <a:t> </a:t>
            </a:r>
            <a:r>
              <a:rPr lang="fr-FR" i="1" dirty="0" err="1" smtClean="0"/>
              <a:t>nugas</a:t>
            </a:r>
            <a:r>
              <a:rPr lang="fr-FR" dirty="0" smtClean="0"/>
              <a:t>. </a:t>
            </a:r>
            <a:r>
              <a:rPr lang="fr-FR" dirty="0"/>
              <a:t>Incidemment, il fait un certain nombre de remarques similaires, dépréciatives, à propos des femmes</a:t>
            </a:r>
            <a:r>
              <a:rPr lang="fr-FR" dirty="0" smtClean="0"/>
              <a:t>. »</a:t>
            </a:r>
          </a:p>
          <a:p>
            <a:pPr algn="just"/>
            <a:r>
              <a:rPr lang="fr-FR" dirty="0"/>
              <a:t>Dans les biographies de </a:t>
            </a:r>
            <a:r>
              <a:rPr lang="fr-FR" dirty="0" smtClean="0"/>
              <a:t>Tibulle et </a:t>
            </a:r>
            <a:r>
              <a:rPr lang="fr-FR" dirty="0"/>
              <a:t>de </a:t>
            </a:r>
            <a:r>
              <a:rPr lang="fr-FR" dirty="0" smtClean="0"/>
              <a:t>Juvénal, embellissement des </a:t>
            </a:r>
            <a:r>
              <a:rPr lang="fr-FR" dirty="0"/>
              <a:t>vies de Tibulle et de </a:t>
            </a:r>
            <a:r>
              <a:rPr lang="fr-FR" dirty="0" smtClean="0"/>
              <a:t>Juvénal qu’on </a:t>
            </a:r>
            <a:r>
              <a:rPr lang="fr-FR" dirty="0"/>
              <a:t>les trouve dans les manuscrits de ces </a:t>
            </a:r>
            <a:r>
              <a:rPr lang="fr-FR" dirty="0" smtClean="0"/>
              <a:t>auteurs.</a:t>
            </a:r>
          </a:p>
          <a:p>
            <a:pPr algn="just"/>
            <a:r>
              <a:rPr lang="fr-FR" dirty="0" smtClean="0"/>
              <a:t>Citations des poètes intégrées : Dans </a:t>
            </a:r>
            <a:r>
              <a:rPr lang="fr-FR" dirty="0"/>
              <a:t>la vie de Catulle, il dit de </a:t>
            </a:r>
            <a:r>
              <a:rPr lang="fr-FR" dirty="0" err="1"/>
              <a:t>Lesbie</a:t>
            </a:r>
            <a:r>
              <a:rPr lang="fr-FR" dirty="0"/>
              <a:t> que le poète </a:t>
            </a:r>
            <a:r>
              <a:rPr lang="fr-FR" i="1" dirty="0" err="1"/>
              <a:t>basiis</a:t>
            </a:r>
            <a:r>
              <a:rPr lang="fr-FR" i="1" dirty="0"/>
              <a:t> </a:t>
            </a:r>
            <a:r>
              <a:rPr lang="fr-FR" i="1" dirty="0" err="1"/>
              <a:t>multis</a:t>
            </a:r>
            <a:r>
              <a:rPr lang="fr-FR" i="1" dirty="0"/>
              <a:t> </a:t>
            </a:r>
            <a:r>
              <a:rPr lang="fr-FR" i="1" dirty="0" err="1"/>
              <a:t>milibus</a:t>
            </a:r>
            <a:r>
              <a:rPr lang="fr-FR" i="1" dirty="0"/>
              <a:t> </a:t>
            </a:r>
            <a:r>
              <a:rPr lang="fr-FR" i="1" dirty="0" err="1" smtClean="0"/>
              <a:t>basiat</a:t>
            </a:r>
            <a:r>
              <a:rPr lang="fr-FR" dirty="0" smtClean="0"/>
              <a:t>, </a:t>
            </a:r>
            <a:r>
              <a:rPr lang="fr-FR" dirty="0"/>
              <a:t>ce qui est tiré des poèmes 5 et 7 de Catulle : </a:t>
            </a:r>
            <a:r>
              <a:rPr lang="fr-FR" i="1" dirty="0"/>
              <a:t>da mi </a:t>
            </a:r>
            <a:r>
              <a:rPr lang="fr-FR" i="1" dirty="0" err="1"/>
              <a:t>basia</a:t>
            </a:r>
            <a:r>
              <a:rPr lang="fr-FR" i="1" dirty="0"/>
              <a:t> mille… </a:t>
            </a:r>
            <a:r>
              <a:rPr lang="fr-FR" i="1" dirty="0" err="1"/>
              <a:t>milia</a:t>
            </a:r>
            <a:r>
              <a:rPr lang="fr-FR" i="1" dirty="0"/>
              <a:t> </a:t>
            </a:r>
            <a:r>
              <a:rPr lang="fr-FR" i="1" dirty="0" err="1"/>
              <a:t>multa</a:t>
            </a:r>
            <a:r>
              <a:rPr lang="fr-FR" i="1" dirty="0"/>
              <a:t>; </a:t>
            </a:r>
            <a:r>
              <a:rPr lang="fr-FR" i="1" dirty="0" err="1"/>
              <a:t>basia</a:t>
            </a:r>
            <a:r>
              <a:rPr lang="fr-FR" i="1" dirty="0"/>
              <a:t> </a:t>
            </a:r>
            <a:r>
              <a:rPr lang="fr-FR" i="1" dirty="0" err="1"/>
              <a:t>multa</a:t>
            </a:r>
            <a:r>
              <a:rPr lang="fr-FR" i="1" dirty="0"/>
              <a:t> </a:t>
            </a:r>
            <a:r>
              <a:rPr lang="fr-FR" i="1" dirty="0" err="1"/>
              <a:t>basiare</a:t>
            </a:r>
            <a:r>
              <a:rPr lang="fr-FR" dirty="0"/>
              <a:t>. Il ajoute encore que Catulle écrit à son ami Cornelius, </a:t>
            </a:r>
            <a:r>
              <a:rPr lang="fr-FR" i="1" dirty="0"/>
              <a:t>qui </a:t>
            </a:r>
            <a:r>
              <a:rPr lang="fr-FR" i="1" dirty="0" err="1"/>
              <a:t>nugas</a:t>
            </a:r>
            <a:r>
              <a:rPr lang="fr-FR" i="1" dirty="0"/>
              <a:t> </a:t>
            </a:r>
            <a:r>
              <a:rPr lang="fr-FR" i="1" dirty="0" err="1"/>
              <a:t>eius</a:t>
            </a:r>
            <a:r>
              <a:rPr lang="fr-FR" i="1" dirty="0"/>
              <a:t> </a:t>
            </a:r>
            <a:r>
              <a:rPr lang="fr-FR" i="1" dirty="0" err="1"/>
              <a:t>aliquid</a:t>
            </a:r>
            <a:r>
              <a:rPr lang="fr-FR" i="1" dirty="0"/>
              <a:t> esse </a:t>
            </a:r>
            <a:r>
              <a:rPr lang="fr-FR" i="1" dirty="0" err="1"/>
              <a:t>putare</a:t>
            </a:r>
            <a:r>
              <a:rPr lang="fr-FR" i="1" dirty="0"/>
              <a:t> soleret</a:t>
            </a:r>
            <a:r>
              <a:rPr lang="fr-FR" dirty="0"/>
              <a:t>. Cela provient du poème 1, vers 3–4 : </a:t>
            </a:r>
            <a:r>
              <a:rPr lang="fr-FR" i="1" dirty="0" err="1"/>
              <a:t>namque</a:t>
            </a:r>
            <a:r>
              <a:rPr lang="fr-FR" i="1" dirty="0"/>
              <a:t> tu </a:t>
            </a:r>
            <a:r>
              <a:rPr lang="fr-FR" i="1" dirty="0" err="1"/>
              <a:t>solebas</a:t>
            </a:r>
            <a:r>
              <a:rPr lang="fr-FR" i="1" dirty="0"/>
              <a:t> </a:t>
            </a:r>
            <a:r>
              <a:rPr lang="fr-FR" i="1" dirty="0" err="1"/>
              <a:t>meas</a:t>
            </a:r>
            <a:r>
              <a:rPr lang="fr-FR" i="1" dirty="0"/>
              <a:t> esse </a:t>
            </a:r>
            <a:r>
              <a:rPr lang="fr-FR" i="1" dirty="0" err="1"/>
              <a:t>aliquid</a:t>
            </a:r>
            <a:r>
              <a:rPr lang="fr-FR" i="1" dirty="0"/>
              <a:t> </a:t>
            </a:r>
            <a:r>
              <a:rPr lang="fr-FR" i="1" dirty="0" err="1"/>
              <a:t>putare</a:t>
            </a:r>
            <a:r>
              <a:rPr lang="fr-FR" i="1" dirty="0"/>
              <a:t> </a:t>
            </a:r>
            <a:r>
              <a:rPr lang="fr-FR" i="1" dirty="0" err="1"/>
              <a:t>nugas</a:t>
            </a:r>
            <a:r>
              <a:rPr lang="fr-FR" dirty="0"/>
              <a:t>. Dans la vie de Properce, il dit de Cynthia : </a:t>
            </a:r>
            <a:r>
              <a:rPr lang="fr-FR" i="1" dirty="0" err="1"/>
              <a:t>quae</a:t>
            </a:r>
            <a:r>
              <a:rPr lang="fr-FR" i="1" dirty="0"/>
              <a:t> </a:t>
            </a:r>
            <a:r>
              <a:rPr lang="fr-FR" i="1" dirty="0" err="1"/>
              <a:t>miserum</a:t>
            </a:r>
            <a:r>
              <a:rPr lang="fr-FR" i="1" dirty="0"/>
              <a:t> </a:t>
            </a:r>
            <a:r>
              <a:rPr lang="fr-FR" i="1" dirty="0" err="1"/>
              <a:t>ipsum</a:t>
            </a:r>
            <a:r>
              <a:rPr lang="fr-FR" i="1" dirty="0"/>
              <a:t> </a:t>
            </a:r>
            <a:r>
              <a:rPr lang="fr-FR" i="1" dirty="0" err="1"/>
              <a:t>ocellis</a:t>
            </a:r>
            <a:r>
              <a:rPr lang="fr-FR" i="1" dirty="0"/>
              <a:t> </a:t>
            </a:r>
            <a:r>
              <a:rPr lang="fr-FR" i="1" dirty="0" err="1"/>
              <a:t>fecerat</a:t>
            </a:r>
            <a:r>
              <a:rPr lang="fr-FR" i="1" dirty="0"/>
              <a:t> suis</a:t>
            </a:r>
            <a:r>
              <a:rPr lang="fr-FR" dirty="0"/>
              <a:t> (64,12). Cela vient de Properce I, 1, 1 : </a:t>
            </a:r>
            <a:r>
              <a:rPr lang="fr-FR" i="1" dirty="0" err="1"/>
              <a:t>miserum</a:t>
            </a:r>
            <a:r>
              <a:rPr lang="fr-FR" i="1" dirty="0"/>
              <a:t> me </a:t>
            </a:r>
            <a:r>
              <a:rPr lang="fr-FR" i="1" dirty="0" err="1"/>
              <a:t>cepit</a:t>
            </a:r>
            <a:r>
              <a:rPr lang="fr-FR" i="1" dirty="0"/>
              <a:t> </a:t>
            </a:r>
            <a:r>
              <a:rPr lang="fr-FR" i="1" dirty="0" err="1" smtClean="0"/>
              <a:t>ocellis</a:t>
            </a:r>
            <a:r>
              <a:rPr lang="fr-FR" dirty="0"/>
              <a:t> </a:t>
            </a:r>
            <a:r>
              <a:rPr lang="fr-FR" dirty="0" smtClean="0"/>
              <a:t>(leçon </a:t>
            </a:r>
            <a:r>
              <a:rPr lang="fr-FR" i="1" dirty="0" err="1"/>
              <a:t>fecerat</a:t>
            </a:r>
            <a:r>
              <a:rPr lang="fr-FR" dirty="0"/>
              <a:t> permet de déterminer la classe de manuscrits à laquelle appartenait celui de </a:t>
            </a:r>
            <a:r>
              <a:rPr lang="fr-FR" dirty="0" err="1"/>
              <a:t>Sicco</a:t>
            </a:r>
            <a:r>
              <a:rPr lang="fr-FR" dirty="0"/>
              <a:t>, car certains donnent à tort </a:t>
            </a:r>
            <a:r>
              <a:rPr lang="fr-FR" i="1" dirty="0" err="1"/>
              <a:t>fecit</a:t>
            </a:r>
            <a:r>
              <a:rPr lang="fr-FR" dirty="0"/>
              <a:t> au lieu de </a:t>
            </a:r>
            <a:r>
              <a:rPr lang="fr-FR" i="1" dirty="0" err="1" smtClean="0"/>
              <a:t>cepit</a:t>
            </a:r>
            <a:r>
              <a:rPr lang="fr-FR" i="1" dirty="0" smtClean="0"/>
              <a:t>)</a:t>
            </a:r>
            <a:r>
              <a:rPr lang="fr-FR" dirty="0" smtClean="0"/>
              <a:t>.</a:t>
            </a:r>
            <a:endParaRPr lang="fr-FR" dirty="0"/>
          </a:p>
        </p:txBody>
      </p:sp>
    </p:spTree>
    <p:extLst>
      <p:ext uri="{BB962C8B-B14F-4D97-AF65-F5344CB8AC3E}">
        <p14:creationId xmlns:p14="http://schemas.microsoft.com/office/powerpoint/2010/main" val="83984612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a:t/>
            </a:r>
            <a:br>
              <a:rPr lang="fr-FR" dirty="0"/>
            </a:br>
            <a:r>
              <a:rPr lang="fr-FR" dirty="0" smtClean="0"/>
              <a:t>Sources</a:t>
            </a:r>
            <a:endParaRPr lang="fr-FR" dirty="0"/>
          </a:p>
        </p:txBody>
      </p:sp>
      <p:sp>
        <p:nvSpPr>
          <p:cNvPr id="3" name="Content Placeholder 2"/>
          <p:cNvSpPr>
            <a:spLocks noGrp="1"/>
          </p:cNvSpPr>
          <p:nvPr>
            <p:ph idx="1"/>
          </p:nvPr>
        </p:nvSpPr>
        <p:spPr/>
        <p:txBody>
          <a:bodyPr>
            <a:normAutofit fontScale="92500" lnSpcReduction="10000"/>
          </a:bodyPr>
          <a:lstStyle/>
          <a:p>
            <a:pPr marL="0" indent="0" algn="just">
              <a:buNone/>
            </a:pPr>
            <a:endParaRPr lang="fr-FR" dirty="0" smtClean="0"/>
          </a:p>
          <a:p>
            <a:r>
              <a:rPr lang="fr-FR" dirty="0"/>
              <a:t>En écrivant sur Cicéron, il affirme que la mort de </a:t>
            </a:r>
            <a:r>
              <a:rPr lang="fr-FR" dirty="0" err="1"/>
              <a:t>Tullia</a:t>
            </a:r>
            <a:r>
              <a:rPr lang="fr-FR" dirty="0"/>
              <a:t> conduisit Cicéron à écrire sur la </a:t>
            </a:r>
            <a:r>
              <a:rPr lang="fr-FR" dirty="0" smtClean="0"/>
              <a:t>consolation </a:t>
            </a:r>
            <a:r>
              <a:rPr lang="fr-FR" dirty="0"/>
              <a:t>:</a:t>
            </a:r>
          </a:p>
          <a:p>
            <a:pPr marL="0" indent="0" algn="ctr">
              <a:buNone/>
            </a:pPr>
            <a:r>
              <a:rPr lang="fr-FR" dirty="0"/>
              <a:t>« Alors, afin d’atténuer par quelque remède la grandeur de sa douleur, il publia un livre, intitulé </a:t>
            </a:r>
            <a:r>
              <a:rPr lang="fr-FR" i="1" dirty="0"/>
              <a:t>De </a:t>
            </a:r>
            <a:r>
              <a:rPr lang="fr-FR" i="1" dirty="0" err="1"/>
              <a:t>Consolatione</a:t>
            </a:r>
            <a:r>
              <a:rPr lang="fr-FR" dirty="0"/>
              <a:t>. »</a:t>
            </a:r>
          </a:p>
          <a:p>
            <a:r>
              <a:rPr lang="fr-FR" dirty="0"/>
              <a:t>Cette œuvre est perdue, mais un traité sur ce sujet, attribué à Cicéron, nous est parvenu. La date de cette contrefaçon a été située depuis l’Antiquité jusqu’au XVIᵉ siècle. Or </a:t>
            </a:r>
            <a:r>
              <a:rPr lang="fr-FR" dirty="0" err="1"/>
              <a:t>Sicco</a:t>
            </a:r>
            <a:r>
              <a:rPr lang="fr-FR" dirty="0"/>
              <a:t> semble avoir eu ce traité en tête. Ses premiers mots sont :</a:t>
            </a:r>
          </a:p>
          <a:p>
            <a:pPr marL="0" indent="0" algn="ctr">
              <a:buNone/>
            </a:pPr>
            <a:r>
              <a:rPr lang="fr-FR" dirty="0"/>
              <a:t>« Bien que les sages interdisent d’appliquer des remèdes aux maladies récentes… nous avons été contraints de chercher un secours pour adoucir et atténuer la douleur. »</a:t>
            </a:r>
          </a:p>
          <a:p>
            <a:pPr algn="just"/>
            <a:r>
              <a:rPr lang="fr-FR" dirty="0"/>
              <a:t>La similitude </a:t>
            </a:r>
            <a:r>
              <a:rPr lang="fr-FR" dirty="0" smtClean="0"/>
              <a:t>en latin est suffisamment frappante </a:t>
            </a:r>
            <a:r>
              <a:rPr lang="fr-FR" dirty="0"/>
              <a:t>pour justifier l’affirmation qu’il avait accès à ce traité pseudo-cicéronien et qu’il le considérait comme </a:t>
            </a:r>
            <a:r>
              <a:rPr lang="fr-FR" dirty="0" smtClean="0"/>
              <a:t>authentique.</a:t>
            </a:r>
          </a:p>
          <a:p>
            <a:pPr algn="just"/>
            <a:r>
              <a:rPr lang="fr-FR" dirty="0" smtClean="0"/>
              <a:t>Il ne fut donc pas composé au XVIᵉ siècle, mais probablement pas plus tard que le Moyen Âge (donc pas attribuable à Carlo </a:t>
            </a:r>
            <a:r>
              <a:rPr lang="fr-FR" dirty="0" err="1" smtClean="0"/>
              <a:t>Sigonio</a:t>
            </a:r>
            <a:r>
              <a:rPr lang="fr-FR" dirty="0" smtClean="0"/>
              <a:t> qu’on a accusé d’avoir forgé le traité). </a:t>
            </a:r>
            <a:endParaRPr lang="fr-FR" dirty="0"/>
          </a:p>
        </p:txBody>
      </p:sp>
    </p:spTree>
    <p:extLst>
      <p:ext uri="{BB962C8B-B14F-4D97-AF65-F5344CB8AC3E}">
        <p14:creationId xmlns:p14="http://schemas.microsoft.com/office/powerpoint/2010/main" val="37987399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fr-FR" dirty="0" err="1"/>
              <a:t>Scriptorum</a:t>
            </a:r>
            <a:r>
              <a:rPr lang="fr-FR" dirty="0"/>
              <a:t> </a:t>
            </a:r>
            <a:r>
              <a:rPr lang="fr-FR" dirty="0" err="1"/>
              <a:t>Illustrium</a:t>
            </a:r>
            <a:r>
              <a:rPr lang="fr-FR" dirty="0"/>
              <a:t> </a:t>
            </a:r>
            <a:r>
              <a:rPr lang="fr-FR" dirty="0" err="1"/>
              <a:t>Latinae</a:t>
            </a:r>
            <a:r>
              <a:rPr lang="fr-FR" dirty="0"/>
              <a:t> Linguae </a:t>
            </a:r>
            <a:r>
              <a:rPr lang="fr-FR" dirty="0" err="1" smtClean="0"/>
              <a:t>Libri</a:t>
            </a:r>
            <a:r>
              <a:rPr lang="fr-FR" dirty="0"/>
              <a:t/>
            </a:r>
            <a:br>
              <a:rPr lang="fr-FR" dirty="0"/>
            </a:br>
            <a:r>
              <a:rPr lang="fr-FR" dirty="0" smtClean="0"/>
              <a:t>Sources</a:t>
            </a:r>
            <a:endParaRPr lang="fr-FR" dirty="0"/>
          </a:p>
        </p:txBody>
      </p:sp>
      <p:sp>
        <p:nvSpPr>
          <p:cNvPr id="3" name="Content Placeholder 2"/>
          <p:cNvSpPr>
            <a:spLocks noGrp="1"/>
          </p:cNvSpPr>
          <p:nvPr>
            <p:ph idx="1"/>
          </p:nvPr>
        </p:nvSpPr>
        <p:spPr>
          <a:xfrm>
            <a:off x="581192" y="2180496"/>
            <a:ext cx="11029615" cy="4070835"/>
          </a:xfrm>
        </p:spPr>
        <p:txBody>
          <a:bodyPr>
            <a:normAutofit fontScale="92500"/>
          </a:bodyPr>
          <a:lstStyle/>
          <a:p>
            <a:pPr marL="0" indent="0" algn="just">
              <a:buNone/>
            </a:pPr>
            <a:endParaRPr lang="fr-FR" dirty="0" smtClean="0"/>
          </a:p>
          <a:p>
            <a:pPr algn="just"/>
            <a:r>
              <a:rPr lang="fr-FR" dirty="0"/>
              <a:t>Le nombre d’œuvres connues de </a:t>
            </a:r>
            <a:r>
              <a:rPr lang="fr-FR" dirty="0" err="1"/>
              <a:t>Sicco</a:t>
            </a:r>
            <a:r>
              <a:rPr lang="fr-FR" dirty="0"/>
              <a:t> est étonnamment élevé ; il connaissait la plupart des œuvres que nous connaissons aujourd’hui, bien qu’il ne soit pas nécessaire de supposer qu’il les ait toutes lues ni même qu’il y ait eu accès directement. Parmi les exceptions notables figurent </a:t>
            </a:r>
            <a:r>
              <a:rPr lang="fr-FR" dirty="0" smtClean="0"/>
              <a:t>Lucrèce, </a:t>
            </a:r>
            <a:r>
              <a:rPr lang="fr-FR" dirty="0"/>
              <a:t>Pétrone, </a:t>
            </a:r>
            <a:r>
              <a:rPr lang="fr-FR" dirty="0" err="1"/>
              <a:t>Valerius</a:t>
            </a:r>
            <a:r>
              <a:rPr lang="fr-FR" dirty="0"/>
              <a:t> </a:t>
            </a:r>
            <a:r>
              <a:rPr lang="fr-FR" dirty="0" err="1"/>
              <a:t>Flaccus</a:t>
            </a:r>
            <a:r>
              <a:rPr lang="fr-FR" dirty="0"/>
              <a:t> et le </a:t>
            </a:r>
            <a:r>
              <a:rPr lang="fr-FR" i="1" dirty="0"/>
              <a:t>De </a:t>
            </a:r>
            <a:r>
              <a:rPr lang="fr-FR" i="1" dirty="0" err="1"/>
              <a:t>aquis</a:t>
            </a:r>
            <a:r>
              <a:rPr lang="fr-FR" dirty="0"/>
              <a:t> de </a:t>
            </a:r>
            <a:r>
              <a:rPr lang="fr-FR" dirty="0" smtClean="0"/>
              <a:t>Frontin.</a:t>
            </a:r>
          </a:p>
          <a:p>
            <a:pPr algn="just"/>
            <a:r>
              <a:rPr lang="fr-FR" dirty="0" smtClean="0"/>
              <a:t>De </a:t>
            </a:r>
            <a:r>
              <a:rPr lang="fr-FR" dirty="0"/>
              <a:t>Plaute, il ne connaissait apparemment que huit comédies. Il ne mentionne pas les </a:t>
            </a:r>
            <a:r>
              <a:rPr lang="fr-FR" i="1" dirty="0"/>
              <a:t>Silves</a:t>
            </a:r>
            <a:r>
              <a:rPr lang="fr-FR" dirty="0"/>
              <a:t> de Stace, bien qu’il connût </a:t>
            </a:r>
            <a:r>
              <a:rPr lang="fr-FR" dirty="0" err="1"/>
              <a:t>Silius</a:t>
            </a:r>
            <a:r>
              <a:rPr lang="fr-FR" dirty="0"/>
              <a:t> </a:t>
            </a:r>
            <a:r>
              <a:rPr lang="fr-FR" dirty="0" err="1"/>
              <a:t>Italicus</a:t>
            </a:r>
            <a:r>
              <a:rPr lang="fr-FR" dirty="0"/>
              <a:t>, découvert par Poggio à la même époque. Il parle de lettres en prose de Stace </a:t>
            </a:r>
            <a:r>
              <a:rPr lang="fr-FR" dirty="0" smtClean="0"/>
              <a:t>; l’explication </a:t>
            </a:r>
            <a:r>
              <a:rPr lang="fr-FR" dirty="0"/>
              <a:t>la plus probable est qu’il avait entendu parler, sans les avoir vues, des lettres placées en préface aux livres des </a:t>
            </a:r>
            <a:r>
              <a:rPr lang="fr-FR" i="1" dirty="0"/>
              <a:t>Silves</a:t>
            </a:r>
            <a:r>
              <a:rPr lang="fr-FR" dirty="0"/>
              <a:t>.</a:t>
            </a:r>
          </a:p>
          <a:p>
            <a:pPr algn="just"/>
            <a:r>
              <a:rPr lang="fr-FR" dirty="0" err="1"/>
              <a:t>Sicco</a:t>
            </a:r>
            <a:r>
              <a:rPr lang="fr-FR" dirty="0"/>
              <a:t> nous </a:t>
            </a:r>
            <a:r>
              <a:rPr lang="fr-FR" dirty="0" smtClean="0"/>
              <a:t>dit </a:t>
            </a:r>
            <a:r>
              <a:rPr lang="fr-FR" dirty="0"/>
              <a:t>qu’il a vu des lettres échangées entre Perse et Lucain. S’agit-il d’un simple développement de l’affirmation contenue dans la </a:t>
            </a:r>
            <a:r>
              <a:rPr lang="fr-FR" i="1" dirty="0"/>
              <a:t>Vita </a:t>
            </a:r>
            <a:r>
              <a:rPr lang="fr-FR" i="1" dirty="0" err="1"/>
              <a:t>Persii</a:t>
            </a:r>
            <a:r>
              <a:rPr lang="fr-FR" dirty="0"/>
              <a:t> transmise par les manuscrits de Perse, selon laquelle Perse et Lucain étaient de bons amis ? Ou bien </a:t>
            </a:r>
            <a:r>
              <a:rPr lang="fr-FR" dirty="0" err="1"/>
              <a:t>Sicco</a:t>
            </a:r>
            <a:r>
              <a:rPr lang="fr-FR" dirty="0"/>
              <a:t> avait-il accès à une forme plus développée de cette </a:t>
            </a:r>
            <a:r>
              <a:rPr lang="fr-FR" i="1" dirty="0"/>
              <a:t>Vita </a:t>
            </a:r>
            <a:r>
              <a:rPr lang="fr-FR" i="1" dirty="0" err="1"/>
              <a:t>Persii</a:t>
            </a:r>
            <a:r>
              <a:rPr lang="fr-FR" dirty="0"/>
              <a:t>, dans laquelle les lettres étaient citées, comme dans la Vie d’Horace de Suétone, où l’on trouve des lettres d’Horace, de Mécène et d’Auguste ? Ou bien encore </a:t>
            </a:r>
            <a:r>
              <a:rPr lang="fr-FR" dirty="0" err="1"/>
              <a:t>Sicco</a:t>
            </a:r>
            <a:r>
              <a:rPr lang="fr-FR" dirty="0"/>
              <a:t> </a:t>
            </a:r>
            <a:r>
              <a:rPr lang="fr-FR" dirty="0" err="1"/>
              <a:t>a-t-il</a:t>
            </a:r>
            <a:r>
              <a:rPr lang="fr-FR" dirty="0"/>
              <a:t> été trompé par des inventions humanistes, comme le suggère </a:t>
            </a:r>
            <a:r>
              <a:rPr lang="fr-FR" dirty="0" err="1" smtClean="0"/>
              <a:t>Sabbadini</a:t>
            </a:r>
            <a:r>
              <a:rPr lang="fr-FR" dirty="0" smtClean="0"/>
              <a:t> </a:t>
            </a:r>
            <a:r>
              <a:rPr lang="fr-FR" dirty="0"/>
              <a:t>? </a:t>
            </a:r>
          </a:p>
        </p:txBody>
      </p:sp>
    </p:spTree>
    <p:extLst>
      <p:ext uri="{BB962C8B-B14F-4D97-AF65-F5344CB8AC3E}">
        <p14:creationId xmlns:p14="http://schemas.microsoft.com/office/powerpoint/2010/main" val="24207540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fr-FR" dirty="0" smtClean="0"/>
              <a:t/>
            </a:r>
            <a:br>
              <a:rPr lang="fr-FR" dirty="0" smtClean="0"/>
            </a:br>
            <a:r>
              <a:rPr lang="fr-FR" dirty="0" smtClean="0"/>
              <a:t>La tradition des vitae</a:t>
            </a:r>
            <a:br>
              <a:rPr lang="fr-FR" dirty="0" smtClean="0"/>
            </a:br>
            <a:r>
              <a:rPr lang="fr-FR" dirty="0" smtClean="0"/>
              <a:t>Naissance du genre historiographique à </a:t>
            </a:r>
            <a:r>
              <a:rPr lang="fr-FR" dirty="0" err="1" smtClean="0"/>
              <a:t>rome</a:t>
            </a:r>
            <a:endParaRPr lang="fr-FR" dirty="0"/>
          </a:p>
        </p:txBody>
      </p:sp>
      <p:sp>
        <p:nvSpPr>
          <p:cNvPr id="3" name="Content Placeholder 2"/>
          <p:cNvSpPr>
            <a:spLocks noGrp="1"/>
          </p:cNvSpPr>
          <p:nvPr>
            <p:ph idx="1"/>
          </p:nvPr>
        </p:nvSpPr>
        <p:spPr>
          <a:xfrm>
            <a:off x="435349" y="1861435"/>
            <a:ext cx="11321303" cy="4674001"/>
          </a:xfrm>
        </p:spPr>
        <p:txBody>
          <a:bodyPr>
            <a:normAutofit lnSpcReduction="10000"/>
          </a:bodyPr>
          <a:lstStyle/>
          <a:p>
            <a:pPr algn="just"/>
            <a:r>
              <a:rPr lang="fr-FR" b="1" dirty="0"/>
              <a:t>Origine de l’historiographie romaine : </a:t>
            </a:r>
            <a:r>
              <a:rPr lang="fr-FR" b="1" dirty="0" smtClean="0"/>
              <a:t> </a:t>
            </a:r>
            <a:r>
              <a:rPr lang="fr-FR" dirty="0" smtClean="0"/>
              <a:t>Avant </a:t>
            </a:r>
            <a:r>
              <a:rPr lang="fr-FR" dirty="0"/>
              <a:t>la Seconde Guerre punique, Rome n’avait pas de tradition </a:t>
            </a:r>
            <a:r>
              <a:rPr lang="fr-FR" dirty="0" smtClean="0"/>
              <a:t>historiographique. La </a:t>
            </a:r>
            <a:r>
              <a:rPr lang="fr-FR" dirty="0"/>
              <a:t>guerre contre Carthage a été un moteur pour sa naissance</a:t>
            </a:r>
            <a:r>
              <a:rPr lang="fr-FR" dirty="0" smtClean="0"/>
              <a:t>.</a:t>
            </a:r>
          </a:p>
          <a:p>
            <a:pPr algn="just"/>
            <a:r>
              <a:rPr lang="fr-FR" b="1" dirty="0" smtClean="0"/>
              <a:t>Fondateurs </a:t>
            </a:r>
            <a:r>
              <a:rPr lang="fr-FR" b="1" dirty="0"/>
              <a:t>: </a:t>
            </a:r>
            <a:r>
              <a:rPr lang="fr-FR" dirty="0"/>
              <a:t>Quintus Fabius </a:t>
            </a:r>
            <a:r>
              <a:rPr lang="fr-FR" dirty="0" err="1"/>
              <a:t>Pictor</a:t>
            </a:r>
            <a:r>
              <a:rPr lang="fr-FR" dirty="0"/>
              <a:t> et Lucius </a:t>
            </a:r>
            <a:r>
              <a:rPr lang="fr-FR" dirty="0" err="1"/>
              <a:t>Cincius</a:t>
            </a:r>
            <a:r>
              <a:rPr lang="fr-FR" dirty="0"/>
              <a:t> </a:t>
            </a:r>
            <a:r>
              <a:rPr lang="fr-FR" dirty="0" err="1"/>
              <a:t>Alimentus</a:t>
            </a:r>
            <a:r>
              <a:rPr lang="fr-FR" dirty="0"/>
              <a:t>, deux sénateurs et participants à la guerre, sont considérés comme les </a:t>
            </a:r>
            <a:r>
              <a:rPr lang="fr-FR" dirty="0" smtClean="0"/>
              <a:t>« pères » </a:t>
            </a:r>
            <a:r>
              <a:rPr lang="fr-FR" dirty="0"/>
              <a:t>de l’historiographie romaine</a:t>
            </a:r>
            <a:r>
              <a:rPr lang="fr-FR" dirty="0" smtClean="0"/>
              <a:t>.</a:t>
            </a:r>
          </a:p>
          <a:p>
            <a:pPr lvl="1" algn="just"/>
            <a:r>
              <a:rPr lang="fr-FR" dirty="0" smtClean="0"/>
              <a:t>Fabius </a:t>
            </a:r>
            <a:r>
              <a:rPr lang="fr-FR" dirty="0" err="1"/>
              <a:t>Pictor</a:t>
            </a:r>
            <a:r>
              <a:rPr lang="fr-FR" dirty="0"/>
              <a:t> : écrivait en grec pour défendre Rome face à </a:t>
            </a:r>
            <a:r>
              <a:rPr lang="fr-FR" dirty="0" err="1" smtClean="0"/>
              <a:t>Timaeus</a:t>
            </a:r>
            <a:r>
              <a:rPr lang="fr-FR" dirty="0" smtClean="0"/>
              <a:t>, dans un </a:t>
            </a:r>
            <a:r>
              <a:rPr lang="fr-FR" dirty="0"/>
              <a:t>style </a:t>
            </a:r>
            <a:r>
              <a:rPr lang="fr-FR" dirty="0" smtClean="0"/>
              <a:t>mêlant </a:t>
            </a:r>
            <a:r>
              <a:rPr lang="fr-FR" dirty="0"/>
              <a:t>histoire et propagande</a:t>
            </a:r>
            <a:r>
              <a:rPr lang="fr-FR" dirty="0" smtClean="0"/>
              <a:t>.</a:t>
            </a:r>
          </a:p>
          <a:p>
            <a:pPr lvl="1" algn="just"/>
            <a:r>
              <a:rPr lang="fr-FR" dirty="0" err="1" smtClean="0"/>
              <a:t>Cincius</a:t>
            </a:r>
            <a:r>
              <a:rPr lang="fr-FR" dirty="0" smtClean="0"/>
              <a:t> </a:t>
            </a:r>
            <a:r>
              <a:rPr lang="fr-FR" dirty="0" err="1"/>
              <a:t>Alimentus</a:t>
            </a:r>
            <a:r>
              <a:rPr lang="fr-FR" dirty="0"/>
              <a:t> : également en grec, moins estimé par les historiens ultérieurs, notamment pour des erreurs numériques</a:t>
            </a:r>
            <a:r>
              <a:rPr lang="fr-FR" dirty="0" smtClean="0"/>
              <a:t>.</a:t>
            </a:r>
          </a:p>
          <a:p>
            <a:pPr algn="just"/>
            <a:r>
              <a:rPr lang="fr-FR" b="1" dirty="0" smtClean="0"/>
              <a:t>Successeurs : </a:t>
            </a:r>
            <a:r>
              <a:rPr lang="fr-FR" dirty="0" smtClean="0"/>
              <a:t>De </a:t>
            </a:r>
            <a:r>
              <a:rPr lang="fr-FR" dirty="0"/>
              <a:t>nombreux auteurs ont suivi </a:t>
            </a:r>
            <a:r>
              <a:rPr lang="fr-FR" dirty="0" err="1"/>
              <a:t>Pictor</a:t>
            </a:r>
            <a:r>
              <a:rPr lang="fr-FR" dirty="0"/>
              <a:t>, comme Gaius </a:t>
            </a:r>
            <a:r>
              <a:rPr lang="fr-FR" dirty="0" err="1"/>
              <a:t>Acilius</a:t>
            </a:r>
            <a:r>
              <a:rPr lang="fr-FR" dirty="0"/>
              <a:t>, </a:t>
            </a:r>
            <a:r>
              <a:rPr lang="fr-FR" dirty="0" err="1"/>
              <a:t>Aulus</a:t>
            </a:r>
            <a:r>
              <a:rPr lang="fr-FR" dirty="0"/>
              <a:t> </a:t>
            </a:r>
            <a:r>
              <a:rPr lang="fr-FR" dirty="0" err="1"/>
              <a:t>Postumius</a:t>
            </a:r>
            <a:r>
              <a:rPr lang="fr-FR" dirty="0"/>
              <a:t> </a:t>
            </a:r>
            <a:r>
              <a:rPr lang="fr-FR" dirty="0" err="1"/>
              <a:t>Albinus</a:t>
            </a:r>
            <a:r>
              <a:rPr lang="fr-FR" dirty="0"/>
              <a:t> et </a:t>
            </a:r>
            <a:r>
              <a:rPr lang="fr-FR" dirty="0" smtClean="0"/>
              <a:t>Cato</a:t>
            </a:r>
            <a:r>
              <a:rPr lang="fr-FR" dirty="0"/>
              <a:t>n</a:t>
            </a:r>
            <a:r>
              <a:rPr lang="fr-FR" dirty="0" smtClean="0"/>
              <a:t> </a:t>
            </a:r>
            <a:r>
              <a:rPr lang="fr-FR" dirty="0"/>
              <a:t>l’Ancien</a:t>
            </a:r>
            <a:r>
              <a:rPr lang="fr-FR" dirty="0" smtClean="0"/>
              <a:t>.</a:t>
            </a:r>
          </a:p>
          <a:p>
            <a:pPr lvl="1" algn="just"/>
            <a:r>
              <a:rPr lang="fr-FR" b="1" dirty="0" smtClean="0"/>
              <a:t>Caton</a:t>
            </a:r>
            <a:r>
              <a:rPr lang="fr-FR" dirty="0" smtClean="0"/>
              <a:t> </a:t>
            </a:r>
            <a:r>
              <a:rPr lang="fr-FR" dirty="0"/>
              <a:t>écrit en latin et valorise les vertus romaines dans ses </a:t>
            </a:r>
            <a:r>
              <a:rPr lang="fr-FR" b="1" i="1" dirty="0"/>
              <a:t>Origines</a:t>
            </a:r>
            <a:r>
              <a:rPr lang="fr-FR" dirty="0"/>
              <a:t>, tout en comparant Rome et les autres cités italiennes aux Grecs</a:t>
            </a:r>
            <a:r>
              <a:rPr lang="fr-FR" dirty="0" smtClean="0"/>
              <a:t>.</a:t>
            </a:r>
          </a:p>
          <a:p>
            <a:pPr algn="just"/>
            <a:r>
              <a:rPr lang="fr-FR" b="1" dirty="0" smtClean="0"/>
              <a:t>Popularité </a:t>
            </a:r>
            <a:r>
              <a:rPr lang="fr-FR" b="1" dirty="0"/>
              <a:t>et prestige : </a:t>
            </a:r>
            <a:r>
              <a:rPr lang="fr-FR" dirty="0"/>
              <a:t>L’historiographie devient un loisir respectable pour les élites romaines, considéré comme une activité vertueuse et digne pendant le temps libre ou la retraite (</a:t>
            </a:r>
            <a:r>
              <a:rPr lang="fr-FR" i="1" dirty="0" err="1"/>
              <a:t>otium</a:t>
            </a:r>
            <a:r>
              <a:rPr lang="fr-FR" dirty="0" smtClean="0"/>
              <a:t>).</a:t>
            </a:r>
          </a:p>
          <a:p>
            <a:pPr algn="just"/>
            <a:r>
              <a:rPr lang="fr-FR" b="1" dirty="0" smtClean="0"/>
              <a:t>Deux </a:t>
            </a:r>
            <a:r>
              <a:rPr lang="fr-FR" b="1" dirty="0"/>
              <a:t>traditions : </a:t>
            </a:r>
            <a:r>
              <a:rPr lang="fr-FR" dirty="0"/>
              <a:t>Dès ses débuts, l’historiographie romaine se divise en deux genres </a:t>
            </a:r>
            <a:r>
              <a:rPr lang="fr-FR" dirty="0" smtClean="0"/>
              <a:t>: tradition </a:t>
            </a:r>
            <a:r>
              <a:rPr lang="fr-FR" dirty="0"/>
              <a:t>annalistique (chronologique</a:t>
            </a:r>
            <a:r>
              <a:rPr lang="fr-FR" dirty="0" smtClean="0"/>
              <a:t>) et la tradition </a:t>
            </a:r>
            <a:r>
              <a:rPr lang="fr-FR" dirty="0"/>
              <a:t>monographique (centrée sur un thème ou un personnage)</a:t>
            </a:r>
          </a:p>
        </p:txBody>
      </p:sp>
    </p:spTree>
    <p:extLst>
      <p:ext uri="{BB962C8B-B14F-4D97-AF65-F5344CB8AC3E}">
        <p14:creationId xmlns:p14="http://schemas.microsoft.com/office/powerpoint/2010/main" val="386531478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Contenu du livre II</a:t>
            </a:r>
            <a:endParaRPr lang="fr-FR" dirty="0"/>
          </a:p>
        </p:txBody>
      </p:sp>
      <p:sp>
        <p:nvSpPr>
          <p:cNvPr id="3" name="Content Placeholder 2"/>
          <p:cNvSpPr>
            <a:spLocks noGrp="1"/>
          </p:cNvSpPr>
          <p:nvPr>
            <p:ph sz="half" idx="1"/>
          </p:nvPr>
        </p:nvSpPr>
        <p:spPr>
          <a:xfrm>
            <a:off x="581193" y="2228003"/>
            <a:ext cx="5422390" cy="4509681"/>
          </a:xfrm>
        </p:spPr>
        <p:txBody>
          <a:bodyPr>
            <a:normAutofit fontScale="92500" lnSpcReduction="20000"/>
          </a:bodyPr>
          <a:lstStyle/>
          <a:p>
            <a:pPr algn="just">
              <a:lnSpc>
                <a:spcPct val="120000"/>
              </a:lnSpc>
              <a:spcBef>
                <a:spcPts val="0"/>
              </a:spcBef>
              <a:spcAft>
                <a:spcPts val="0"/>
              </a:spcAft>
            </a:pPr>
            <a:r>
              <a:rPr lang="fr-FR" i="1" dirty="0" smtClean="0"/>
              <a:t> </a:t>
            </a:r>
            <a:r>
              <a:rPr lang="fr-FR" dirty="0" smtClean="0"/>
              <a:t>Introduction et plan</a:t>
            </a:r>
          </a:p>
          <a:p>
            <a:pPr algn="just">
              <a:lnSpc>
                <a:spcPct val="120000"/>
              </a:lnSpc>
              <a:spcBef>
                <a:spcPts val="0"/>
              </a:spcBef>
              <a:spcAft>
                <a:spcPts val="0"/>
              </a:spcAft>
            </a:pPr>
            <a:r>
              <a:rPr lang="fr-FR" dirty="0" smtClean="0"/>
              <a:t>Origine du mètre</a:t>
            </a:r>
          </a:p>
          <a:p>
            <a:pPr algn="just">
              <a:lnSpc>
                <a:spcPct val="120000"/>
              </a:lnSpc>
              <a:spcBef>
                <a:spcPts val="0"/>
              </a:spcBef>
              <a:spcAft>
                <a:spcPts val="0"/>
              </a:spcAft>
            </a:pPr>
            <a:r>
              <a:rPr lang="fr-FR" dirty="0" smtClean="0"/>
              <a:t>Rôle de la poésie</a:t>
            </a:r>
          </a:p>
          <a:p>
            <a:pPr algn="just">
              <a:lnSpc>
                <a:spcPct val="120000"/>
              </a:lnSpc>
              <a:spcBef>
                <a:spcPts val="0"/>
              </a:spcBef>
              <a:spcAft>
                <a:spcPts val="0"/>
              </a:spcAft>
            </a:pPr>
            <a:r>
              <a:rPr lang="fr-FR" dirty="0" smtClean="0"/>
              <a:t>Honneurs pour les poètes</a:t>
            </a:r>
          </a:p>
          <a:p>
            <a:pPr algn="just">
              <a:lnSpc>
                <a:spcPct val="120000"/>
              </a:lnSpc>
              <a:spcBef>
                <a:spcPts val="0"/>
              </a:spcBef>
              <a:spcAft>
                <a:spcPts val="0"/>
              </a:spcAft>
            </a:pPr>
            <a:r>
              <a:rPr lang="fr-FR" dirty="0" err="1" smtClean="0"/>
              <a:t>Livius</a:t>
            </a:r>
            <a:r>
              <a:rPr lang="fr-FR" dirty="0" smtClean="0"/>
              <a:t> </a:t>
            </a:r>
            <a:r>
              <a:rPr lang="fr-FR" dirty="0" err="1" smtClean="0"/>
              <a:t>Andronicus</a:t>
            </a:r>
            <a:endParaRPr lang="fr-FR" dirty="0" smtClean="0"/>
          </a:p>
          <a:p>
            <a:pPr algn="just">
              <a:lnSpc>
                <a:spcPct val="120000"/>
              </a:lnSpc>
              <a:spcBef>
                <a:spcPts val="0"/>
              </a:spcBef>
              <a:spcAft>
                <a:spcPts val="0"/>
              </a:spcAft>
            </a:pPr>
            <a:r>
              <a:rPr lang="fr-FR" dirty="0" smtClean="0"/>
              <a:t>Ennius</a:t>
            </a:r>
          </a:p>
          <a:p>
            <a:pPr algn="just">
              <a:lnSpc>
                <a:spcPct val="120000"/>
              </a:lnSpc>
              <a:spcBef>
                <a:spcPts val="0"/>
              </a:spcBef>
              <a:spcAft>
                <a:spcPts val="0"/>
              </a:spcAft>
            </a:pPr>
            <a:r>
              <a:rPr lang="fr-FR" dirty="0" err="1" smtClean="0"/>
              <a:t>Caecilius</a:t>
            </a:r>
            <a:endParaRPr lang="fr-FR" dirty="0" smtClean="0"/>
          </a:p>
          <a:p>
            <a:pPr algn="just">
              <a:lnSpc>
                <a:spcPct val="120000"/>
              </a:lnSpc>
              <a:spcBef>
                <a:spcPts val="0"/>
              </a:spcBef>
              <a:spcAft>
                <a:spcPts val="0"/>
              </a:spcAft>
            </a:pPr>
            <a:r>
              <a:rPr lang="fr-FR" dirty="0" smtClean="0"/>
              <a:t>Plaute</a:t>
            </a:r>
          </a:p>
          <a:p>
            <a:pPr algn="just">
              <a:lnSpc>
                <a:spcPct val="120000"/>
              </a:lnSpc>
              <a:spcBef>
                <a:spcPts val="0"/>
              </a:spcBef>
              <a:spcAft>
                <a:spcPts val="0"/>
              </a:spcAft>
            </a:pPr>
            <a:r>
              <a:rPr lang="fr-FR" dirty="0" smtClean="0"/>
              <a:t>Naevius</a:t>
            </a:r>
          </a:p>
          <a:p>
            <a:pPr algn="just">
              <a:lnSpc>
                <a:spcPct val="120000"/>
              </a:lnSpc>
              <a:spcBef>
                <a:spcPts val="0"/>
              </a:spcBef>
              <a:spcAft>
                <a:spcPts val="0"/>
              </a:spcAft>
            </a:pPr>
            <a:r>
              <a:rPr lang="fr-FR" dirty="0" smtClean="0"/>
              <a:t>Térence</a:t>
            </a:r>
          </a:p>
          <a:p>
            <a:pPr algn="just">
              <a:lnSpc>
                <a:spcPct val="120000"/>
              </a:lnSpc>
              <a:spcBef>
                <a:spcPts val="0"/>
              </a:spcBef>
              <a:spcAft>
                <a:spcPts val="0"/>
              </a:spcAft>
            </a:pPr>
            <a:r>
              <a:rPr lang="fr-FR" dirty="0" smtClean="0"/>
              <a:t>Pacuvius – Accius</a:t>
            </a:r>
          </a:p>
          <a:p>
            <a:pPr algn="just">
              <a:lnSpc>
                <a:spcPct val="120000"/>
              </a:lnSpc>
              <a:spcBef>
                <a:spcPts val="0"/>
              </a:spcBef>
              <a:spcAft>
                <a:spcPts val="0"/>
              </a:spcAft>
            </a:pPr>
            <a:r>
              <a:rPr lang="fr-FR" dirty="0" err="1" smtClean="0"/>
              <a:t>Epoque</a:t>
            </a:r>
            <a:r>
              <a:rPr lang="fr-FR" dirty="0" smtClean="0"/>
              <a:t> d’Accius</a:t>
            </a:r>
          </a:p>
          <a:p>
            <a:pPr algn="just">
              <a:lnSpc>
                <a:spcPct val="120000"/>
              </a:lnSpc>
              <a:spcBef>
                <a:spcPts val="0"/>
              </a:spcBef>
              <a:spcAft>
                <a:spcPts val="0"/>
              </a:spcAft>
            </a:pPr>
            <a:r>
              <a:rPr lang="fr-FR" dirty="0" smtClean="0"/>
              <a:t>Properce</a:t>
            </a:r>
          </a:p>
          <a:p>
            <a:pPr algn="just">
              <a:lnSpc>
                <a:spcPct val="120000"/>
              </a:lnSpc>
              <a:spcBef>
                <a:spcPts val="0"/>
              </a:spcBef>
              <a:spcAft>
                <a:spcPts val="0"/>
              </a:spcAft>
            </a:pPr>
            <a:r>
              <a:rPr lang="fr-FR" dirty="0" smtClean="0"/>
              <a:t>Tibulle</a:t>
            </a:r>
          </a:p>
          <a:p>
            <a:pPr algn="just">
              <a:lnSpc>
                <a:spcPct val="120000"/>
              </a:lnSpc>
              <a:spcBef>
                <a:spcPts val="0"/>
              </a:spcBef>
              <a:spcAft>
                <a:spcPts val="0"/>
              </a:spcAft>
            </a:pPr>
            <a:r>
              <a:rPr lang="fr-FR" dirty="0" smtClean="0"/>
              <a:t>Ovide</a:t>
            </a:r>
          </a:p>
          <a:p>
            <a:pPr algn="just">
              <a:lnSpc>
                <a:spcPct val="120000"/>
              </a:lnSpc>
              <a:spcBef>
                <a:spcPts val="0"/>
              </a:spcBef>
              <a:spcAft>
                <a:spcPts val="0"/>
              </a:spcAft>
            </a:pPr>
            <a:r>
              <a:rPr lang="fr-FR" dirty="0" smtClean="0"/>
              <a:t>Martial</a:t>
            </a:r>
            <a:r>
              <a:rPr lang="fr-FR" dirty="0"/>
              <a:t> </a:t>
            </a:r>
            <a:r>
              <a:rPr lang="fr-FR" dirty="0" smtClean="0"/>
              <a:t>et transition vers le livre 3</a:t>
            </a:r>
          </a:p>
        </p:txBody>
      </p:sp>
      <p:sp>
        <p:nvSpPr>
          <p:cNvPr id="4" name="Content Placeholder 3"/>
          <p:cNvSpPr>
            <a:spLocks noGrp="1"/>
          </p:cNvSpPr>
          <p:nvPr>
            <p:ph sz="half" idx="2"/>
          </p:nvPr>
        </p:nvSpPr>
        <p:spPr/>
        <p:txBody>
          <a:bodyPr>
            <a:normAutofit fontScale="92500" lnSpcReduction="20000"/>
          </a:bodyPr>
          <a:lstStyle/>
          <a:p>
            <a:r>
              <a:rPr lang="fr-FR" dirty="0" smtClean="0"/>
              <a:t>Poésie</a:t>
            </a:r>
          </a:p>
          <a:p>
            <a:r>
              <a:rPr lang="fr-FR" dirty="0" smtClean="0"/>
              <a:t>Débuts de la littérature latine / poésie</a:t>
            </a:r>
          </a:p>
          <a:p>
            <a:r>
              <a:rPr lang="fr-FR" dirty="0" err="1" smtClean="0"/>
              <a:t>Elégie</a:t>
            </a:r>
            <a:endParaRPr lang="fr-FR" dirty="0"/>
          </a:p>
        </p:txBody>
      </p:sp>
    </p:spTree>
    <p:extLst>
      <p:ext uri="{BB962C8B-B14F-4D97-AF65-F5344CB8AC3E}">
        <p14:creationId xmlns:p14="http://schemas.microsoft.com/office/powerpoint/2010/main" val="22647454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tradition annalistique ET TRADITION MONOGRAPHIQUE</a:t>
            </a:r>
            <a:endParaRPr lang="fr-FR" dirty="0"/>
          </a:p>
        </p:txBody>
      </p:sp>
      <p:sp>
        <p:nvSpPr>
          <p:cNvPr id="4" name="Content Placeholder 3"/>
          <p:cNvSpPr>
            <a:spLocks noGrp="1"/>
          </p:cNvSpPr>
          <p:nvPr>
            <p:ph sz="half" idx="1"/>
          </p:nvPr>
        </p:nvSpPr>
        <p:spPr>
          <a:xfrm>
            <a:off x="581387" y="1948522"/>
            <a:ext cx="5422200" cy="4336126"/>
          </a:xfrm>
        </p:spPr>
        <p:txBody>
          <a:bodyPr>
            <a:normAutofit lnSpcReduction="10000"/>
          </a:bodyPr>
          <a:lstStyle/>
          <a:p>
            <a:pPr marL="0" indent="0" algn="ctr">
              <a:buNone/>
            </a:pPr>
            <a:r>
              <a:rPr lang="fr-FR" b="1" dirty="0" smtClean="0">
                <a:solidFill>
                  <a:srgbClr val="002060"/>
                </a:solidFill>
              </a:rPr>
              <a:t>Tradition annalistique</a:t>
            </a:r>
          </a:p>
          <a:p>
            <a:pPr algn="just"/>
            <a:r>
              <a:rPr lang="fr-FR" dirty="0" smtClean="0"/>
              <a:t>Récit </a:t>
            </a:r>
            <a:r>
              <a:rPr lang="fr-FR" dirty="0"/>
              <a:t>historique année par année (annales), souvent depuis la fondation de Rome jusqu’à l’époque contemporaine de l’auteur</a:t>
            </a:r>
            <a:r>
              <a:rPr lang="fr-FR" dirty="0" smtClean="0"/>
              <a:t>.</a:t>
            </a:r>
          </a:p>
          <a:p>
            <a:r>
              <a:rPr lang="fr-FR" dirty="0" smtClean="0"/>
              <a:t>Quelques </a:t>
            </a:r>
            <a:r>
              <a:rPr lang="fr-FR" dirty="0"/>
              <a:t>auteurs et caractéristiques </a:t>
            </a:r>
            <a:r>
              <a:rPr lang="fr-FR" dirty="0" smtClean="0"/>
              <a:t>:</a:t>
            </a:r>
          </a:p>
          <a:p>
            <a:pPr lvl="1" algn="just">
              <a:spcAft>
                <a:spcPts val="242"/>
              </a:spcAft>
            </a:pPr>
            <a:r>
              <a:rPr lang="fr-FR" dirty="0" smtClean="0"/>
              <a:t>Lucius </a:t>
            </a:r>
            <a:r>
              <a:rPr lang="fr-FR" dirty="0" err="1"/>
              <a:t>Calpurnius</a:t>
            </a:r>
            <a:r>
              <a:rPr lang="fr-FR" dirty="0"/>
              <a:t> </a:t>
            </a:r>
            <a:r>
              <a:rPr lang="fr-FR" dirty="0" err="1"/>
              <a:t>Piso</a:t>
            </a:r>
            <a:r>
              <a:rPr lang="fr-FR" dirty="0"/>
              <a:t> </a:t>
            </a:r>
            <a:r>
              <a:rPr lang="fr-FR" dirty="0" err="1"/>
              <a:t>Frugi</a:t>
            </a:r>
            <a:r>
              <a:rPr lang="fr-FR" dirty="0"/>
              <a:t> (vers 133 av. J.-C.) : histoire de la fondation jusqu’à 154 av. J.-C., pour montrer le déclin de la société </a:t>
            </a:r>
            <a:r>
              <a:rPr lang="fr-FR" dirty="0" smtClean="0"/>
              <a:t>romaine.</a:t>
            </a:r>
          </a:p>
          <a:p>
            <a:pPr lvl="1" algn="just">
              <a:spcAft>
                <a:spcPts val="242"/>
              </a:spcAft>
            </a:pPr>
            <a:r>
              <a:rPr lang="fr-FR" dirty="0" smtClean="0"/>
              <a:t>Sempronius </a:t>
            </a:r>
            <a:r>
              <a:rPr lang="fr-FR" dirty="0" err="1"/>
              <a:t>Asellio</a:t>
            </a:r>
            <a:r>
              <a:rPr lang="fr-FR" dirty="0"/>
              <a:t> (vers 100 av. J.-C.) : histoire des guerres puniques jusqu’à 100 av. J.-C., avec un ton patriotique</a:t>
            </a:r>
            <a:r>
              <a:rPr lang="fr-FR" dirty="0" smtClean="0"/>
              <a:t>.</a:t>
            </a:r>
          </a:p>
          <a:p>
            <a:pPr lvl="1" algn="just">
              <a:spcAft>
                <a:spcPts val="242"/>
              </a:spcAft>
            </a:pPr>
            <a:r>
              <a:rPr lang="fr-FR" dirty="0" smtClean="0"/>
              <a:t>Quintus </a:t>
            </a:r>
            <a:r>
              <a:rPr lang="fr-FR" dirty="0"/>
              <a:t>Claudius </a:t>
            </a:r>
            <a:r>
              <a:rPr lang="fr-FR" dirty="0" err="1"/>
              <a:t>Quadrigarius</a:t>
            </a:r>
            <a:r>
              <a:rPr lang="fr-FR" dirty="0"/>
              <a:t> : se concentre sur la guerre, défendant l’idée que toutes les guerres romaines sont justes et que le Sénat agit honorablement.</a:t>
            </a:r>
          </a:p>
        </p:txBody>
      </p:sp>
      <p:sp>
        <p:nvSpPr>
          <p:cNvPr id="5" name="Content Placeholder 4"/>
          <p:cNvSpPr>
            <a:spLocks noGrp="1"/>
          </p:cNvSpPr>
          <p:nvPr>
            <p:ph sz="half" idx="2"/>
          </p:nvPr>
        </p:nvSpPr>
        <p:spPr>
          <a:xfrm>
            <a:off x="6181679" y="1948522"/>
            <a:ext cx="5422202" cy="4155569"/>
          </a:xfrm>
        </p:spPr>
        <p:txBody>
          <a:bodyPr>
            <a:normAutofit lnSpcReduction="10000"/>
          </a:bodyPr>
          <a:lstStyle/>
          <a:p>
            <a:pPr marL="0" indent="0" algn="ctr">
              <a:buNone/>
            </a:pPr>
            <a:r>
              <a:rPr lang="fr-FR" b="1" dirty="0">
                <a:solidFill>
                  <a:srgbClr val="002060"/>
                </a:solidFill>
              </a:rPr>
              <a:t>T</a:t>
            </a:r>
            <a:r>
              <a:rPr lang="fr-FR" b="1" dirty="0" smtClean="0">
                <a:solidFill>
                  <a:srgbClr val="002060"/>
                </a:solidFill>
              </a:rPr>
              <a:t>radition monographique</a:t>
            </a:r>
          </a:p>
          <a:p>
            <a:pPr algn="just"/>
            <a:r>
              <a:rPr lang="fr-FR" dirty="0" smtClean="0"/>
              <a:t>Davantage similaire aux livres d’histoire </a:t>
            </a:r>
            <a:r>
              <a:rPr lang="fr-FR" dirty="0"/>
              <a:t>modernes, centrée sur un seul sujet, pas forcément chronologique et pas depuis le début de Rome. </a:t>
            </a:r>
            <a:r>
              <a:rPr lang="fr-FR" b="1" dirty="0" smtClean="0"/>
              <a:t>Donne notamment naissance </a:t>
            </a:r>
            <a:r>
              <a:rPr lang="fr-FR" b="1" dirty="0"/>
              <a:t>à la biographie</a:t>
            </a:r>
            <a:r>
              <a:rPr lang="fr-FR" dirty="0" smtClean="0"/>
              <a:t>.</a:t>
            </a:r>
          </a:p>
          <a:p>
            <a:pPr algn="just"/>
            <a:r>
              <a:rPr lang="fr-FR" dirty="0" smtClean="0"/>
              <a:t>Quelques auteurs et caractéristiques :</a:t>
            </a:r>
          </a:p>
          <a:p>
            <a:pPr lvl="1" algn="just"/>
            <a:r>
              <a:rPr lang="fr-FR" dirty="0"/>
              <a:t>Gaius Gracchus : biographie de son frère, Tiberius Gracchus, valorisant son action. </a:t>
            </a:r>
            <a:endParaRPr lang="fr-FR" dirty="0" smtClean="0"/>
          </a:p>
          <a:p>
            <a:pPr lvl="1" algn="just"/>
            <a:r>
              <a:rPr lang="fr-FR" dirty="0" smtClean="0"/>
              <a:t>Gaius </a:t>
            </a:r>
            <a:r>
              <a:rPr lang="fr-FR" dirty="0" err="1"/>
              <a:t>Fannius</a:t>
            </a:r>
            <a:r>
              <a:rPr lang="fr-FR" dirty="0"/>
              <a:t> : biographie de Tiberius Gracchus, mais avec un regard critique et négatif. </a:t>
            </a:r>
            <a:endParaRPr lang="fr-FR" dirty="0" smtClean="0"/>
          </a:p>
          <a:p>
            <a:pPr lvl="1" algn="just"/>
            <a:r>
              <a:rPr lang="fr-FR" dirty="0" smtClean="0"/>
              <a:t>Lucius </a:t>
            </a:r>
            <a:r>
              <a:rPr lang="fr-FR" dirty="0" err="1"/>
              <a:t>Coelius</a:t>
            </a:r>
            <a:r>
              <a:rPr lang="fr-FR" dirty="0"/>
              <a:t> Antipater : monographie sur la Seconde Guerre punique, notable pour </a:t>
            </a:r>
            <a:r>
              <a:rPr lang="fr-FR" dirty="0" smtClean="0"/>
              <a:t>un </a:t>
            </a:r>
            <a:r>
              <a:rPr lang="fr-FR" dirty="0"/>
              <a:t>souci de vérification des faits.</a:t>
            </a:r>
          </a:p>
        </p:txBody>
      </p:sp>
    </p:spTree>
    <p:extLst>
      <p:ext uri="{BB962C8B-B14F-4D97-AF65-F5344CB8AC3E}">
        <p14:creationId xmlns:p14="http://schemas.microsoft.com/office/powerpoint/2010/main" val="1760596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LA TRADITION DES VITAE</a:t>
            </a:r>
            <a:endParaRPr lang="fr-FR" dirty="0"/>
          </a:p>
        </p:txBody>
      </p:sp>
      <p:sp>
        <p:nvSpPr>
          <p:cNvPr id="3" name="Content Placeholder 2"/>
          <p:cNvSpPr>
            <a:spLocks noGrp="1"/>
          </p:cNvSpPr>
          <p:nvPr>
            <p:ph idx="1"/>
          </p:nvPr>
        </p:nvSpPr>
        <p:spPr>
          <a:xfrm>
            <a:off x="581192" y="2180496"/>
            <a:ext cx="11029615" cy="4484073"/>
          </a:xfrm>
        </p:spPr>
        <p:txBody>
          <a:bodyPr/>
          <a:lstStyle/>
          <a:p>
            <a:pPr algn="just"/>
            <a:r>
              <a:rPr lang="fr-FR" dirty="0" smtClean="0"/>
              <a:t>Tacite, </a:t>
            </a:r>
            <a:r>
              <a:rPr lang="fr-FR" i="1" dirty="0" smtClean="0"/>
              <a:t>Vie d’Agricola </a:t>
            </a:r>
            <a:r>
              <a:rPr lang="fr-FR" dirty="0"/>
              <a:t>: relate la vie de Cnaeus Julius Agricola, beau-père de Tacite, brillant sénateur et général de l'époque de l'historien. </a:t>
            </a:r>
            <a:r>
              <a:rPr lang="fr-FR" dirty="0" smtClean="0"/>
              <a:t>Contient </a:t>
            </a:r>
            <a:r>
              <a:rPr lang="fr-FR" dirty="0"/>
              <a:t>une brève étude géographique et ethnographique de la province romaine de Bretagne (actuelle Grande-Bretagne), similaire à celle de l’espace germanique que Tacite réalise dans La Germanie. </a:t>
            </a:r>
            <a:r>
              <a:rPr lang="fr-FR" dirty="0" smtClean="0"/>
              <a:t>Intègre une </a:t>
            </a:r>
            <a:r>
              <a:rPr lang="fr-FR" dirty="0"/>
              <a:t>réflexion sur la liberté des autochtones et réalise une comparaison incisive entre la vie là-bas et la corruption et la tyrannie qui régnait alors à Rome. </a:t>
            </a:r>
            <a:r>
              <a:rPr lang="fr-FR" dirty="0" smtClean="0"/>
              <a:t> </a:t>
            </a:r>
          </a:p>
          <a:p>
            <a:pPr lvl="1" algn="just"/>
            <a:r>
              <a:rPr lang="fr-FR" dirty="0"/>
              <a:t> Chap. I à III : le début de l'œuvre est placé sous le patronage des empereurs Nerva et Trajan, qui ont rendu la liberté au peuple romain</a:t>
            </a:r>
            <a:r>
              <a:rPr lang="fr-FR" dirty="0" smtClean="0"/>
              <a:t>.</a:t>
            </a:r>
          </a:p>
          <a:p>
            <a:pPr lvl="1" algn="just"/>
            <a:r>
              <a:rPr lang="fr-FR" dirty="0" smtClean="0"/>
              <a:t>Chap</a:t>
            </a:r>
            <a:r>
              <a:rPr lang="fr-FR" dirty="0"/>
              <a:t>. IV à IX : la vie d'Agricola proprement dite</a:t>
            </a:r>
            <a:r>
              <a:rPr lang="fr-FR" dirty="0" smtClean="0"/>
              <a:t>.</a:t>
            </a:r>
          </a:p>
          <a:p>
            <a:pPr lvl="1" algn="just"/>
            <a:r>
              <a:rPr lang="fr-FR" dirty="0" smtClean="0"/>
              <a:t>Chap</a:t>
            </a:r>
            <a:r>
              <a:rPr lang="fr-FR" dirty="0"/>
              <a:t>. X à XXXVIII : dissertation ethnographique et géographique sur la Bretagne et les Bretons. Tacite détaille la conquête de l'ile. Agricola y est montré comme le représentant de toutes les vertus</a:t>
            </a:r>
            <a:r>
              <a:rPr lang="fr-FR" dirty="0" smtClean="0"/>
              <a:t>.</a:t>
            </a:r>
          </a:p>
          <a:p>
            <a:pPr lvl="1" algn="just"/>
            <a:r>
              <a:rPr lang="fr-FR" dirty="0" smtClean="0"/>
              <a:t>Chap</a:t>
            </a:r>
            <a:r>
              <a:rPr lang="fr-FR" dirty="0"/>
              <a:t>. XXXIX à XLII : retour à Rome, disgrâce et traversée du désert</a:t>
            </a:r>
            <a:r>
              <a:rPr lang="fr-FR" dirty="0" smtClean="0"/>
              <a:t>.</a:t>
            </a:r>
          </a:p>
          <a:p>
            <a:pPr lvl="1" algn="just"/>
            <a:r>
              <a:rPr lang="fr-FR" dirty="0" smtClean="0"/>
              <a:t>Chap</a:t>
            </a:r>
            <a:r>
              <a:rPr lang="fr-FR" dirty="0"/>
              <a:t>. XLIII- XLVI : mort et portrait final d'Agricola. Tacite invite à suivre cet exemple</a:t>
            </a:r>
            <a:r>
              <a:rPr lang="fr-FR" dirty="0" smtClean="0"/>
              <a:t>.</a:t>
            </a:r>
          </a:p>
        </p:txBody>
      </p:sp>
    </p:spTree>
    <p:extLst>
      <p:ext uri="{BB962C8B-B14F-4D97-AF65-F5344CB8AC3E}">
        <p14:creationId xmlns:p14="http://schemas.microsoft.com/office/powerpoint/2010/main" val="367559182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LA TRADITION DES VITAE</a:t>
            </a:r>
            <a:endParaRPr lang="fr-FR" dirty="0"/>
          </a:p>
        </p:txBody>
      </p:sp>
      <p:sp>
        <p:nvSpPr>
          <p:cNvPr id="3" name="Content Placeholder 2"/>
          <p:cNvSpPr>
            <a:spLocks noGrp="1"/>
          </p:cNvSpPr>
          <p:nvPr>
            <p:ph idx="1"/>
          </p:nvPr>
        </p:nvSpPr>
        <p:spPr>
          <a:xfrm>
            <a:off x="581192" y="2180496"/>
            <a:ext cx="11029615" cy="4484073"/>
          </a:xfrm>
        </p:spPr>
        <p:txBody>
          <a:bodyPr/>
          <a:lstStyle/>
          <a:p>
            <a:pPr algn="just"/>
            <a:r>
              <a:rPr lang="fr-FR" dirty="0" smtClean="0"/>
              <a:t>Suétone, </a:t>
            </a:r>
            <a:r>
              <a:rPr lang="fr-FR" i="1" dirty="0" smtClean="0"/>
              <a:t>Vies des douze Césars </a:t>
            </a:r>
            <a:r>
              <a:rPr lang="fr-FR" dirty="0" smtClean="0"/>
              <a:t>: Chaque </a:t>
            </a:r>
            <a:r>
              <a:rPr lang="fr-FR" dirty="0"/>
              <a:t>biographie ne suit pas un schéma chronologique, mais est organisée en une succession de rubriques (</a:t>
            </a:r>
            <a:r>
              <a:rPr lang="fr-FR" dirty="0" err="1"/>
              <a:t>designées</a:t>
            </a:r>
            <a:r>
              <a:rPr lang="fr-FR" dirty="0"/>
              <a:t> par les commentateurs sous le nom latin de </a:t>
            </a:r>
            <a:r>
              <a:rPr lang="fr-FR" i="1" dirty="0" err="1"/>
              <a:t>species</a:t>
            </a:r>
            <a:r>
              <a:rPr lang="fr-FR" dirty="0"/>
              <a:t>) : origine familiale, naissance et carrière </a:t>
            </a:r>
            <a:r>
              <a:rPr lang="fr-FR" dirty="0" smtClean="0"/>
              <a:t>avant l'avènement, </a:t>
            </a:r>
            <a:r>
              <a:rPr lang="fr-FR" dirty="0"/>
              <a:t>son avènement et les présages annonciateurs de son avènement, magistratures exercées, campagnes militaires, œuvre législative et judiciaire, générosités envers le peuple, description physique et caractère, mort et présages annonciateurs de sa mort, etc</a:t>
            </a:r>
            <a:r>
              <a:rPr lang="fr-FR" dirty="0" smtClean="0"/>
              <a:t>.</a:t>
            </a:r>
          </a:p>
          <a:p>
            <a:pPr algn="just"/>
            <a:r>
              <a:rPr lang="fr-FR" dirty="0"/>
              <a:t>Les Douze Césars ont servi de modèle pour les biographies des empereurs du IIe et du début du IIIe siècle compilées par Marius </a:t>
            </a:r>
            <a:r>
              <a:rPr lang="fr-FR" dirty="0" err="1"/>
              <a:t>Maximus</a:t>
            </a:r>
            <a:r>
              <a:rPr lang="fr-FR" dirty="0"/>
              <a:t>. Cette collection, apparemment intitulée </a:t>
            </a:r>
            <a:r>
              <a:rPr lang="fr-FR" dirty="0" err="1" smtClean="0"/>
              <a:t>Cesares</a:t>
            </a:r>
            <a:r>
              <a:rPr lang="fr-FR" dirty="0" smtClean="0"/>
              <a:t>, </a:t>
            </a:r>
            <a:r>
              <a:rPr lang="fr-FR" dirty="0"/>
              <a:t>ne survit pas, mais elle a été une source pour une collection biographique ultérieure, connue sous le nom </a:t>
            </a:r>
            <a:r>
              <a:rPr lang="fr-FR" dirty="0" smtClean="0"/>
              <a:t>d’Histoire Auguste, </a:t>
            </a:r>
            <a:r>
              <a:rPr lang="fr-FR" dirty="0"/>
              <a:t>qui forme maintenant une sorte de suite à l'œuvre de </a:t>
            </a:r>
            <a:r>
              <a:rPr lang="fr-FR" dirty="0" smtClean="0"/>
              <a:t>Suétone. L’Histoire Auguste est </a:t>
            </a:r>
            <a:r>
              <a:rPr lang="fr-FR" dirty="0"/>
              <a:t>une biographie collective, en partie </a:t>
            </a:r>
            <a:r>
              <a:rPr lang="fr-FR" dirty="0" err="1"/>
              <a:t>fictionnalisée</a:t>
            </a:r>
            <a:r>
              <a:rPr lang="fr-FR" dirty="0"/>
              <a:t>, d'empereurs romains et d'usurpateurs des deuxième et troisième siècles.</a:t>
            </a:r>
          </a:p>
        </p:txBody>
      </p:sp>
    </p:spTree>
    <p:extLst>
      <p:ext uri="{BB962C8B-B14F-4D97-AF65-F5344CB8AC3E}">
        <p14:creationId xmlns:p14="http://schemas.microsoft.com/office/powerpoint/2010/main" val="80864664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La tradition des vitae</a:t>
            </a:r>
            <a:endParaRPr lang="fr-FR" dirty="0"/>
          </a:p>
        </p:txBody>
      </p:sp>
      <p:sp>
        <p:nvSpPr>
          <p:cNvPr id="3" name="Content Placeholder 2"/>
          <p:cNvSpPr>
            <a:spLocks noGrp="1"/>
          </p:cNvSpPr>
          <p:nvPr>
            <p:ph idx="1"/>
          </p:nvPr>
        </p:nvSpPr>
        <p:spPr>
          <a:xfrm>
            <a:off x="581192" y="2180496"/>
            <a:ext cx="11029615" cy="4273058"/>
          </a:xfrm>
        </p:spPr>
        <p:txBody>
          <a:bodyPr/>
          <a:lstStyle/>
          <a:p>
            <a:pPr algn="just"/>
            <a:r>
              <a:rPr lang="fr-FR" dirty="0"/>
              <a:t>Les Vies anciennes ont pu dessiner les contours d’un genre relativement polymorphe, mais qui articule un certain nombre de traits et de </a:t>
            </a:r>
            <a:r>
              <a:rPr lang="fr-FR" i="1" dirty="0"/>
              <a:t>lieux</a:t>
            </a:r>
            <a:r>
              <a:rPr lang="fr-FR" dirty="0"/>
              <a:t> communs ; le grand modèle latin, Suétone, ne fonctionne pas comme  la tradition grecque qui faisait incarner aux personnages-poètes des Vies, en les psychologisant, les traits caractéristiques de leurs œuvres avec, par exemple, un Euripide misogyne et </a:t>
            </a:r>
            <a:r>
              <a:rPr lang="fr-FR" dirty="0" smtClean="0"/>
              <a:t>misanthrope.</a:t>
            </a:r>
          </a:p>
          <a:p>
            <a:pPr algn="just"/>
            <a:r>
              <a:rPr lang="fr-FR" dirty="0" smtClean="0"/>
              <a:t>Auteur </a:t>
            </a:r>
            <a:r>
              <a:rPr lang="fr-FR" dirty="0"/>
              <a:t>d’une vie de Térence, Suétone ne reprend pas non plus le récit strictement chronologique de la tradition annalistique et distingue plusieurs « rubriques » à propos des vies d’Empereur (</a:t>
            </a:r>
            <a:r>
              <a:rPr lang="fr-FR" i="1" dirty="0" err="1"/>
              <a:t>species</a:t>
            </a:r>
            <a:r>
              <a:rPr lang="fr-FR" dirty="0"/>
              <a:t>), dont la naissance, la vie privée, la vie publique, la mort. </a:t>
            </a:r>
            <a:endParaRPr lang="fr-FR" dirty="0" smtClean="0"/>
          </a:p>
          <a:p>
            <a:pPr algn="just"/>
            <a:r>
              <a:rPr lang="fr-FR" dirty="0" smtClean="0"/>
              <a:t>Comme </a:t>
            </a:r>
            <a:r>
              <a:rPr lang="fr-FR" dirty="0"/>
              <a:t>lui, et comme les auteurs de Vies grecques, </a:t>
            </a:r>
            <a:r>
              <a:rPr lang="fr-FR" dirty="0" smtClean="0"/>
              <a:t>les auteurs postérieurs </a:t>
            </a:r>
            <a:r>
              <a:rPr lang="fr-FR" dirty="0"/>
              <a:t>s’efforcent le plus souvent de fixer les deux bornes de l’existence, ainsi que, souvent, les circonstances du trépas. Quant à la distinction entre la vie privée et la vie publique, elle est pertinente pour les poètes de la cité grecque, impliqués dans la vie civile, ou pour Térence et Sénèque, qui fréquentèrent les puissants ; elle l’est peut-être moins pour un Plaute, dont la vie publique fut essentiellement théâtrale. </a:t>
            </a:r>
          </a:p>
        </p:txBody>
      </p:sp>
    </p:spTree>
    <p:extLst>
      <p:ext uri="{BB962C8B-B14F-4D97-AF65-F5344CB8AC3E}">
        <p14:creationId xmlns:p14="http://schemas.microsoft.com/office/powerpoint/2010/main" val="40919101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La tradition des vitae</a:t>
            </a:r>
            <a:endParaRPr lang="fr-FR" dirty="0"/>
          </a:p>
        </p:txBody>
      </p:sp>
      <p:sp>
        <p:nvSpPr>
          <p:cNvPr id="3" name="Content Placeholder 2"/>
          <p:cNvSpPr>
            <a:spLocks noGrp="1"/>
          </p:cNvSpPr>
          <p:nvPr>
            <p:ph idx="1"/>
          </p:nvPr>
        </p:nvSpPr>
        <p:spPr>
          <a:xfrm>
            <a:off x="581192" y="2180496"/>
            <a:ext cx="11029615" cy="4273058"/>
          </a:xfrm>
        </p:spPr>
        <p:txBody>
          <a:bodyPr/>
          <a:lstStyle/>
          <a:p>
            <a:pPr algn="just"/>
            <a:r>
              <a:rPr lang="fr-FR" dirty="0"/>
              <a:t>Parmi les Vies d’hommes illustres, la vie de </a:t>
            </a:r>
            <a:r>
              <a:rPr lang="fr-FR" dirty="0" smtClean="0"/>
              <a:t>poète </a:t>
            </a:r>
            <a:r>
              <a:rPr lang="fr-FR" dirty="0"/>
              <a:t>se distingue </a:t>
            </a:r>
            <a:r>
              <a:rPr lang="fr-FR" dirty="0" smtClean="0"/>
              <a:t>souvent par </a:t>
            </a:r>
            <a:r>
              <a:rPr lang="fr-FR" dirty="0"/>
              <a:t>sa valeur introductive, car elle s’inscrit aussi dans la tradition de l’</a:t>
            </a:r>
            <a:r>
              <a:rPr lang="fr-FR" i="1" dirty="0" err="1"/>
              <a:t>accessus</a:t>
            </a:r>
            <a:r>
              <a:rPr lang="fr-FR" dirty="0"/>
              <a:t> </a:t>
            </a:r>
            <a:r>
              <a:rPr lang="fr-FR" i="1" dirty="0"/>
              <a:t>ad </a:t>
            </a:r>
            <a:r>
              <a:rPr lang="fr-FR" i="1" dirty="0" err="1"/>
              <a:t>auctores</a:t>
            </a:r>
            <a:r>
              <a:rPr lang="fr-FR" dirty="0"/>
              <a:t> médiéval. </a:t>
            </a:r>
            <a:r>
              <a:rPr lang="fr-FR" dirty="0" smtClean="0"/>
              <a:t>Dans ce cas, </a:t>
            </a:r>
            <a:r>
              <a:rPr lang="fr-FR" dirty="0"/>
              <a:t>le récit biographique n’est pas une fin, mais le moyen d’entrer dans la lecture du corpus, en vertu d’un double principe souvent illustré : alors que la vie de l’auteur peut se déduire de l’œuvre (tel Aristophane, dans les </a:t>
            </a:r>
            <a:r>
              <a:rPr lang="fr-FR" i="1" dirty="0"/>
              <a:t>Grenouilles</a:t>
            </a:r>
            <a:r>
              <a:rPr lang="fr-FR" dirty="0"/>
              <a:t>, inventant un Eschyle ou un Euripide conformes aux idées véhiculées dans leurs tragédies), l’œuvre, quant à elle, peut s’expliquer par la vie de </a:t>
            </a:r>
            <a:r>
              <a:rPr lang="fr-FR" dirty="0" smtClean="0"/>
              <a:t>l’auteur.</a:t>
            </a:r>
          </a:p>
          <a:p>
            <a:pPr algn="just"/>
            <a:r>
              <a:rPr lang="fr-FR" dirty="0"/>
              <a:t>L'</a:t>
            </a:r>
            <a:r>
              <a:rPr lang="fr-FR" i="1" dirty="0" err="1"/>
              <a:t>accessus</a:t>
            </a:r>
            <a:r>
              <a:rPr lang="fr-FR" i="1" dirty="0"/>
              <a:t> ad </a:t>
            </a:r>
            <a:r>
              <a:rPr lang="fr-FR" i="1" dirty="0" err="1"/>
              <a:t>auctores</a:t>
            </a:r>
            <a:r>
              <a:rPr lang="fr-FR" i="1" dirty="0"/>
              <a:t> </a:t>
            </a:r>
            <a:r>
              <a:rPr lang="fr-FR" dirty="0"/>
              <a:t>('introduction aux auteurs') </a:t>
            </a:r>
            <a:r>
              <a:rPr lang="fr-FR" dirty="0" smtClean="0"/>
              <a:t>: genre </a:t>
            </a:r>
            <a:r>
              <a:rPr lang="fr-FR" dirty="0"/>
              <a:t>littéraire du Moyen Âge. À l'origine, un </a:t>
            </a:r>
            <a:r>
              <a:rPr lang="fr-FR" dirty="0" err="1"/>
              <a:t>accessus</a:t>
            </a:r>
            <a:r>
              <a:rPr lang="fr-FR" dirty="0"/>
              <a:t> était l'introduction au début d'un commentaire sur un auteur classique, contenant des informations de base sur l'auteur et son travail. À partir du XIIe siècle, ces </a:t>
            </a:r>
            <a:r>
              <a:rPr lang="fr-FR" dirty="0" err="1" smtClean="0"/>
              <a:t>accessus</a:t>
            </a:r>
            <a:r>
              <a:rPr lang="fr-FR" dirty="0" smtClean="0"/>
              <a:t> ont </a:t>
            </a:r>
            <a:r>
              <a:rPr lang="fr-FR" dirty="0"/>
              <a:t>été extraits des commentaires et publiés dans des collections séparées. C’est à ces collections que les chercheurs modernes donnent le nom </a:t>
            </a:r>
            <a:r>
              <a:rPr lang="fr-FR" dirty="0" err="1"/>
              <a:t>accessus</a:t>
            </a:r>
            <a:r>
              <a:rPr lang="fr-FR" dirty="0"/>
              <a:t> ad </a:t>
            </a:r>
            <a:r>
              <a:rPr lang="fr-FR" dirty="0" err="1"/>
              <a:t>auctores</a:t>
            </a:r>
            <a:r>
              <a:rPr lang="fr-FR" dirty="0"/>
              <a:t>. Invariablement écrits en latin, ils ont été conçus pour l'usage des étudiants de grammaire latine</a:t>
            </a:r>
            <a:r>
              <a:rPr lang="fr-FR" dirty="0" smtClean="0"/>
              <a:t>. </a:t>
            </a:r>
            <a:endParaRPr lang="fr-FR" dirty="0"/>
          </a:p>
        </p:txBody>
      </p:sp>
    </p:spTree>
    <p:extLst>
      <p:ext uri="{BB962C8B-B14F-4D97-AF65-F5344CB8AC3E}">
        <p14:creationId xmlns:p14="http://schemas.microsoft.com/office/powerpoint/2010/main" val="32059533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La tradition des vitae</a:t>
            </a:r>
            <a:endParaRPr lang="fr-FR" dirty="0"/>
          </a:p>
        </p:txBody>
      </p:sp>
      <p:sp>
        <p:nvSpPr>
          <p:cNvPr id="3" name="Content Placeholder 2"/>
          <p:cNvSpPr>
            <a:spLocks noGrp="1"/>
          </p:cNvSpPr>
          <p:nvPr>
            <p:ph idx="1"/>
          </p:nvPr>
        </p:nvSpPr>
        <p:spPr>
          <a:xfrm>
            <a:off x="581192" y="2180496"/>
            <a:ext cx="11029615" cy="4273058"/>
          </a:xfrm>
        </p:spPr>
        <p:txBody>
          <a:bodyPr>
            <a:normAutofit fontScale="92500" lnSpcReduction="10000"/>
          </a:bodyPr>
          <a:lstStyle/>
          <a:p>
            <a:pPr marL="0" indent="0" algn="just">
              <a:buNone/>
            </a:pPr>
            <a:r>
              <a:rPr lang="fr-FR" dirty="0"/>
              <a:t>L'accès standard a été organisé comme une série de questions dans les titres suivis de leurs </a:t>
            </a:r>
            <a:r>
              <a:rPr lang="fr-FR" dirty="0" smtClean="0"/>
              <a:t>réponses</a:t>
            </a:r>
            <a:r>
              <a:rPr lang="fr-FR" dirty="0"/>
              <a:t>.</a:t>
            </a:r>
            <a:r>
              <a:rPr lang="fr-FR" dirty="0" smtClean="0"/>
              <a:t> </a:t>
            </a:r>
            <a:r>
              <a:rPr lang="fr-FR" dirty="0"/>
              <a:t>Quatre schémas distincts d'organisation sont reconnus en fonction du choix des positions</a:t>
            </a:r>
            <a:r>
              <a:rPr lang="fr-FR" dirty="0" smtClean="0"/>
              <a:t>:</a:t>
            </a:r>
          </a:p>
          <a:p>
            <a:pPr algn="just"/>
            <a:r>
              <a:rPr lang="fr-FR" dirty="0" smtClean="0"/>
              <a:t>Le </a:t>
            </a:r>
            <a:r>
              <a:rPr lang="fr-FR" dirty="0"/>
              <a:t>schéma </a:t>
            </a:r>
            <a:r>
              <a:rPr lang="fr-FR" dirty="0" err="1"/>
              <a:t>servien</a:t>
            </a:r>
            <a:r>
              <a:rPr lang="fr-FR" dirty="0"/>
              <a:t> est basé sur le prologue de l'Énéide de Virgile écrit par le Servius grammaire du IVe </a:t>
            </a:r>
            <a:r>
              <a:rPr lang="fr-FR" dirty="0" err="1"/>
              <a:t>Serviussiècle</a:t>
            </a:r>
            <a:r>
              <a:rPr lang="fr-FR" dirty="0"/>
              <a:t>. Il couvre sept titres: (1) la vie du poète, (2) le titre de l'œuvre, (3) son genre, (4) intention d'autorisation, (5) le nombre de volumes, (6) l'ordre des volumes et (7) une explication ou une </a:t>
            </a:r>
            <a:r>
              <a:rPr lang="fr-FR" dirty="0" smtClean="0"/>
              <a:t>interprétation.</a:t>
            </a:r>
          </a:p>
          <a:p>
            <a:pPr algn="just"/>
            <a:r>
              <a:rPr lang="fr-FR" dirty="0" smtClean="0"/>
              <a:t>Le </a:t>
            </a:r>
            <a:r>
              <a:rPr lang="fr-FR" dirty="0"/>
              <a:t>schéma rhétorique est basé sur les points septum circonstanciés (sept circonstances) de la rhétorique classique: (1) qui, (2) quoi, (3) où, (4) par quels moyens, (5) pourquoi, (6) comment et (7) quand. Il a été favorisé, par exemple, par le commentateur du IXe siècle, </a:t>
            </a:r>
            <a:r>
              <a:rPr lang="fr-FR" dirty="0" err="1"/>
              <a:t>Remigius</a:t>
            </a:r>
            <a:r>
              <a:rPr lang="fr-FR" dirty="0"/>
              <a:t> </a:t>
            </a:r>
            <a:r>
              <a:rPr lang="fr-FR" dirty="0" smtClean="0"/>
              <a:t>d'Auxerre.</a:t>
            </a:r>
          </a:p>
          <a:p>
            <a:pPr algn="just"/>
            <a:r>
              <a:rPr lang="fr-FR" dirty="0" smtClean="0"/>
              <a:t>Le </a:t>
            </a:r>
            <a:r>
              <a:rPr lang="fr-FR" dirty="0"/>
              <a:t>schéma philosophique est basé sur l'introduction de Boèce à son propre commentaire sur </a:t>
            </a:r>
            <a:r>
              <a:rPr lang="fr-FR" dirty="0" smtClean="0"/>
              <a:t>l'</a:t>
            </a:r>
            <a:r>
              <a:rPr lang="fr-FR" dirty="0" err="1" smtClean="0"/>
              <a:t>Isagoge</a:t>
            </a:r>
            <a:r>
              <a:rPr lang="fr-FR" dirty="0" smtClean="0"/>
              <a:t> </a:t>
            </a:r>
            <a:r>
              <a:rPr lang="fr-FR" dirty="0"/>
              <a:t>de Porphyre. Il couvre six titres: (1) l'intention de l'œuvre, (2) son utilité, (3) son ordre interne, (4) le nom de l'auteur, (5) le titre de l'œuvre et (6) la branche de la philosophie à laquelle elle </a:t>
            </a:r>
            <a:r>
              <a:rPr lang="fr-FR" dirty="0" smtClean="0"/>
              <a:t>appartient.</a:t>
            </a:r>
          </a:p>
          <a:p>
            <a:pPr algn="just"/>
            <a:r>
              <a:rPr lang="fr-FR" dirty="0" smtClean="0"/>
              <a:t>Le </a:t>
            </a:r>
            <a:r>
              <a:rPr lang="fr-FR" dirty="0"/>
              <a:t>schéma moderne représente une rupture consciente avec ceux qui sont venus avant. C'était une forme simplifiée du schéma philosophique et était favorisé par des modernistes du XIIe siècle comme Conrad de </a:t>
            </a:r>
            <a:r>
              <a:rPr lang="fr-FR" dirty="0" err="1"/>
              <a:t>Hirsau</a:t>
            </a:r>
            <a:r>
              <a:rPr lang="fr-FR" dirty="0"/>
              <a:t>. Il a utilisé trois ou quatre titres: (1) l'objet, (2) l'intention d'autorisation, (3) l'utilité de l'œuvre et (4) la branche de la philosophie à laquelle elle appartient. L'utilité était parfois abandonnée</a:t>
            </a:r>
            <a:r>
              <a:rPr lang="fr-FR" dirty="0" smtClean="0"/>
              <a:t>.</a:t>
            </a:r>
            <a:endParaRPr lang="fr-FR" dirty="0"/>
          </a:p>
        </p:txBody>
      </p:sp>
    </p:spTree>
    <p:extLst>
      <p:ext uri="{BB962C8B-B14F-4D97-AF65-F5344CB8AC3E}">
        <p14:creationId xmlns:p14="http://schemas.microsoft.com/office/powerpoint/2010/main" val="103004631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La tradition des vitae</a:t>
            </a:r>
            <a:endParaRPr lang="fr-FR" dirty="0"/>
          </a:p>
        </p:txBody>
      </p:sp>
      <p:sp>
        <p:nvSpPr>
          <p:cNvPr id="3" name="Content Placeholder 2"/>
          <p:cNvSpPr>
            <a:spLocks noGrp="1"/>
          </p:cNvSpPr>
          <p:nvPr>
            <p:ph idx="1"/>
          </p:nvPr>
        </p:nvSpPr>
        <p:spPr>
          <a:xfrm>
            <a:off x="581192" y="2180496"/>
            <a:ext cx="11029615" cy="4273058"/>
          </a:xfrm>
        </p:spPr>
        <p:txBody>
          <a:bodyPr/>
          <a:lstStyle/>
          <a:p>
            <a:pPr algn="just"/>
            <a:r>
              <a:rPr lang="fr-FR" dirty="0"/>
              <a:t>Conrad </a:t>
            </a:r>
            <a:r>
              <a:rPr lang="fr-FR" dirty="0" smtClean="0"/>
              <a:t>de </a:t>
            </a:r>
            <a:r>
              <a:rPr lang="fr-FR" dirty="0" err="1"/>
              <a:t>Hirsau</a:t>
            </a:r>
            <a:r>
              <a:rPr lang="fr-FR" dirty="0"/>
              <a:t> sur la méthode dans son Dialogue </a:t>
            </a:r>
            <a:r>
              <a:rPr lang="fr-FR" i="1" dirty="0"/>
              <a:t>super </a:t>
            </a:r>
            <a:r>
              <a:rPr lang="fr-FR" i="1" dirty="0" err="1"/>
              <a:t>auctores</a:t>
            </a:r>
            <a:r>
              <a:rPr lang="fr-FR" i="1" dirty="0"/>
              <a:t> </a:t>
            </a:r>
            <a:r>
              <a:rPr lang="fr-FR" dirty="0"/>
              <a:t>est </a:t>
            </a:r>
            <a:r>
              <a:rPr lang="fr-FR" dirty="0" smtClean="0"/>
              <a:t>la </a:t>
            </a:r>
            <a:r>
              <a:rPr lang="fr-FR" dirty="0"/>
              <a:t>seule discussion théorique de la technique de l'</a:t>
            </a:r>
            <a:r>
              <a:rPr lang="fr-FR" dirty="0" err="1"/>
              <a:t>accessus</a:t>
            </a:r>
            <a:r>
              <a:rPr lang="fr-FR" dirty="0"/>
              <a:t> qui nous est </a:t>
            </a:r>
            <a:r>
              <a:rPr lang="fr-FR" dirty="0" smtClean="0"/>
              <a:t>parvenue </a:t>
            </a:r>
            <a:r>
              <a:rPr lang="fr-FR" dirty="0"/>
              <a:t>de l'époque </a:t>
            </a:r>
            <a:r>
              <a:rPr lang="fr-FR" dirty="0" smtClean="0"/>
              <a:t>médiévale.</a:t>
            </a:r>
          </a:p>
          <a:p>
            <a:pPr algn="just"/>
            <a:r>
              <a:rPr lang="fr-FR" dirty="0" smtClean="0"/>
              <a:t>Il </a:t>
            </a:r>
            <a:r>
              <a:rPr lang="fr-FR" dirty="0"/>
              <a:t>indique que </a:t>
            </a:r>
            <a:r>
              <a:rPr lang="fr-FR" dirty="0" smtClean="0"/>
              <a:t>l’</a:t>
            </a:r>
            <a:r>
              <a:rPr lang="fr-FR" i="1" dirty="0" err="1" smtClean="0"/>
              <a:t>accessus</a:t>
            </a:r>
            <a:r>
              <a:rPr lang="fr-FR" dirty="0" smtClean="0"/>
              <a:t> </a:t>
            </a:r>
            <a:r>
              <a:rPr lang="fr-FR" dirty="0"/>
              <a:t>était alors un genre bien établi et autonome, destiné aux œuvres païennes et chrétiennes en prose et en vers, et utilisé au tout début de l'éducation d'un </a:t>
            </a:r>
            <a:r>
              <a:rPr lang="fr-FR" dirty="0" smtClean="0"/>
              <a:t>élève.</a:t>
            </a:r>
          </a:p>
          <a:p>
            <a:pPr algn="just"/>
            <a:r>
              <a:rPr lang="fr-FR" dirty="0" smtClean="0"/>
              <a:t>Sa </a:t>
            </a:r>
            <a:r>
              <a:rPr lang="fr-FR" dirty="0"/>
              <a:t>propre sélection d'auteurs se compose d'Ésope (en fait le versificateur </a:t>
            </a:r>
            <a:r>
              <a:rPr lang="fr-FR" dirty="0" smtClean="0"/>
              <a:t>Phèdre), </a:t>
            </a:r>
            <a:r>
              <a:rPr lang="fr-FR" dirty="0" err="1"/>
              <a:t>Avianus</a:t>
            </a:r>
            <a:r>
              <a:rPr lang="fr-FR" dirty="0"/>
              <a:t>, </a:t>
            </a:r>
            <a:r>
              <a:rPr lang="fr-FR" dirty="0" smtClean="0"/>
              <a:t>Boèce, Caton, </a:t>
            </a:r>
            <a:r>
              <a:rPr lang="fr-FR" dirty="0"/>
              <a:t>Cicéron, </a:t>
            </a:r>
            <a:r>
              <a:rPr lang="fr-FR" dirty="0" smtClean="0"/>
              <a:t>Donat, </a:t>
            </a:r>
            <a:r>
              <a:rPr lang="fr-FR" dirty="0"/>
              <a:t>Homère, Juvénal, </a:t>
            </a:r>
            <a:r>
              <a:rPr lang="fr-FR" dirty="0" smtClean="0"/>
              <a:t>Lucain</a:t>
            </a:r>
            <a:r>
              <a:rPr lang="fr-FR" dirty="0"/>
              <a:t>, Ovide, </a:t>
            </a:r>
            <a:r>
              <a:rPr lang="fr-FR" dirty="0" smtClean="0"/>
              <a:t>Perse, Prudence, Salluste, Stace, Virgile...</a:t>
            </a:r>
          </a:p>
          <a:p>
            <a:pPr algn="just"/>
            <a:r>
              <a:rPr lang="fr-FR" dirty="0" smtClean="0"/>
              <a:t>Ovide </a:t>
            </a:r>
            <a:r>
              <a:rPr lang="fr-FR" dirty="0"/>
              <a:t>était si populaire un auteur que différents </a:t>
            </a:r>
            <a:r>
              <a:rPr lang="fr-FR" dirty="0" err="1" smtClean="0"/>
              <a:t>accessus</a:t>
            </a:r>
            <a:r>
              <a:rPr lang="fr-FR" dirty="0" smtClean="0"/>
              <a:t> </a:t>
            </a:r>
            <a:r>
              <a:rPr lang="fr-FR" dirty="0"/>
              <a:t>pour lui étaient souvent </a:t>
            </a:r>
            <a:r>
              <a:rPr lang="fr-FR" dirty="0" smtClean="0"/>
              <a:t>constitués </a:t>
            </a:r>
            <a:r>
              <a:rPr lang="fr-FR" smtClean="0"/>
              <a:t>en anthologie </a:t>
            </a:r>
            <a:r>
              <a:rPr lang="fr-FR" dirty="0"/>
              <a:t>comme un </a:t>
            </a:r>
            <a:r>
              <a:rPr lang="fr-FR" dirty="0" err="1"/>
              <a:t>accessus</a:t>
            </a:r>
            <a:r>
              <a:rPr lang="fr-FR" dirty="0"/>
              <a:t> </a:t>
            </a:r>
            <a:r>
              <a:rPr lang="fr-FR" i="1" dirty="0" err="1"/>
              <a:t>Ouidianus</a:t>
            </a:r>
            <a:r>
              <a:rPr lang="fr-FR" dirty="0" smtClean="0"/>
              <a:t>.</a:t>
            </a:r>
            <a:endParaRPr lang="fr-FR" dirty="0"/>
          </a:p>
        </p:txBody>
      </p:sp>
    </p:spTree>
    <p:extLst>
      <p:ext uri="{BB962C8B-B14F-4D97-AF65-F5344CB8AC3E}">
        <p14:creationId xmlns:p14="http://schemas.microsoft.com/office/powerpoint/2010/main" val="31916657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La tradition des vitae</a:t>
            </a:r>
            <a:endParaRPr lang="fr-FR" dirty="0"/>
          </a:p>
        </p:txBody>
      </p:sp>
      <p:sp>
        <p:nvSpPr>
          <p:cNvPr id="3" name="Content Placeholder 2"/>
          <p:cNvSpPr>
            <a:spLocks noGrp="1"/>
          </p:cNvSpPr>
          <p:nvPr>
            <p:ph idx="1"/>
          </p:nvPr>
        </p:nvSpPr>
        <p:spPr>
          <a:xfrm>
            <a:off x="581192" y="2180496"/>
            <a:ext cx="11029615" cy="4273058"/>
          </a:xfrm>
        </p:spPr>
        <p:txBody>
          <a:bodyPr/>
          <a:lstStyle/>
          <a:p>
            <a:pPr marL="0" indent="0" algn="just">
              <a:buNone/>
            </a:pPr>
            <a:r>
              <a:rPr lang="fr-FR" dirty="0" smtClean="0"/>
              <a:t>Dans les éditions Renaissance</a:t>
            </a:r>
          </a:p>
          <a:p>
            <a:pPr algn="just"/>
            <a:r>
              <a:rPr lang="fr-FR" dirty="0" smtClean="0"/>
              <a:t>Parmi </a:t>
            </a:r>
            <a:r>
              <a:rPr lang="fr-FR" dirty="0"/>
              <a:t>les Vies d’hommes illustres, la vie de </a:t>
            </a:r>
            <a:r>
              <a:rPr lang="fr-FR" dirty="0" smtClean="0"/>
              <a:t>poète </a:t>
            </a:r>
            <a:r>
              <a:rPr lang="fr-FR" dirty="0"/>
              <a:t>se distingue </a:t>
            </a:r>
            <a:r>
              <a:rPr lang="fr-FR" dirty="0" smtClean="0"/>
              <a:t>souvent par </a:t>
            </a:r>
            <a:r>
              <a:rPr lang="fr-FR" dirty="0"/>
              <a:t>sa valeur introductive, car elle s’inscrit aussi dans la tradition de l’</a:t>
            </a:r>
            <a:r>
              <a:rPr lang="fr-FR" i="1" dirty="0" err="1"/>
              <a:t>accessus</a:t>
            </a:r>
            <a:r>
              <a:rPr lang="fr-FR" dirty="0"/>
              <a:t> </a:t>
            </a:r>
            <a:r>
              <a:rPr lang="fr-FR" i="1" dirty="0"/>
              <a:t>ad </a:t>
            </a:r>
            <a:r>
              <a:rPr lang="fr-FR" i="1" dirty="0" err="1"/>
              <a:t>auctores</a:t>
            </a:r>
            <a:r>
              <a:rPr lang="fr-FR" dirty="0"/>
              <a:t> médiéval. </a:t>
            </a:r>
            <a:r>
              <a:rPr lang="fr-FR" dirty="0" smtClean="0"/>
              <a:t>Dans ce cas, </a:t>
            </a:r>
            <a:r>
              <a:rPr lang="fr-FR" dirty="0"/>
              <a:t>le récit biographique n’est pas une fin, mais le moyen d’entrer dans la lecture du corpus, en vertu d’un double principe souvent illustré : alors que la vie de l’auteur peut se déduire de l’œuvre (tel Aristophane, dans les </a:t>
            </a:r>
            <a:r>
              <a:rPr lang="fr-FR" i="1" dirty="0"/>
              <a:t>Grenouilles</a:t>
            </a:r>
            <a:r>
              <a:rPr lang="fr-FR" dirty="0"/>
              <a:t>, inventant un Eschyle ou un Euripide conformes aux idées véhiculées dans leurs tragédies), l’œuvre, quant à elle, peut s’expliquer par la vie de </a:t>
            </a:r>
            <a:r>
              <a:rPr lang="fr-FR" dirty="0" smtClean="0"/>
              <a:t>l’auteur.</a:t>
            </a:r>
          </a:p>
          <a:p>
            <a:pPr algn="just"/>
            <a:r>
              <a:rPr lang="fr-FR" dirty="0" smtClean="0"/>
              <a:t>Aussi </a:t>
            </a:r>
            <a:r>
              <a:rPr lang="fr-FR" dirty="0"/>
              <a:t>les biographes ne cessent-ils d’illustrer, de diverses manières, cette étroite intrication ; ici, les humanistes cherchent dans les vers du poète à confirmer un lieu de naissance ; là, à justifier la haine d’Euripide pour les femmes</a:t>
            </a:r>
            <a:r>
              <a:rPr lang="fr-FR" dirty="0" smtClean="0"/>
              <a:t>...</a:t>
            </a:r>
            <a:endParaRPr lang="fr-FR" b="1" dirty="0"/>
          </a:p>
          <a:p>
            <a:pPr algn="just"/>
            <a:r>
              <a:rPr lang="fr-FR" dirty="0" smtClean="0"/>
              <a:t>Le </a:t>
            </a:r>
            <a:r>
              <a:rPr lang="fr-FR" dirty="0"/>
              <a:t>récit biographique est </a:t>
            </a:r>
            <a:r>
              <a:rPr lang="fr-FR" dirty="0" smtClean="0"/>
              <a:t>l’occasion </a:t>
            </a:r>
            <a:r>
              <a:rPr lang="fr-FR" dirty="0"/>
              <a:t>de proposer une première analyse des œuvres. La question de l’identification (par la distinction des </a:t>
            </a:r>
            <a:r>
              <a:rPr lang="fr-FR" dirty="0" smtClean="0"/>
              <a:t>homonymes) </a:t>
            </a:r>
            <a:r>
              <a:rPr lang="fr-FR" dirty="0"/>
              <a:t>et de l’attribution du corpus </a:t>
            </a:r>
            <a:r>
              <a:rPr lang="fr-FR" dirty="0" smtClean="0"/>
              <a:t>peut prendre </a:t>
            </a:r>
            <a:r>
              <a:rPr lang="fr-FR" dirty="0"/>
              <a:t>alors une </a:t>
            </a:r>
            <a:r>
              <a:rPr lang="fr-FR" dirty="0" smtClean="0"/>
              <a:t>place importante.</a:t>
            </a:r>
            <a:endParaRPr lang="fr-FR" dirty="0"/>
          </a:p>
        </p:txBody>
      </p:sp>
    </p:spTree>
    <p:extLst>
      <p:ext uri="{BB962C8B-B14F-4D97-AF65-F5344CB8AC3E}">
        <p14:creationId xmlns:p14="http://schemas.microsoft.com/office/powerpoint/2010/main" val="10944531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La tradition des vitae</a:t>
            </a:r>
            <a:endParaRPr lang="fr-FR" dirty="0"/>
          </a:p>
        </p:txBody>
      </p:sp>
      <p:sp>
        <p:nvSpPr>
          <p:cNvPr id="3" name="Content Placeholder 2"/>
          <p:cNvSpPr>
            <a:spLocks noGrp="1"/>
          </p:cNvSpPr>
          <p:nvPr>
            <p:ph idx="1"/>
          </p:nvPr>
        </p:nvSpPr>
        <p:spPr>
          <a:xfrm>
            <a:off x="581192" y="2180496"/>
            <a:ext cx="11029615" cy="4273058"/>
          </a:xfrm>
        </p:spPr>
        <p:txBody>
          <a:bodyPr>
            <a:normAutofit lnSpcReduction="10000"/>
          </a:bodyPr>
          <a:lstStyle/>
          <a:p>
            <a:pPr algn="just"/>
            <a:r>
              <a:rPr lang="fr-FR" dirty="0" smtClean="0"/>
              <a:t>Introductive dans les éditions, </a:t>
            </a:r>
            <a:r>
              <a:rPr lang="fr-FR" dirty="0"/>
              <a:t>la Vie a enfin une fonction rhétorique, essentiellement encomiastique. Si certains récits se montrent peu élogieux à l’égard de leur objet – voir la biographie d’Eschyle, ivrogne invétéré, et d’Euripide, cocu, qui transmettent les caricatures des poètes comiques – l’origine rhétorique du genre antique se retrouve sous divers aspects : éloge direct des mérites du poète, de son style ; citations d’éloges (voir la Vie de Térence par Suétone ou l’épigramme attribuée à Platon louant Aristophane), de classements flatteurs retenus par la tradition, voire d’épitaphes (Plaute, Euripide) censées fixer dans les mémoires le souvenir du </a:t>
            </a:r>
            <a:r>
              <a:rPr lang="fr-FR" dirty="0" smtClean="0"/>
              <a:t>poète.</a:t>
            </a:r>
          </a:p>
          <a:p>
            <a:pPr algn="just"/>
            <a:r>
              <a:rPr lang="fr-FR" dirty="0" smtClean="0"/>
              <a:t>C’est </a:t>
            </a:r>
            <a:r>
              <a:rPr lang="fr-FR" dirty="0"/>
              <a:t>aussi d’un point de vue rhétorique que l’on peut comprendre la présence des anecdotes pittoresques, à la manière de Plutarque, qui souvent font image, frappent les mémoires, instruisent et plaisent tout à la fois. Déjà nombreuses dans les biographies antiques, elles deviennent autant de </a:t>
            </a:r>
            <a:r>
              <a:rPr lang="fr-FR" i="1" dirty="0" err="1"/>
              <a:t>loci</a:t>
            </a:r>
            <a:r>
              <a:rPr lang="fr-FR" dirty="0"/>
              <a:t> associés à la figure de tel ou tel auteur qu’aucun biographe ne saurait taire : le moulin de Plaute, la tortue d’Eschyle, le raisin de Sophocle, la grotte d’Euripide, etc. </a:t>
            </a:r>
            <a:r>
              <a:rPr lang="fr-FR" dirty="0" smtClean="0"/>
              <a:t>Si </a:t>
            </a:r>
            <a:r>
              <a:rPr lang="fr-FR" dirty="0"/>
              <a:t>certains </a:t>
            </a:r>
            <a:r>
              <a:rPr lang="fr-FR" dirty="0" smtClean="0"/>
              <a:t>textes </a:t>
            </a:r>
            <a:r>
              <a:rPr lang="fr-FR" dirty="0"/>
              <a:t>les multiplient avec complaisance (</a:t>
            </a:r>
            <a:r>
              <a:rPr lang="fr-FR" dirty="0" err="1"/>
              <a:t>Giraldi</a:t>
            </a:r>
            <a:r>
              <a:rPr lang="fr-FR" dirty="0"/>
              <a:t> sur Eschyle), d’autres n’en font quasiment pas mention (le même </a:t>
            </a:r>
            <a:r>
              <a:rPr lang="fr-FR" dirty="0" err="1"/>
              <a:t>Giraldi</a:t>
            </a:r>
            <a:r>
              <a:rPr lang="fr-FR" dirty="0"/>
              <a:t> sur Sénèque). Enfin, ces anecdotes peuvent être l’occasion d’afficher une certaine distance par rapport aux sources qui les rapportent (Euripide mis en pièce par des chiens). Bref, d’illustrer une approche critique des sources. De fait, sur ce fond de </a:t>
            </a:r>
            <a:r>
              <a:rPr lang="fr-FR" i="1" dirty="0" err="1"/>
              <a:t>topoi</a:t>
            </a:r>
            <a:r>
              <a:rPr lang="fr-FR" dirty="0"/>
              <a:t>, l’humaniste, qui est aussi philologue, s’attache à se distinguer.</a:t>
            </a:r>
          </a:p>
        </p:txBody>
      </p:sp>
    </p:spTree>
    <p:extLst>
      <p:ext uri="{BB962C8B-B14F-4D97-AF65-F5344CB8AC3E}">
        <p14:creationId xmlns:p14="http://schemas.microsoft.com/office/powerpoint/2010/main" val="37091778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La tradition des vitae</a:t>
            </a:r>
            <a:endParaRPr lang="fr-FR" dirty="0"/>
          </a:p>
        </p:txBody>
      </p:sp>
      <p:sp>
        <p:nvSpPr>
          <p:cNvPr id="3" name="Content Placeholder 2"/>
          <p:cNvSpPr>
            <a:spLocks noGrp="1"/>
          </p:cNvSpPr>
          <p:nvPr>
            <p:ph idx="1"/>
          </p:nvPr>
        </p:nvSpPr>
        <p:spPr>
          <a:xfrm>
            <a:off x="581192" y="2180496"/>
            <a:ext cx="11029615" cy="4273058"/>
          </a:xfrm>
        </p:spPr>
        <p:txBody>
          <a:bodyPr>
            <a:normAutofit/>
          </a:bodyPr>
          <a:lstStyle/>
          <a:p>
            <a:pPr algn="just"/>
            <a:r>
              <a:rPr lang="fr-FR" dirty="0" smtClean="0"/>
              <a:t>Vie de Térence par Donat : </a:t>
            </a:r>
            <a:r>
              <a:rPr lang="fr-FR" dirty="0" smtClean="0">
                <a:hlinkClick r:id="rId2"/>
              </a:rPr>
              <a:t>http</a:t>
            </a:r>
            <a:r>
              <a:rPr lang="fr-FR" dirty="0">
                <a:hlinkClick r:id="rId2"/>
              </a:rPr>
              <a:t>://</a:t>
            </a:r>
            <a:r>
              <a:rPr lang="fr-FR" dirty="0" smtClean="0">
                <a:hlinkClick r:id="rId2"/>
              </a:rPr>
              <a:t>hyperdonat.huma-num.fr/editions/html/DonVit.html</a:t>
            </a:r>
            <a:r>
              <a:rPr lang="fr-FR" dirty="0" smtClean="0"/>
              <a:t>  </a:t>
            </a:r>
          </a:p>
          <a:p>
            <a:pPr algn="just"/>
            <a:r>
              <a:rPr lang="fr-FR" dirty="0" smtClean="0"/>
              <a:t>Vie de Térence </a:t>
            </a:r>
            <a:r>
              <a:rPr lang="fr-FR" dirty="0"/>
              <a:t>par Pétrarque : </a:t>
            </a:r>
            <a:r>
              <a:rPr lang="fr-FR" dirty="0">
                <a:hlinkClick r:id="rId3"/>
              </a:rPr>
              <a:t>https://</a:t>
            </a:r>
            <a:r>
              <a:rPr lang="fr-FR" dirty="0" smtClean="0">
                <a:hlinkClick r:id="rId3"/>
              </a:rPr>
              <a:t>ithac.elan-numerique.fr/p/Te1499_Petrarca_p1</a:t>
            </a:r>
            <a:r>
              <a:rPr lang="fr-FR" dirty="0" smtClean="0"/>
              <a:t> </a:t>
            </a:r>
          </a:p>
          <a:p>
            <a:pPr algn="just"/>
            <a:r>
              <a:rPr lang="fr-FR" dirty="0" smtClean="0"/>
              <a:t>Vie de Sénèque par </a:t>
            </a:r>
            <a:r>
              <a:rPr lang="fr-FR" dirty="0" err="1" smtClean="0"/>
              <a:t>Crinito</a:t>
            </a:r>
            <a:r>
              <a:rPr lang="fr-FR" dirty="0"/>
              <a:t> : </a:t>
            </a:r>
            <a:r>
              <a:rPr lang="fr-FR" dirty="0">
                <a:hlinkClick r:id="rId4"/>
              </a:rPr>
              <a:t>https://</a:t>
            </a:r>
            <a:r>
              <a:rPr lang="fr-FR" dirty="0" smtClean="0">
                <a:hlinkClick r:id="rId4"/>
              </a:rPr>
              <a:t>ithac.elan-numerique.fr/p/Sq1506_Crinito_p1</a:t>
            </a:r>
            <a:r>
              <a:rPr lang="fr-FR" dirty="0" smtClean="0"/>
              <a:t> </a:t>
            </a:r>
          </a:p>
          <a:p>
            <a:pPr algn="just"/>
            <a:r>
              <a:rPr lang="fr-FR" dirty="0" smtClean="0"/>
              <a:t>Vie de Plaute </a:t>
            </a:r>
            <a:r>
              <a:rPr lang="fr-FR" dirty="0"/>
              <a:t>par Charpentier : </a:t>
            </a:r>
            <a:r>
              <a:rPr lang="fr-FR" dirty="0">
                <a:hlinkClick r:id="rId5"/>
              </a:rPr>
              <a:t>https://</a:t>
            </a:r>
            <a:r>
              <a:rPr lang="fr-FR" dirty="0" smtClean="0">
                <a:hlinkClick r:id="rId5"/>
              </a:rPr>
              <a:t>ithac.elan-numerique.fr/p/Pla1512_Charpentarius_p2a</a:t>
            </a:r>
            <a:r>
              <a:rPr lang="fr-FR" dirty="0" smtClean="0"/>
              <a:t> </a:t>
            </a:r>
          </a:p>
          <a:p>
            <a:pPr algn="just"/>
            <a:r>
              <a:rPr lang="fr-FR" dirty="0" smtClean="0"/>
              <a:t>Vie de Eschyle par </a:t>
            </a:r>
            <a:r>
              <a:rPr lang="fr-FR" dirty="0" err="1" smtClean="0"/>
              <a:t>Giraldi</a:t>
            </a:r>
            <a:r>
              <a:rPr lang="fr-FR" dirty="0"/>
              <a:t> : </a:t>
            </a:r>
            <a:r>
              <a:rPr lang="fr-FR" dirty="0">
                <a:hlinkClick r:id="rId6"/>
              </a:rPr>
              <a:t>https://</a:t>
            </a:r>
            <a:r>
              <a:rPr lang="fr-FR" dirty="0" smtClean="0">
                <a:hlinkClick r:id="rId6"/>
              </a:rPr>
              <a:t>ithac.elan-numerique.fr/p/Ae1552_Gyraldus_p1</a:t>
            </a:r>
            <a:r>
              <a:rPr lang="fr-FR" dirty="0" smtClean="0"/>
              <a:t> </a:t>
            </a:r>
          </a:p>
          <a:p>
            <a:pPr algn="just"/>
            <a:r>
              <a:rPr lang="fr-FR" dirty="0" smtClean="0"/>
              <a:t>Vie de Sophocle </a:t>
            </a:r>
            <a:r>
              <a:rPr lang="fr-FR" dirty="0"/>
              <a:t>par Camerarius : </a:t>
            </a:r>
            <a:r>
              <a:rPr lang="fr-FR" dirty="0">
                <a:hlinkClick r:id="rId7"/>
              </a:rPr>
              <a:t>https://</a:t>
            </a:r>
            <a:r>
              <a:rPr lang="fr-FR" dirty="0" smtClean="0">
                <a:hlinkClick r:id="rId7"/>
              </a:rPr>
              <a:t>ithac.elan-numerique.fr/p/Soph1556_Camerarius_p4</a:t>
            </a:r>
            <a:endParaRPr lang="fr-FR" dirty="0" smtClean="0"/>
          </a:p>
          <a:p>
            <a:pPr algn="just"/>
            <a:r>
              <a:rPr lang="fr-FR" dirty="0" smtClean="0"/>
              <a:t>Vie d’Euripide </a:t>
            </a:r>
            <a:r>
              <a:rPr lang="fr-FR" dirty="0"/>
              <a:t>par Xylander : </a:t>
            </a:r>
            <a:r>
              <a:rPr lang="fr-FR" dirty="0">
                <a:hlinkClick r:id="rId8"/>
              </a:rPr>
              <a:t>https://</a:t>
            </a:r>
            <a:r>
              <a:rPr lang="fr-FR" dirty="0" smtClean="0">
                <a:hlinkClick r:id="rId8"/>
              </a:rPr>
              <a:t>ithac.elan-numerique.fr/p/Eu1562_Xylander_p2</a:t>
            </a:r>
            <a:r>
              <a:rPr lang="fr-FR" dirty="0" smtClean="0"/>
              <a:t> </a:t>
            </a:r>
          </a:p>
          <a:p>
            <a:pPr algn="just"/>
            <a:r>
              <a:rPr lang="fr-FR" dirty="0" smtClean="0"/>
              <a:t>Vie </a:t>
            </a:r>
            <a:r>
              <a:rPr lang="fr-FR" dirty="0"/>
              <a:t>d’Aristophane par Maire : </a:t>
            </a:r>
            <a:r>
              <a:rPr lang="fr-FR" dirty="0">
                <a:hlinkClick r:id="rId9"/>
              </a:rPr>
              <a:t>https://</a:t>
            </a:r>
            <a:r>
              <a:rPr lang="fr-FR" dirty="0" smtClean="0">
                <a:hlinkClick r:id="rId9"/>
              </a:rPr>
              <a:t>ithac.elan-numerique.fr/p/Ar1625_Maire_p2</a:t>
            </a:r>
            <a:r>
              <a:rPr lang="fr-FR" dirty="0" smtClean="0"/>
              <a:t> </a:t>
            </a:r>
            <a:endParaRPr lang="fr-FR" dirty="0"/>
          </a:p>
        </p:txBody>
      </p:sp>
    </p:spTree>
    <p:extLst>
      <p:ext uri="{BB962C8B-B14F-4D97-AF65-F5344CB8AC3E}">
        <p14:creationId xmlns:p14="http://schemas.microsoft.com/office/powerpoint/2010/main" val="3615710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La tradition des vitae</a:t>
            </a:r>
            <a:endParaRPr lang="fr-FR" dirty="0"/>
          </a:p>
        </p:txBody>
      </p:sp>
      <p:sp>
        <p:nvSpPr>
          <p:cNvPr id="3" name="Content Placeholder 2"/>
          <p:cNvSpPr>
            <a:spLocks noGrp="1"/>
          </p:cNvSpPr>
          <p:nvPr>
            <p:ph idx="1"/>
          </p:nvPr>
        </p:nvSpPr>
        <p:spPr>
          <a:xfrm>
            <a:off x="581192" y="2180496"/>
            <a:ext cx="11029615" cy="4273058"/>
          </a:xfrm>
        </p:spPr>
        <p:txBody>
          <a:bodyPr>
            <a:normAutofit/>
          </a:bodyPr>
          <a:lstStyle/>
          <a:p>
            <a:pPr algn="just"/>
            <a:r>
              <a:rPr lang="fr-FR" dirty="0" err="1" smtClean="0"/>
              <a:t>Crinito</a:t>
            </a:r>
            <a:r>
              <a:rPr lang="fr-FR" dirty="0" smtClean="0"/>
              <a:t> </a:t>
            </a:r>
            <a:r>
              <a:rPr lang="fr-FR" dirty="0"/>
              <a:t>(1474-1507</a:t>
            </a:r>
            <a:r>
              <a:rPr lang="fr-FR" dirty="0" smtClean="0"/>
              <a:t>) </a:t>
            </a:r>
            <a:r>
              <a:rPr lang="fr-FR" dirty="0"/>
              <a:t>: </a:t>
            </a:r>
            <a:r>
              <a:rPr lang="fr-FR" dirty="0" smtClean="0"/>
              <a:t>en 1505, </a:t>
            </a:r>
            <a:r>
              <a:rPr lang="fr-FR" i="1" dirty="0" smtClean="0"/>
              <a:t>De </a:t>
            </a:r>
            <a:r>
              <a:rPr lang="fr-FR" i="1" dirty="0" err="1"/>
              <a:t>Poetis</a:t>
            </a:r>
            <a:r>
              <a:rPr lang="fr-FR" i="1" dirty="0"/>
              <a:t> </a:t>
            </a:r>
            <a:r>
              <a:rPr lang="fr-FR" i="1" dirty="0" err="1"/>
              <a:t>Latinis</a:t>
            </a:r>
            <a:r>
              <a:rPr lang="fr-FR" dirty="0"/>
              <a:t>, en cinq </a:t>
            </a:r>
            <a:r>
              <a:rPr lang="fr-FR" dirty="0" smtClean="0"/>
              <a:t>volumes Composé </a:t>
            </a:r>
            <a:r>
              <a:rPr lang="fr-FR" dirty="0"/>
              <a:t>de 93 courts chapitres, répertoriait de manière encyclopédique les écrivains latins, de </a:t>
            </a:r>
            <a:r>
              <a:rPr lang="fr-FR" dirty="0" err="1"/>
              <a:t>Livius</a:t>
            </a:r>
            <a:r>
              <a:rPr lang="fr-FR" dirty="0"/>
              <a:t> </a:t>
            </a:r>
            <a:r>
              <a:rPr lang="fr-FR" dirty="0" err="1"/>
              <a:t>Andronicus</a:t>
            </a:r>
            <a:r>
              <a:rPr lang="fr-FR" dirty="0"/>
              <a:t> à </a:t>
            </a:r>
            <a:r>
              <a:rPr lang="fr-FR" dirty="0" smtClean="0"/>
              <a:t>Sidoine Apollinaire. Première </a:t>
            </a:r>
            <a:r>
              <a:rPr lang="fr-FR" dirty="0"/>
              <a:t>compilation moderne de biographies d'auteurs classiques</a:t>
            </a:r>
            <a:r>
              <a:rPr lang="fr-FR" dirty="0" smtClean="0"/>
              <a:t>.</a:t>
            </a:r>
          </a:p>
          <a:p>
            <a:pPr algn="just"/>
            <a:r>
              <a:rPr lang="fr-FR" dirty="0" err="1" smtClean="0"/>
              <a:t>Lilio</a:t>
            </a:r>
            <a:r>
              <a:rPr lang="fr-FR" dirty="0" smtClean="0"/>
              <a:t> </a:t>
            </a:r>
            <a:r>
              <a:rPr lang="fr-FR" dirty="0" err="1" smtClean="0"/>
              <a:t>Giraldi</a:t>
            </a:r>
            <a:r>
              <a:rPr lang="fr-FR" dirty="0" smtClean="0"/>
              <a:t> (1479-1552) : en 1545, les </a:t>
            </a:r>
            <a:r>
              <a:rPr lang="fr-FR" i="1" dirty="0" err="1" smtClean="0"/>
              <a:t>Historiae</a:t>
            </a:r>
            <a:r>
              <a:rPr lang="fr-FR" i="1" dirty="0" smtClean="0"/>
              <a:t> </a:t>
            </a:r>
            <a:r>
              <a:rPr lang="fr-FR" i="1" dirty="0" err="1" smtClean="0"/>
              <a:t>poetarum</a:t>
            </a:r>
            <a:r>
              <a:rPr lang="fr-FR" i="1" dirty="0" smtClean="0"/>
              <a:t>, </a:t>
            </a:r>
            <a:r>
              <a:rPr lang="fr-FR" i="1" dirty="0" err="1" smtClean="0"/>
              <a:t>tam</a:t>
            </a:r>
            <a:r>
              <a:rPr lang="fr-FR" i="1" dirty="0" smtClean="0"/>
              <a:t> </a:t>
            </a:r>
            <a:r>
              <a:rPr lang="fr-FR" i="1" dirty="0" err="1" smtClean="0"/>
              <a:t>graecorum</a:t>
            </a:r>
            <a:r>
              <a:rPr lang="fr-FR" i="1" dirty="0" smtClean="0"/>
              <a:t> </a:t>
            </a:r>
            <a:r>
              <a:rPr lang="fr-FR" i="1" dirty="0" err="1" smtClean="0"/>
              <a:t>quam</a:t>
            </a:r>
            <a:r>
              <a:rPr lang="fr-FR" i="1" dirty="0" smtClean="0"/>
              <a:t> </a:t>
            </a:r>
            <a:r>
              <a:rPr lang="fr-FR" i="1" dirty="0" err="1" smtClean="0"/>
              <a:t>latinorum</a:t>
            </a:r>
            <a:r>
              <a:rPr lang="fr-FR" i="1" dirty="0" smtClean="0"/>
              <a:t> </a:t>
            </a:r>
            <a:r>
              <a:rPr lang="fr-FR" i="1" dirty="0" err="1" smtClean="0"/>
              <a:t>dialogui</a:t>
            </a:r>
            <a:r>
              <a:rPr lang="fr-FR" i="1" dirty="0" smtClean="0"/>
              <a:t> </a:t>
            </a:r>
            <a:r>
              <a:rPr lang="fr-FR" i="1" dirty="0" err="1" smtClean="0"/>
              <a:t>decem</a:t>
            </a:r>
            <a:r>
              <a:rPr lang="fr-FR" dirty="0" smtClean="0"/>
              <a:t> </a:t>
            </a:r>
            <a:endParaRPr lang="fr-FR" dirty="0"/>
          </a:p>
        </p:txBody>
      </p:sp>
    </p:spTree>
    <p:extLst>
      <p:ext uri="{BB962C8B-B14F-4D97-AF65-F5344CB8AC3E}">
        <p14:creationId xmlns:p14="http://schemas.microsoft.com/office/powerpoint/2010/main" val="316180834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342</TotalTime>
  <Words>4698</Words>
  <Application>Microsoft Office PowerPoint</Application>
  <PresentationFormat>Widescreen</PresentationFormat>
  <Paragraphs>217</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Gill Sans MT</vt:lpstr>
      <vt:lpstr>Times New Roman</vt:lpstr>
      <vt:lpstr>Wingdings 2</vt:lpstr>
      <vt:lpstr>Dividend</vt:lpstr>
      <vt:lpstr>Réception de l’antiquité </vt:lpstr>
      <vt:lpstr>Résumé du cours</vt:lpstr>
      <vt:lpstr>Résumé du cours</vt:lpstr>
      <vt:lpstr>Résumé du cours</vt:lpstr>
      <vt:lpstr>Le pourquoi du comment…</vt:lpstr>
      <vt:lpstr>Scriptorum Illustrium Latinae Linguae Libri</vt:lpstr>
      <vt:lpstr>SICCO POLENTON élements biographiques</vt:lpstr>
      <vt:lpstr>SICCO POLENTON profession</vt:lpstr>
      <vt:lpstr>SICCO POLENTON Formation et ouvrages</vt:lpstr>
      <vt:lpstr>Scriptorum Illustrium Latinae Linguae Libri généralités</vt:lpstr>
      <vt:lpstr>Scriptorum Illustrium Latinae Linguae Libri Précédents</vt:lpstr>
      <vt:lpstr>Scriptorum Illustrium Latinae Linguae Libri Légende</vt:lpstr>
      <vt:lpstr>Scriptorum Illustrium Latinae Linguae Libri contenu</vt:lpstr>
      <vt:lpstr>Scriptorum Illustrium Latinae Linguae Libri contenu</vt:lpstr>
      <vt:lpstr>Scriptorum Illustrium Latinae Linguae Libri irrégularités du plan</vt:lpstr>
      <vt:lpstr>Scriptorum Illustrium Latinae Linguae Libri</vt:lpstr>
      <vt:lpstr>Scriptorum Illustrium Latinae Linguae Libri Conception de la littérature</vt:lpstr>
      <vt:lpstr>Scriptorum Illustrium Latinae Linguae Libri Manuscrit de l’édition</vt:lpstr>
      <vt:lpstr>Scriptorum Illustrium Latinae Linguae Libri Caractère autographe</vt:lpstr>
      <vt:lpstr>Scriptorum Illustrium Latinae Linguae Libri Quelques autres manuscrits</vt:lpstr>
      <vt:lpstr>Scriptorum Illustrium Latinae Linguae Libri Sources</vt:lpstr>
      <vt:lpstr>Scriptorum Illustrium Latinae Linguae Libri Sources</vt:lpstr>
      <vt:lpstr>Scriptorum Illustrium Latinae Linguae Libri Sources</vt:lpstr>
      <vt:lpstr>Scriptorum Illustrium Latinae Linguae Libri Sources</vt:lpstr>
      <vt:lpstr>Scriptorum Illustrium Latinae Linguae Libri Sources</vt:lpstr>
      <vt:lpstr> La tradition des vitae Naissance du genre historiographique à rome</vt:lpstr>
      <vt:lpstr>Contenu du livre II</vt:lpstr>
      <vt:lpstr>tradition annalistique ET TRADITION MONOGRAPHIQUE</vt:lpstr>
      <vt:lpstr>LA TRADITION DES VITAE</vt:lpstr>
      <vt:lpstr>LA TRADITION DES VITAE</vt:lpstr>
      <vt:lpstr>La tradition des vitae</vt:lpstr>
      <vt:lpstr>La tradition des vitae</vt:lpstr>
      <vt:lpstr>La tradition des vitae</vt:lpstr>
      <vt:lpstr>La tradition des vitae</vt:lpstr>
      <vt:lpstr>La tradition des vitae</vt:lpstr>
      <vt:lpstr>La tradition des vitae</vt:lpstr>
      <vt:lpstr>La tradition des vitae</vt:lpstr>
      <vt:lpstr>La tradition des vitae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Réception de l’antiquité</dc:title>
  <dc:creator>Anonyme</dc:creator>
  <cp:lastModifiedBy>Anonyme</cp:lastModifiedBy>
  <cp:revision>24</cp:revision>
  <dcterms:created xsi:type="dcterms:W3CDTF">2026-01-13T20:31:16Z</dcterms:created>
  <dcterms:modified xsi:type="dcterms:W3CDTF">2026-01-21T13:32:24Z</dcterms:modified>
</cp:coreProperties>
</file>